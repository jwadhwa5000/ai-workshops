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 id="2147483673" r:id="rId6"/>
    <p:sldMasterId id="2147483676"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Lst>
  <p:sldSz cy="6858000" cx="12192000"/>
  <p:notesSz cx="6858000" cy="9144000"/>
  <p:embeddedFontLst>
    <p:embeddedFont>
      <p:font typeface="Montserrat SemiBold"/>
      <p:regular r:id="rId24"/>
      <p:bold r:id="rId25"/>
      <p:italic r:id="rId26"/>
      <p:boldItalic r:id="rId27"/>
    </p:embeddedFont>
    <p:embeddedFont>
      <p:font typeface="Montserrat"/>
      <p:regular r:id="rId28"/>
      <p:bold r:id="rId29"/>
      <p:italic r:id="rId30"/>
      <p:boldItalic r:id="rId31"/>
    </p:embeddedFont>
    <p:embeddedFont>
      <p:font typeface="Montserrat Medium"/>
      <p:regular r:id="rId32"/>
      <p:bold r:id="rId33"/>
      <p:italic r:id="rId34"/>
      <p:boldItalic r:id="rId35"/>
    </p:embeddedFont>
    <p:embeddedFont>
      <p:font typeface="DM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0" roundtripDataSignature="AMtx7mgwfJg3SwJO6D6Hn6MgIQUB6yCs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font" Target="fonts/MontserratSemiBold-regular.fntdata"/><Relationship Id="rId23" Type="http://schemas.openxmlformats.org/officeDocument/2006/relationships/slide" Target="slides/slide1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font" Target="fonts/MontserratSemiBold-italic.fntdata"/><Relationship Id="rId25" Type="http://schemas.openxmlformats.org/officeDocument/2006/relationships/font" Target="fonts/MontserratSemiBold-bold.fntdata"/><Relationship Id="rId28" Type="http://schemas.openxmlformats.org/officeDocument/2006/relationships/font" Target="fonts/Montserrat-regular.fntdata"/><Relationship Id="rId27" Type="http://schemas.openxmlformats.org/officeDocument/2006/relationships/font" Target="fonts/MontserratSemiBold-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Montserrat-bold.fntdata"/><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3.xml"/><Relationship Id="rId33" Type="http://schemas.openxmlformats.org/officeDocument/2006/relationships/font" Target="fonts/MontserratMedium-bold.fntdata"/><Relationship Id="rId10" Type="http://schemas.openxmlformats.org/officeDocument/2006/relationships/slide" Target="slides/slide2.xml"/><Relationship Id="rId32" Type="http://schemas.openxmlformats.org/officeDocument/2006/relationships/font" Target="fonts/MontserratMedium-regular.fntdata"/><Relationship Id="rId13" Type="http://schemas.openxmlformats.org/officeDocument/2006/relationships/slide" Target="slides/slide5.xml"/><Relationship Id="rId35" Type="http://schemas.openxmlformats.org/officeDocument/2006/relationships/font" Target="fonts/MontserratMedium-boldItalic.fntdata"/><Relationship Id="rId12" Type="http://schemas.openxmlformats.org/officeDocument/2006/relationships/slide" Target="slides/slide4.xml"/><Relationship Id="rId34" Type="http://schemas.openxmlformats.org/officeDocument/2006/relationships/font" Target="fonts/MontserratMedium-italic.fntdata"/><Relationship Id="rId15" Type="http://schemas.openxmlformats.org/officeDocument/2006/relationships/slide" Target="slides/slide7.xml"/><Relationship Id="rId37" Type="http://schemas.openxmlformats.org/officeDocument/2006/relationships/font" Target="fonts/DMSans-bold.fntdata"/><Relationship Id="rId14" Type="http://schemas.openxmlformats.org/officeDocument/2006/relationships/slide" Target="slides/slide6.xml"/><Relationship Id="rId36" Type="http://schemas.openxmlformats.org/officeDocument/2006/relationships/font" Target="fonts/DMSans-regular.fntdata"/><Relationship Id="rId17" Type="http://schemas.openxmlformats.org/officeDocument/2006/relationships/slide" Target="slides/slide9.xml"/><Relationship Id="rId39" Type="http://schemas.openxmlformats.org/officeDocument/2006/relationships/font" Target="fonts/DMSans-boldItalic.fntdata"/><Relationship Id="rId16" Type="http://schemas.openxmlformats.org/officeDocument/2006/relationships/slide" Target="slides/slide8.xml"/><Relationship Id="rId38" Type="http://schemas.openxmlformats.org/officeDocument/2006/relationships/font" Target="fonts/DMSans-italic.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6c117acb1_1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3e6c117acb1_1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36" name="Google Shape;136;g3e6c117acb1_1_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97d2673e6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d97d2673e6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ae049a994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3eae049a994_1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eae049a994_1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eae049a994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eaf5b54de6_3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3eaf5b54de6_3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eaf5b54de6_3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EVERYTHING IS NOT AI </a:t>
            </a:r>
            <a:endParaRPr/>
          </a:p>
          <a:p>
            <a:pPr indent="0" lvl="0" marL="0" rtl="0" algn="l">
              <a:lnSpc>
                <a:spcPct val="100000"/>
              </a:lnSpc>
              <a:spcBef>
                <a:spcPts val="0"/>
              </a:spcBef>
              <a:spcAft>
                <a:spcPts val="0"/>
              </a:spcAft>
              <a:buSzPts val="1100"/>
              <a:buNone/>
            </a:pPr>
            <a:r>
              <a:rPr lang="en-US"/>
              <a:t>EVERYTHING WILL NOT BE AI</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BUT CERTAINLY AI IS EVERYWHERE </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AutoNum type="arabicParenR"/>
            </a:pPr>
            <a:r>
              <a:rPr lang="en-US"/>
              <a:t>ARE ANSWERS RIGHT</a:t>
            </a:r>
            <a:endParaRPr/>
          </a:p>
          <a:p>
            <a:pPr indent="-298450" lvl="0" marL="457200" rtl="0" algn="l">
              <a:lnSpc>
                <a:spcPct val="100000"/>
              </a:lnSpc>
              <a:spcBef>
                <a:spcPts val="0"/>
              </a:spcBef>
              <a:spcAft>
                <a:spcPts val="0"/>
              </a:spcAft>
              <a:buSzPts val="1100"/>
              <a:buAutoNum type="arabicParenR"/>
            </a:pPr>
            <a:r>
              <a:rPr lang="en-US"/>
              <a:t>DATA PROVENANCE AND LINEAGE; DO WE HAVE A LINE OF SIGHT TO SOURCES AND DEFINITIONS OF DATA ; DATA STANDARDS BEEN APPLIED CONSISTENTLY</a:t>
            </a:r>
            <a:endParaRPr/>
          </a:p>
          <a:p>
            <a:pPr indent="-298450" lvl="0" marL="457200" rtl="0" algn="l">
              <a:lnSpc>
                <a:spcPct val="100000"/>
              </a:lnSpc>
              <a:spcBef>
                <a:spcPts val="0"/>
              </a:spcBef>
              <a:spcAft>
                <a:spcPts val="0"/>
              </a:spcAft>
              <a:buSzPts val="1100"/>
              <a:buAutoNum type="arabicParenR"/>
            </a:pPr>
            <a:r>
              <a:rPr lang="en-US"/>
              <a:t>CYBER IMPACT; AI FOR CYBER AND CYBER FOR AI</a:t>
            </a:r>
            <a:endParaRPr/>
          </a:p>
          <a:p>
            <a:pPr indent="-298450" lvl="0" marL="457200" rtl="0" algn="l">
              <a:lnSpc>
                <a:spcPct val="100000"/>
              </a:lnSpc>
              <a:spcBef>
                <a:spcPts val="0"/>
              </a:spcBef>
              <a:spcAft>
                <a:spcPts val="0"/>
              </a:spcAft>
              <a:buSzPts val="1100"/>
              <a:buAutoNum type="arabicParenR"/>
            </a:pPr>
            <a:r>
              <a:rPr lang="en-US"/>
              <a:t>GOVERNING : TRUSTED AI GOVERNANCE VS RESPONSIBLE AI ; NESTED </a:t>
            </a:r>
            <a:endParaRPr/>
          </a:p>
          <a:p>
            <a:pPr indent="-298450" lvl="0" marL="457200" rtl="0" algn="l">
              <a:lnSpc>
                <a:spcPct val="100000"/>
              </a:lnSpc>
              <a:spcBef>
                <a:spcPts val="0"/>
              </a:spcBef>
              <a:spcAft>
                <a:spcPts val="0"/>
              </a:spcAft>
              <a:buSzPts val="1100"/>
              <a:buAutoNum type="arabicParenR"/>
            </a:pPr>
            <a:r>
              <a:rPr lang="en-US"/>
              <a:t>TRUSTED AI GOVERNANCE</a:t>
            </a:r>
            <a:endParaRPr/>
          </a:p>
          <a:p>
            <a:pPr indent="-298450" lvl="0" marL="457200" rtl="0" algn="l">
              <a:lnSpc>
                <a:spcPct val="100000"/>
              </a:lnSpc>
              <a:spcBef>
                <a:spcPts val="0"/>
              </a:spcBef>
              <a:spcAft>
                <a:spcPts val="0"/>
              </a:spcAft>
              <a:buSzPts val="1100"/>
              <a:buAutoNum type="arabicParenR"/>
            </a:pPr>
            <a:r>
              <a:rPr lang="en-US"/>
              <a:t>IN THE WORLD OF DIGITAL WE USED TO HAVE THE SAYING: FAIL FAST; BREAL THINGS; THERE IS NO FAIL FAST HERE; AS ITS NOT JUST BAD FEATURE FUNCTIONS IN YOUR PRODUCTS; BUT IT IS JUST ERRONEOUS OUPUTS ;</a:t>
            </a:r>
            <a:endParaRPr/>
          </a:p>
          <a:p>
            <a:pPr indent="-298450" lvl="0" marL="457200" rtl="0" algn="l">
              <a:lnSpc>
                <a:spcPct val="100000"/>
              </a:lnSpc>
              <a:spcBef>
                <a:spcPts val="0"/>
              </a:spcBef>
              <a:spcAft>
                <a:spcPts val="0"/>
              </a:spcAft>
              <a:buSzPts val="1100"/>
              <a:buAutoNum type="arabicParenR"/>
            </a:pPr>
            <a:r>
              <a:rPr lang="en-US"/>
              <a:t>PHYSICAL AI PUTS AI IN WAREHOUSE, MANUFACTURING PLANT</a:t>
            </a:r>
            <a:endParaRPr/>
          </a:p>
          <a:p>
            <a:pPr indent="-298450" lvl="0" marL="457200" rtl="0" algn="l">
              <a:lnSpc>
                <a:spcPct val="100000"/>
              </a:lnSpc>
              <a:spcBef>
                <a:spcPts val="0"/>
              </a:spcBef>
              <a:spcAft>
                <a:spcPts val="0"/>
              </a:spcAft>
              <a:buSzPts val="1100"/>
              <a:buAutoNum type="arabicParenR"/>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Cross functional councils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General council</a:t>
            </a:r>
            <a:endParaRPr/>
          </a:p>
          <a:p>
            <a:pPr indent="0" lvl="0" marL="0" rtl="0" algn="l">
              <a:lnSpc>
                <a:spcPct val="100000"/>
              </a:lnSpc>
              <a:spcBef>
                <a:spcPts val="0"/>
              </a:spcBef>
              <a:spcAft>
                <a:spcPts val="0"/>
              </a:spcAft>
              <a:buSzPts val="1100"/>
              <a:buNone/>
            </a:pPr>
            <a:r>
              <a:rPr lang="en-US"/>
              <a:t>Privacy and compliance officers</a:t>
            </a:r>
            <a:endParaRPr/>
          </a:p>
          <a:p>
            <a:pPr indent="0" lvl="0" marL="0" rtl="0" algn="l">
              <a:lnSpc>
                <a:spcPct val="100000"/>
              </a:lnSpc>
              <a:spcBef>
                <a:spcPts val="0"/>
              </a:spcBef>
              <a:spcAft>
                <a:spcPts val="0"/>
              </a:spcAft>
              <a:buSzPts val="1100"/>
              <a:buNone/>
            </a:pPr>
            <a:r>
              <a:rPr lang="en-US"/>
              <a:t>Internal Audit</a:t>
            </a:r>
            <a:endParaRPr/>
          </a:p>
          <a:p>
            <a:pPr indent="0" lvl="0" marL="0" rtl="0" algn="l">
              <a:lnSpc>
                <a:spcPct val="100000"/>
              </a:lnSpc>
              <a:spcBef>
                <a:spcPts val="0"/>
              </a:spcBef>
              <a:spcAft>
                <a:spcPts val="0"/>
              </a:spcAft>
              <a:buSzPts val="1100"/>
              <a:buNone/>
            </a:pPr>
            <a:r>
              <a:rPr lang="en-US"/>
              <a:t>Tech teams; data teams</a:t>
            </a:r>
            <a:endParaRPr/>
          </a:p>
          <a:p>
            <a:pPr indent="0" lvl="0" marL="0" rtl="0" algn="l">
              <a:lnSpc>
                <a:spcPct val="100000"/>
              </a:lnSpc>
              <a:spcBef>
                <a:spcPts val="0"/>
              </a:spcBef>
              <a:spcAft>
                <a:spcPts val="0"/>
              </a:spcAft>
              <a:buSzPts val="1100"/>
              <a:buNone/>
            </a:pPr>
            <a:r>
              <a:rPr lang="en-US"/>
              <a:t>Cyber </a:t>
            </a:r>
            <a:endParaRPr/>
          </a:p>
          <a:p>
            <a:pPr indent="0" lvl="0" marL="0" rtl="0" algn="l">
              <a:lnSpc>
                <a:spcPct val="100000"/>
              </a:lnSpc>
              <a:spcBef>
                <a:spcPts val="0"/>
              </a:spcBef>
              <a:spcAft>
                <a:spcPts val="0"/>
              </a:spcAft>
              <a:buSzPts val="1100"/>
              <a:buNone/>
            </a:pPr>
            <a:r>
              <a:rPr lang="en-US"/>
              <a:t>Business orgs </a:t>
            </a:r>
            <a:endParaRPr/>
          </a:p>
          <a:p>
            <a:pPr indent="0" lvl="0" marL="0" rtl="0" algn="l">
              <a:lnSpc>
                <a:spcPct val="100000"/>
              </a:lnSpc>
              <a:spcBef>
                <a:spcPts val="0"/>
              </a:spcBef>
              <a:spcAft>
                <a:spcPts val="0"/>
              </a:spcAft>
              <a:buSzPts val="1100"/>
              <a:buNone/>
            </a:pPr>
            <a:r>
              <a:t/>
            </a:r>
            <a:endParaRPr/>
          </a:p>
        </p:txBody>
      </p:sp>
      <p:sp>
        <p:nvSpPr>
          <p:cNvPr id="258" name="Google Shape;25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eae049a994_1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eae049a994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eae049a994_4_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g3eae049a994_4_26: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SPEAKER NOTES — FOUR TOPICS FRAME THE SESSION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slide orients the audience. Walk each topic in 20-30 seconds.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Suggested script: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 are covering four topics today, and they build on each other deliberately.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First, we will establish what Responsible AI and AI Governance actually mean — because those terms get used interchangeably, and they should not be.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Second, we will look at why governance is emerging now — the regulatory and business forces making this non-optional.</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Third, we will get specific about where AI risk actually comes from. Not theoretical risk. The concrete places in an AI system where things go wrong.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And fourth, I will walk you through a practical four-step approach your organization can implement, regardless of where you are today."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"Let us start with Topic 1."</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MODERATOR GUIDE: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Primary Q1: Before we begin, a quick show of hands — how many of you already have a formal AI governance program in place?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Primary Q2: What is the most pressing AI governance question in your organization right now?</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Follow-up: What is holding your organization back from moving faster on governance?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Follow-up: How are you currently managing shadow AI — the tools employees are already using without formal approval?</a:t>
            </a:r>
            <a:endParaRPr/>
          </a:p>
        </p:txBody>
      </p:sp>
      <p:sp>
        <p:nvSpPr>
          <p:cNvPr id="286" name="Google Shape;286;g3eae049a994_4_26: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eaf5b54de6_5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g3eaf5b54de6_5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g3eaf5b54de6_5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eae049a994_2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50">
                <a:solidFill>
                  <a:srgbClr val="303030"/>
                </a:solidFill>
                <a:highlight>
                  <a:srgbClr val="FFFFFF"/>
                </a:highlight>
              </a:rPr>
              <a:t>Who is going to build the expertise; how will the cros</a:t>
            </a:r>
            <a:endParaRPr sz="1050">
              <a:solidFill>
                <a:srgbClr val="303030"/>
              </a:solidFill>
              <a:highlight>
                <a:srgbClr val="FFFFFF"/>
              </a:highlight>
            </a:endParaRPr>
          </a:p>
          <a:p>
            <a:pPr indent="0" lvl="0" marL="0" rtl="0" algn="l">
              <a:lnSpc>
                <a:spcPct val="115000"/>
              </a:lnSpc>
              <a:spcBef>
                <a:spcPts val="0"/>
              </a:spcBef>
              <a:spcAft>
                <a:spcPts val="0"/>
              </a:spcAft>
              <a:buNone/>
            </a:pPr>
            <a:r>
              <a:rPr lang="en-US" sz="1050">
                <a:solidFill>
                  <a:srgbClr val="303030"/>
                </a:solidFill>
                <a:highlight>
                  <a:srgbClr val="FFFFFF"/>
                </a:highlight>
              </a:rPr>
              <a:t>9 distinct frameworks/ family of frameworks</a:t>
            </a:r>
            <a:endParaRPr sz="1050">
              <a:solidFill>
                <a:srgbClr val="303030"/>
              </a:solidFill>
              <a:highlight>
                <a:srgbClr val="FFFFFF"/>
              </a:highlight>
            </a:endParaRPr>
          </a:p>
          <a:p>
            <a:pPr indent="0" lvl="0" marL="0" rtl="0" algn="l">
              <a:lnSpc>
                <a:spcPct val="115000"/>
              </a:lnSpc>
              <a:spcBef>
                <a:spcPts val="0"/>
              </a:spcBef>
              <a:spcAft>
                <a:spcPts val="0"/>
              </a:spcAft>
              <a:buNone/>
            </a:pPr>
            <a:r>
              <a:rPr lang="en-US" sz="1050">
                <a:solidFill>
                  <a:srgbClr val="303030"/>
                </a:solidFill>
                <a:highlight>
                  <a:srgbClr val="FFFFFF"/>
                </a:highlight>
              </a:rPr>
              <a:t>33 distinct laws and guidelines</a:t>
            </a:r>
            <a:endParaRPr sz="1050">
              <a:solidFill>
                <a:srgbClr val="303030"/>
              </a:solidFill>
              <a:highlight>
                <a:srgbClr val="FFFFFF"/>
              </a:highlight>
            </a:endParaRPr>
          </a:p>
          <a:p>
            <a:pPr indent="0" lvl="0" marL="0" rtl="0" algn="l">
              <a:lnSpc>
                <a:spcPct val="115000"/>
              </a:lnSpc>
              <a:spcBef>
                <a:spcPts val="0"/>
              </a:spcBef>
              <a:spcAft>
                <a:spcPts val="0"/>
              </a:spcAft>
              <a:buNone/>
            </a:pPr>
            <a:r>
              <a:rPr lang="en-US" sz="1050">
                <a:solidFill>
                  <a:srgbClr val="303030"/>
                </a:solidFill>
                <a:highlight>
                  <a:srgbClr val="FFFFFF"/>
                </a:highlight>
              </a:rPr>
              <a:t>3 distinct set of principles</a:t>
            </a:r>
            <a:endParaRPr sz="1050">
              <a:solidFill>
                <a:srgbClr val="303030"/>
              </a:solidFill>
              <a:highlight>
                <a:srgbClr val="FFFFFF"/>
              </a:highlight>
            </a:endParaRPr>
          </a:p>
          <a:p>
            <a:pPr indent="0" lvl="0" marL="0" rtl="0" algn="l">
              <a:lnSpc>
                <a:spcPct val="115000"/>
              </a:lnSpc>
              <a:spcBef>
                <a:spcPts val="0"/>
              </a:spcBef>
              <a:spcAft>
                <a:spcPts val="0"/>
              </a:spcAft>
              <a:buNone/>
            </a:pPr>
            <a:r>
              <a:t/>
            </a:r>
            <a:endParaRPr sz="1050">
              <a:solidFill>
                <a:srgbClr val="303030"/>
              </a:solidFill>
              <a:highlight>
                <a:srgbClr val="FFFFFF"/>
              </a:highlight>
            </a:endParaRPr>
          </a:p>
          <a:p>
            <a:pPr indent="0" lvl="0" marL="0" rtl="0" algn="l">
              <a:lnSpc>
                <a:spcPct val="115000"/>
              </a:lnSpc>
              <a:spcBef>
                <a:spcPts val="0"/>
              </a:spcBef>
              <a:spcAft>
                <a:spcPts val="0"/>
              </a:spcAft>
              <a:buNone/>
            </a:pPr>
            <a:r>
              <a:rPr lang="en-US" sz="1050">
                <a:solidFill>
                  <a:srgbClr val="303030"/>
                </a:solidFill>
                <a:highlight>
                  <a:srgbClr val="FFFFFF"/>
                </a:highlight>
              </a:rPr>
              <a:t>NIST AIRMMF has 4 core functions and 72 categories that serve as control objectives; each category could become one or more controls;</a:t>
            </a:r>
            <a:endParaRPr sz="1050">
              <a:solidFill>
                <a:srgbClr val="303030"/>
              </a:solidFill>
              <a:highlight>
                <a:srgbClr val="FFFFFF"/>
              </a:highlight>
            </a:endParaRPr>
          </a:p>
          <a:p>
            <a:pPr indent="-295275" lvl="0" marL="457200" rtl="0" algn="l">
              <a:lnSpc>
                <a:spcPct val="115000"/>
              </a:lnSpc>
              <a:spcBef>
                <a:spcPts val="0"/>
              </a:spcBef>
              <a:spcAft>
                <a:spcPts val="0"/>
              </a:spcAft>
              <a:buClr>
                <a:srgbClr val="303030"/>
              </a:buClr>
              <a:buSzPts val="1050"/>
              <a:buChar char="●"/>
            </a:pPr>
            <a:r>
              <a:rPr b="1" lang="en-US" sz="1050">
                <a:solidFill>
                  <a:srgbClr val="303030"/>
                </a:solidFill>
                <a:highlight>
                  <a:srgbClr val="FFFFFF"/>
                </a:highlight>
              </a:rPr>
              <a:t>GOVERN (19 subcategories):</a:t>
            </a:r>
            <a:r>
              <a:rPr lang="en-US" sz="1050">
                <a:solidFill>
                  <a:srgbClr val="303030"/>
                </a:solidFill>
                <a:highlight>
                  <a:srgbClr val="FFFFFF"/>
                </a:highlight>
              </a:rPr>
              <a:t> Focuses on cultivating a culture of risk management. It includes 6 main categories, such as establishing policies, accountability structures, workforce diversity, organizational culture, stakeholder engagement, and third-party data management. For example, subcategory GOVERN 1.4 specifically requires that risk management outcomes are established through "transparent policies, procedures, and other controls" based on organizational risk priorities.</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MAP (18 subcategories):</a:t>
            </a:r>
            <a:r>
              <a:rPr lang="en-US" sz="1050">
                <a:solidFill>
                  <a:srgbClr val="303030"/>
                </a:solidFill>
                <a:highlight>
                  <a:srgbClr val="FFFFFF"/>
                </a:highlight>
              </a:rPr>
              <a:t> Focuses on recognizing context and identifying risks. It includes 5 main categories covering context establishment, AI system categorization, capabilities and benefits analysis, component risk mapping, and impact characterization.</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MEASURE (22 subcategories):</a:t>
            </a:r>
            <a:r>
              <a:rPr lang="en-US" sz="1050">
                <a:solidFill>
                  <a:srgbClr val="303030"/>
                </a:solidFill>
                <a:highlight>
                  <a:srgbClr val="FFFFFF"/>
                </a:highlight>
              </a:rPr>
              <a:t> Focuses on assessing, analyzing, and tracking identified risks. It includes 4 main categories: identifying methods and metrics, evaluating trustworthiness (which alone contains 13 specific subcategories like assessing safety, fairness, and privacy), tracking risks, and gathering measurement feedback.</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MANAGE (13 subcategories):</a:t>
            </a:r>
            <a:r>
              <a:rPr lang="en-US" sz="1050">
                <a:solidFill>
                  <a:srgbClr val="303030"/>
                </a:solidFill>
                <a:highlight>
                  <a:srgbClr val="FFFFFF"/>
                </a:highlight>
              </a:rPr>
              <a:t> Focuses on prioritizing and acting upon risks based on projected impact. It includes 4 main categories encompassing risk prioritization and response, impact strategies, third-party management, and response planning and monitoring</a:t>
            </a:r>
            <a:endParaRPr sz="1050">
              <a:solidFill>
                <a:srgbClr val="303030"/>
              </a:solidFill>
              <a:highlight>
                <a:srgbClr val="FFFFFF"/>
              </a:highlight>
            </a:endParaRPr>
          </a:p>
          <a:p>
            <a:pPr indent="0" lvl="0" marL="0" rtl="0" algn="l">
              <a:lnSpc>
                <a:spcPct val="115000"/>
              </a:lnSpc>
              <a:spcBef>
                <a:spcPts val="900"/>
              </a:spcBef>
              <a:spcAft>
                <a:spcPts val="0"/>
              </a:spcAft>
              <a:buNone/>
            </a:pPr>
            <a:r>
              <a:t/>
            </a:r>
            <a:endParaRPr sz="1050">
              <a:solidFill>
                <a:srgbClr val="303030"/>
              </a:solidFill>
              <a:highlight>
                <a:srgbClr val="FFFFFF"/>
              </a:highlight>
            </a:endParaRPr>
          </a:p>
          <a:p>
            <a:pPr indent="0" lvl="0" marL="0" rtl="0" algn="l">
              <a:lnSpc>
                <a:spcPct val="115000"/>
              </a:lnSpc>
              <a:spcBef>
                <a:spcPts val="0"/>
              </a:spcBef>
              <a:spcAft>
                <a:spcPts val="0"/>
              </a:spcAft>
              <a:buNone/>
            </a:pPr>
            <a:r>
              <a:t/>
            </a:r>
            <a:endParaRPr sz="1050">
              <a:solidFill>
                <a:srgbClr val="303030"/>
              </a:solidFill>
              <a:highlight>
                <a:srgbClr val="FFFFFF"/>
              </a:highlight>
            </a:endParaRPr>
          </a:p>
          <a:p>
            <a:pPr indent="0" lvl="0" marL="0" rtl="0" algn="l">
              <a:lnSpc>
                <a:spcPct val="115000"/>
              </a:lnSpc>
              <a:spcBef>
                <a:spcPts val="0"/>
              </a:spcBef>
              <a:spcAft>
                <a:spcPts val="0"/>
              </a:spcAft>
              <a:buNone/>
            </a:pPr>
            <a:r>
              <a:t/>
            </a:r>
            <a:endParaRPr sz="1050">
              <a:solidFill>
                <a:srgbClr val="303030"/>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sz="1050">
                <a:solidFill>
                  <a:srgbClr val="303030"/>
                </a:solidFill>
                <a:highlight>
                  <a:srgbClr val="FFFFFF"/>
                </a:highlight>
              </a:rPr>
              <a:t>Here is the breakdown of the frameworks, country-specific laws/guidelines, and principles covered in the materials, along with their respective counts:</a:t>
            </a:r>
            <a:endParaRPr sz="1050">
              <a:solidFill>
                <a:srgbClr val="303030"/>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sz="1050">
                <a:solidFill>
                  <a:srgbClr val="303030"/>
                </a:solidFill>
                <a:highlight>
                  <a:srgbClr val="FFFFFF"/>
                </a:highlight>
              </a:rPr>
              <a:t>1. Frameworks (9 Distinct Frameworks/Families)</a:t>
            </a:r>
            <a:r>
              <a:rPr lang="en-US" sz="1050">
                <a:solidFill>
                  <a:srgbClr val="303030"/>
                </a:solidFill>
                <a:highlight>
                  <a:srgbClr val="FFFFFF"/>
                </a:highlight>
              </a:rPr>
              <a:t> The sources reference several frameworks used for risk management, AI classification, and governance:</a:t>
            </a:r>
            <a:endParaRPr sz="1050">
              <a:solidFill>
                <a:srgbClr val="303030"/>
              </a:solidFill>
              <a:highlight>
                <a:srgbClr val="FFFFFF"/>
              </a:highlight>
            </a:endParaRPr>
          </a:p>
          <a:p>
            <a:pPr indent="-295275" lvl="0" marL="457200" rtl="0" algn="l">
              <a:lnSpc>
                <a:spcPct val="115000"/>
              </a:lnSpc>
              <a:spcBef>
                <a:spcPts val="0"/>
              </a:spcBef>
              <a:spcAft>
                <a:spcPts val="0"/>
              </a:spcAft>
              <a:buClr>
                <a:srgbClr val="303030"/>
              </a:buClr>
              <a:buSzPts val="1050"/>
              <a:buChar char="●"/>
            </a:pPr>
            <a:r>
              <a:rPr b="1" lang="en-US" sz="1050">
                <a:solidFill>
                  <a:srgbClr val="303030"/>
                </a:solidFill>
                <a:highlight>
                  <a:srgbClr val="FFFFFF"/>
                </a:highlight>
              </a:rPr>
              <a:t>NIST AI Risk Management Framework (AI RMF):</a:t>
            </a:r>
            <a:r>
              <a:rPr lang="en-US" sz="1050">
                <a:solidFill>
                  <a:srgbClr val="303030"/>
                </a:solidFill>
                <a:highlight>
                  <a:srgbClr val="FFFFFF"/>
                </a:highlight>
              </a:rPr>
              <a:t> A voluntary framework by the U.S. federal agency to manage AI risks and ensure trustworthiness.</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NIST Cybersecurity Framework:</a:t>
            </a:r>
            <a:r>
              <a:rPr lang="en-US" sz="1050">
                <a:solidFill>
                  <a:srgbClr val="303030"/>
                </a:solidFill>
                <a:highlight>
                  <a:srgbClr val="FFFFFF"/>
                </a:highlight>
              </a:rPr>
              <a:t> Used for identifying and protecting against adversarial attacks and vulnerabilities.</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ISO Standards Frameworks:</a:t>
            </a:r>
            <a:r>
              <a:rPr lang="en-US" sz="1050">
                <a:solidFill>
                  <a:srgbClr val="303030"/>
                </a:solidFill>
                <a:highlight>
                  <a:srgbClr val="FFFFFF"/>
                </a:highlight>
              </a:rPr>
              <a:t> Including </a:t>
            </a:r>
            <a:r>
              <a:rPr b="1" lang="en-US" sz="1050">
                <a:solidFill>
                  <a:srgbClr val="303030"/>
                </a:solidFill>
                <a:highlight>
                  <a:srgbClr val="FFFFFF"/>
                </a:highlight>
              </a:rPr>
              <a:t>ISO/IEC 42001</a:t>
            </a:r>
            <a:r>
              <a:rPr lang="en-US" sz="1050">
                <a:solidFill>
                  <a:srgbClr val="303030"/>
                </a:solidFill>
                <a:highlight>
                  <a:srgbClr val="FFFFFF"/>
                </a:highlight>
              </a:rPr>
              <a:t> (AI Management System), </a:t>
            </a:r>
            <a:r>
              <a:rPr b="1" lang="en-US" sz="1050">
                <a:solidFill>
                  <a:srgbClr val="303030"/>
                </a:solidFill>
                <a:highlight>
                  <a:srgbClr val="FFFFFF"/>
                </a:highlight>
              </a:rPr>
              <a:t>ISO 31000</a:t>
            </a:r>
            <a:r>
              <a:rPr lang="en-US" sz="1050">
                <a:solidFill>
                  <a:srgbClr val="303030"/>
                </a:solidFill>
                <a:highlight>
                  <a:srgbClr val="FFFFFF"/>
                </a:highlight>
              </a:rPr>
              <a:t> (Risk Management), </a:t>
            </a:r>
            <a:r>
              <a:rPr b="1" lang="en-US" sz="1050">
                <a:solidFill>
                  <a:srgbClr val="303030"/>
                </a:solidFill>
                <a:highlight>
                  <a:srgbClr val="FFFFFF"/>
                </a:highlight>
              </a:rPr>
              <a:t>ISO/IEC 27001</a:t>
            </a:r>
            <a:r>
              <a:rPr lang="en-US" sz="1050">
                <a:solidFill>
                  <a:srgbClr val="303030"/>
                </a:solidFill>
                <a:highlight>
                  <a:srgbClr val="FFFFFF"/>
                </a:highlight>
              </a:rPr>
              <a:t> (Information Security Management), and </a:t>
            </a:r>
            <a:r>
              <a:rPr b="1" lang="en-US" sz="1050">
                <a:solidFill>
                  <a:srgbClr val="303030"/>
                </a:solidFill>
                <a:highlight>
                  <a:srgbClr val="FFFFFF"/>
                </a:highlight>
              </a:rPr>
              <a:t>ISO/IEC 27701</a:t>
            </a:r>
            <a:r>
              <a:rPr lang="en-US" sz="1050">
                <a:solidFill>
                  <a:srgbClr val="303030"/>
                </a:solidFill>
                <a:highlight>
                  <a:srgbClr val="FFFFFF"/>
                </a:highlight>
              </a:rPr>
              <a:t> (Privacy Information Management).</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OECD Framework for Classifying AI Systems:</a:t>
            </a:r>
            <a:r>
              <a:rPr lang="en-US" sz="1050">
                <a:solidFill>
                  <a:srgbClr val="303030"/>
                </a:solidFill>
                <a:highlight>
                  <a:srgbClr val="FFFFFF"/>
                </a:highlight>
              </a:rPr>
              <a:t> Categorizes AI by People/Planet, Economic Context, Data/Input, AI Model, and Task/Output.</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OECD Tools for Trustworthy AI Framework:</a:t>
            </a:r>
            <a:r>
              <a:rPr lang="en-US" sz="1050">
                <a:solidFill>
                  <a:srgbClr val="303030"/>
                </a:solidFill>
                <a:highlight>
                  <a:srgbClr val="FFFFFF"/>
                </a:highlight>
              </a:rPr>
              <a:t> Structures information to facilitate comparisons between different AI tools.</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EU ALTAI (The Assessment List for Trustworthy Artificial Intelligence):</a:t>
            </a:r>
            <a:r>
              <a:rPr lang="en-US" sz="1050">
                <a:solidFill>
                  <a:srgbClr val="303030"/>
                </a:solidFill>
                <a:highlight>
                  <a:srgbClr val="FFFFFF"/>
                </a:highlight>
              </a:rPr>
              <a:t> A qualitative impact assessment framework for trustworthy AI in the EU.</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MITRE ATT&amp;CK Framework:</a:t>
            </a:r>
            <a:r>
              <a:rPr lang="en-US" sz="1050">
                <a:solidFill>
                  <a:srgbClr val="303030"/>
                </a:solidFill>
                <a:highlight>
                  <a:srgbClr val="FFFFFF"/>
                </a:highlight>
              </a:rPr>
              <a:t> Used to understand, detect, and mitigate AI-specific attack vectors.</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COSO ERM Framework:</a:t>
            </a:r>
            <a:r>
              <a:rPr lang="en-US" sz="1050">
                <a:solidFill>
                  <a:srgbClr val="303030"/>
                </a:solidFill>
                <a:highlight>
                  <a:srgbClr val="FFFFFF"/>
                </a:highlight>
              </a:rPr>
              <a:t> An enterprise risk management framework used to manage AI-related business risks.</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FAIR (Factor Analysis of Information Risk) Framework:</a:t>
            </a:r>
            <a:r>
              <a:rPr lang="en-US" sz="1050">
                <a:solidFill>
                  <a:srgbClr val="303030"/>
                </a:solidFill>
                <a:highlight>
                  <a:srgbClr val="FFFFFF"/>
                </a:highlight>
              </a:rPr>
              <a:t> Used to quantify AI-related risks and assess vulnerabilities.</a:t>
            </a:r>
            <a:endParaRPr sz="1050">
              <a:solidFill>
                <a:srgbClr val="303030"/>
              </a:solidFill>
              <a:highlight>
                <a:srgbClr val="FFFFFF"/>
              </a:highlight>
            </a:endParaRPr>
          </a:p>
          <a:p>
            <a:pPr indent="0" lvl="0" marL="0" rtl="0" algn="l">
              <a:lnSpc>
                <a:spcPct val="115000"/>
              </a:lnSpc>
              <a:spcBef>
                <a:spcPts val="900"/>
              </a:spcBef>
              <a:spcAft>
                <a:spcPts val="0"/>
              </a:spcAft>
              <a:buClr>
                <a:schemeClr val="dk1"/>
              </a:buClr>
              <a:buSzPts val="1100"/>
              <a:buFont typeface="Arial"/>
              <a:buNone/>
            </a:pPr>
            <a:r>
              <a:rPr b="1" lang="en-US" sz="1050">
                <a:solidFill>
                  <a:srgbClr val="303030"/>
                </a:solidFill>
                <a:highlight>
                  <a:srgbClr val="FFFFFF"/>
                </a:highlight>
              </a:rPr>
              <a:t>2. Country/Region-Specific Laws and Guidelines (33 Distinct Laws/Guidelines)</a:t>
            </a:r>
            <a:r>
              <a:rPr lang="en-US" sz="1050">
                <a:solidFill>
                  <a:srgbClr val="303030"/>
                </a:solidFill>
                <a:highlight>
                  <a:srgbClr val="FFFFFF"/>
                </a:highlight>
              </a:rPr>
              <a:t> The documents outline a comprehensive landscape of AI, privacy, consumer protection, and IP laws across 13 different jurisdictions:</a:t>
            </a:r>
            <a:endParaRPr sz="1050">
              <a:solidFill>
                <a:srgbClr val="303030"/>
              </a:solidFill>
              <a:highlight>
                <a:srgbClr val="FFFFFF"/>
              </a:highlight>
            </a:endParaRPr>
          </a:p>
          <a:p>
            <a:pPr indent="-295275" lvl="0" marL="457200" rtl="0" algn="l">
              <a:lnSpc>
                <a:spcPct val="115000"/>
              </a:lnSpc>
              <a:spcBef>
                <a:spcPts val="0"/>
              </a:spcBef>
              <a:spcAft>
                <a:spcPts val="0"/>
              </a:spcAft>
              <a:buClr>
                <a:srgbClr val="303030"/>
              </a:buClr>
              <a:buSzPts val="1050"/>
              <a:buChar char="●"/>
            </a:pPr>
            <a:r>
              <a:rPr b="1" lang="en-US" sz="1050">
                <a:solidFill>
                  <a:srgbClr val="303030"/>
                </a:solidFill>
                <a:highlight>
                  <a:srgbClr val="FFFFFF"/>
                </a:highlight>
              </a:rPr>
              <a:t>European Union (4):</a:t>
            </a:r>
            <a:r>
              <a:rPr lang="en-US" sz="1050">
                <a:solidFill>
                  <a:srgbClr val="303030"/>
                </a:solidFill>
                <a:highlight>
                  <a:srgbClr val="FFFFFF"/>
                </a:highlight>
              </a:rPr>
              <a:t> EU AI Act, General Data Protection Regulation (GDPR), Digital Services Act (DSA), and the Product Liability Directive (PLD) / Revised PLD / AI Liability Directive (AILD).</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United States - Federal (16):</a:t>
            </a:r>
            <a:r>
              <a:rPr lang="en-US" sz="1050">
                <a:solidFill>
                  <a:srgbClr val="303030"/>
                </a:solidFill>
                <a:highlight>
                  <a:srgbClr val="FFFFFF"/>
                </a:highlight>
              </a:rPr>
              <a:t> America’s AI Action Plan, Executive Orders (e.g., EO 14365, 14110, 14091), SR 11-7 "Supervisory Guidance on Model Risk Management", FTC Act, COPPA, CPSA, CPSIA, HIPAA, FDCA, OSHA, Title VII of the Civil Rights Act, ADA, FCRA, ECOA, FHA, and IP laws (DMCA, US Copyright Act, Patent Act, Lanham Act).</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United States - State Level (9):</a:t>
            </a:r>
            <a:r>
              <a:rPr lang="en-US" sz="1050">
                <a:solidFill>
                  <a:srgbClr val="303030"/>
                </a:solidFill>
                <a:highlight>
                  <a:srgbClr val="FFFFFF"/>
                </a:highlight>
              </a:rPr>
              <a:t> California's SB 53, SB 243, SB 942, AB 2013, CCPA, CPRA; New York's S6953B (RAISE Act), LL 144-21; and Illinois' BIPA.</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South Korea (2):</a:t>
            </a:r>
            <a:r>
              <a:rPr lang="en-US" sz="1050">
                <a:solidFill>
                  <a:srgbClr val="303030"/>
                </a:solidFill>
                <a:highlight>
                  <a:srgbClr val="FFFFFF"/>
                </a:highlight>
              </a:rPr>
              <a:t> South Korea AI Act and Personal Information Protection Act (PIPA).</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Vietnam (2):</a:t>
            </a:r>
            <a:r>
              <a:rPr lang="en-US" sz="1050">
                <a:solidFill>
                  <a:srgbClr val="303030"/>
                </a:solidFill>
                <a:highlight>
                  <a:srgbClr val="FFFFFF"/>
                </a:highlight>
              </a:rPr>
              <a:t> Vietnam AI Act (Law on Artificial Intelligence) and the Law on Digital Technology Industry.</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Canada (2):</a:t>
            </a:r>
            <a:r>
              <a:rPr lang="en-US" sz="1050">
                <a:solidFill>
                  <a:srgbClr val="303030"/>
                </a:solidFill>
                <a:highlight>
                  <a:srgbClr val="FFFFFF"/>
                </a:highlight>
              </a:rPr>
              <a:t> Canada AIA (Artificial Intelligence and Data Act) and PIPEDA.</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Italy (1):</a:t>
            </a:r>
            <a:r>
              <a:rPr lang="en-US" sz="1050">
                <a:solidFill>
                  <a:srgbClr val="303030"/>
                </a:solidFill>
                <a:highlight>
                  <a:srgbClr val="FFFFFF"/>
                </a:highlight>
              </a:rPr>
              <a:t> Italy AI Act (Law No. 132).</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China (1):</a:t>
            </a:r>
            <a:r>
              <a:rPr lang="en-US" sz="1050">
                <a:solidFill>
                  <a:srgbClr val="303030"/>
                </a:solidFill>
                <a:highlight>
                  <a:srgbClr val="FFFFFF"/>
                </a:highlight>
              </a:rPr>
              <a:t> Personal Information Protection Law (PIPL).</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Brazil (1):</a:t>
            </a:r>
            <a:r>
              <a:rPr lang="en-US" sz="1050">
                <a:solidFill>
                  <a:srgbClr val="303030"/>
                </a:solidFill>
                <a:highlight>
                  <a:srgbClr val="FFFFFF"/>
                </a:highlight>
              </a:rPr>
              <a:t> Lei Geral de Proteção de Dados (LGPD).</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India (1):</a:t>
            </a:r>
            <a:r>
              <a:rPr lang="en-US" sz="1050">
                <a:solidFill>
                  <a:srgbClr val="303030"/>
                </a:solidFill>
                <a:highlight>
                  <a:srgbClr val="FFFFFF"/>
                </a:highlight>
              </a:rPr>
              <a:t> Digital Personal Data Protection Act (DPDP).</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Singapore (1):</a:t>
            </a:r>
            <a:r>
              <a:rPr lang="en-US" sz="1050">
                <a:solidFill>
                  <a:srgbClr val="303030"/>
                </a:solidFill>
                <a:highlight>
                  <a:srgbClr val="FFFFFF"/>
                </a:highlight>
              </a:rPr>
              <a:t> Personal Data Protection Act (PDPA).</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United Kingdom (1):</a:t>
            </a:r>
            <a:r>
              <a:rPr lang="en-US" sz="1050">
                <a:solidFill>
                  <a:srgbClr val="303030"/>
                </a:solidFill>
                <a:highlight>
                  <a:srgbClr val="FFFFFF"/>
                </a:highlight>
              </a:rPr>
              <a:t> Data Protection Act (DPA).</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Hong Kong (1):</a:t>
            </a:r>
            <a:r>
              <a:rPr lang="en-US" sz="1050">
                <a:solidFill>
                  <a:srgbClr val="303030"/>
                </a:solidFill>
                <a:highlight>
                  <a:srgbClr val="FFFFFF"/>
                </a:highlight>
              </a:rPr>
              <a:t> Personal Data (Privacy) Ordinance (PDPO).</a:t>
            </a:r>
            <a:endParaRPr sz="1050">
              <a:solidFill>
                <a:srgbClr val="303030"/>
              </a:solidFill>
              <a:highlight>
                <a:srgbClr val="FFFFFF"/>
              </a:highlight>
            </a:endParaRPr>
          </a:p>
          <a:p>
            <a:pPr indent="0" lvl="0" marL="0" rtl="0" algn="l">
              <a:lnSpc>
                <a:spcPct val="115000"/>
              </a:lnSpc>
              <a:spcBef>
                <a:spcPts val="900"/>
              </a:spcBef>
              <a:spcAft>
                <a:spcPts val="0"/>
              </a:spcAft>
              <a:buClr>
                <a:schemeClr val="dk1"/>
              </a:buClr>
              <a:buSzPts val="1100"/>
              <a:buFont typeface="Arial"/>
              <a:buNone/>
            </a:pPr>
            <a:r>
              <a:rPr b="1" lang="en-US" sz="1050">
                <a:solidFill>
                  <a:srgbClr val="303030"/>
                </a:solidFill>
                <a:highlight>
                  <a:srgbClr val="FFFFFF"/>
                </a:highlight>
              </a:rPr>
              <a:t>3. Principles (3 Distinct Sets)</a:t>
            </a:r>
            <a:r>
              <a:rPr lang="en-US" sz="1050">
                <a:solidFill>
                  <a:srgbClr val="303030"/>
                </a:solidFill>
                <a:highlight>
                  <a:srgbClr val="FFFFFF"/>
                </a:highlight>
              </a:rPr>
              <a:t> The text establishes three core sets of guiding principles for data and AI:</a:t>
            </a:r>
            <a:endParaRPr sz="1050">
              <a:solidFill>
                <a:srgbClr val="303030"/>
              </a:solidFill>
              <a:highlight>
                <a:srgbClr val="FFFFFF"/>
              </a:highlight>
            </a:endParaRPr>
          </a:p>
          <a:p>
            <a:pPr indent="-295275" lvl="0" marL="457200" rtl="0" algn="l">
              <a:lnSpc>
                <a:spcPct val="115000"/>
              </a:lnSpc>
              <a:spcBef>
                <a:spcPts val="0"/>
              </a:spcBef>
              <a:spcAft>
                <a:spcPts val="0"/>
              </a:spcAft>
              <a:buClr>
                <a:srgbClr val="303030"/>
              </a:buClr>
              <a:buSzPts val="1050"/>
              <a:buChar char="●"/>
            </a:pPr>
            <a:r>
              <a:rPr b="1" lang="en-US" sz="1050">
                <a:solidFill>
                  <a:srgbClr val="303030"/>
                </a:solidFill>
                <a:highlight>
                  <a:srgbClr val="FFFFFF"/>
                </a:highlight>
              </a:rPr>
              <a:t>OECD Principles on AI:</a:t>
            </a:r>
            <a:r>
              <a:rPr lang="en-US" sz="1050">
                <a:solidFill>
                  <a:srgbClr val="303030"/>
                </a:solidFill>
                <a:highlight>
                  <a:srgbClr val="FFFFFF"/>
                </a:highlight>
              </a:rPr>
              <a:t> 5 high-level values-based principles: (1) Inclusive growth, sustainable development and well-being, (2) Respect for the rule of law, human rights and democratic values, (3) Transparency and explainability, (4) Robustness, security and safety, and (5) Accountability.</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Responsible AI (RAI) Principles / NIST Trustworthy Characteristics:</a:t>
            </a:r>
            <a:r>
              <a:rPr lang="en-US" sz="1050">
                <a:solidFill>
                  <a:srgbClr val="303030"/>
                </a:solidFill>
                <a:highlight>
                  <a:srgbClr val="FFFFFF"/>
                </a:highlight>
              </a:rPr>
              <a:t> Core operational principles including Fairness, Privacy, Safety, Security, Accountability, Transparency/Explainability, Robustness/Reliability/Resilience, Human-Centricity, and Sustainability.</a:t>
            </a:r>
            <a:endParaRPr sz="1050">
              <a:solidFill>
                <a:srgbClr val="303030"/>
              </a:solidFill>
              <a:highlight>
                <a:srgbClr val="FFFFFF"/>
              </a:highlight>
            </a:endParaRPr>
          </a:p>
          <a:p>
            <a:pPr indent="-295275" lvl="0" marL="457200" rtl="0" algn="l">
              <a:lnSpc>
                <a:spcPct val="115000"/>
              </a:lnSpc>
              <a:spcBef>
                <a:spcPts val="900"/>
              </a:spcBef>
              <a:spcAft>
                <a:spcPts val="0"/>
              </a:spcAft>
              <a:buClr>
                <a:srgbClr val="303030"/>
              </a:buClr>
              <a:buSzPts val="1050"/>
              <a:buChar char="●"/>
            </a:pPr>
            <a:r>
              <a:rPr b="1" lang="en-US" sz="1050">
                <a:solidFill>
                  <a:srgbClr val="303030"/>
                </a:solidFill>
                <a:highlight>
                  <a:srgbClr val="FFFFFF"/>
                </a:highlight>
              </a:rPr>
              <a:t>GDPR Principles:</a:t>
            </a:r>
            <a:r>
              <a:rPr lang="en-US" sz="1050">
                <a:solidFill>
                  <a:srgbClr val="303030"/>
                </a:solidFill>
                <a:highlight>
                  <a:srgbClr val="FFFFFF"/>
                </a:highlight>
              </a:rPr>
              <a:t> 7 principles governing personal data: Lawfulness/fairness/transparency, Purpose limitation, Data minimisation, Accuracy, Storage limitation, Integrity and confidentiality, and Accountability</a:t>
            </a:r>
            <a:endParaRPr sz="1050">
              <a:solidFill>
                <a:srgbClr val="303030"/>
              </a:solidFill>
              <a:highlight>
                <a:srgbClr val="FFFFFF"/>
              </a:highlight>
            </a:endParaRPr>
          </a:p>
          <a:p>
            <a:pPr indent="0" lvl="0" marL="0" rtl="0" algn="l">
              <a:spcBef>
                <a:spcPts val="900"/>
              </a:spcBef>
              <a:spcAft>
                <a:spcPts val="0"/>
              </a:spcAft>
              <a:buNone/>
            </a:pPr>
            <a:r>
              <a:t/>
            </a:r>
            <a:endParaRPr/>
          </a:p>
        </p:txBody>
      </p:sp>
      <p:sp>
        <p:nvSpPr>
          <p:cNvPr id="405" name="Google Shape;405;g3eae049a994_2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eaf5b54de6_1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g3eaf5b54de6_1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g3eaf5b54de6_1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eaf5b54de6_3_4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g3eaf5b54de6_3_4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g3eaf5b54de6_3_4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eae049a994_4_18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4" name="Google Shape;604;g3eae049a994_4_18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SPEAKER NOTES — TOPIC 4: A PRACTICAL FOUR-STEP GOVERNANCE APPROACH</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Key opening: Governance is not a document. It is an operating capability. Here is how to build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Main narrative (3-5 minutes):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STEP 1 — DISCOVER: You cannot govern what you have not mapped. The first action in any AI governance program is inventory. What AI systems are in use across your organization? This includes vendor-provided tools, internally built systems, and shadow AI — the tools employees are using without formal approval. In my experience, most organizations are surprised by how many AI tools are already in use when they do their first inventory.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STEP 2 — GOVERN: Once you know what you have, you establish ownership. Risk classification tells you which systems need the most scrutiny. A steering committee with representation from Legal, Security, Engineering, and the business ensures that governance is not a single team's problem — it is shared accountability.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STEP 3 — CONTROL: This is where you build the actual controls. Risk assessments for each AI system. Model cards that document what the model does, what data it was trained on, and what its limitations are. Security controls specific to AI attack vectors. Approval workflows that prevent unauthorized systems from going to production.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STEP 4 — MONITOR: Governance does not stop at deployment. AI systems drift. The world changes. New attack techniques emerge. Continuous monitoring — for model drift, runtime anomalies, and compliance evidence — is what makes governance sustainable.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Closing statement: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frameworks at the bottom of this slide — ISO 42001, NIST AI RMF, OECD, CSA — all describe variations of this lifecycle. What I have given you is the practitioner's version. The version you can actually implement starting next week.</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AI governance is not a destination. It is an operational discipline that evolves alongside your AI systems. The organizations that get ahead of it now will have a structural advantage — in trust, in regulatory readiness, and in the confidence to scale AI responsibly."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MODERATOR GUIDE: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Primary Q1: Which of these four steps is your organization furthest behind on?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Primary Q2: What would make it easier to get executive or board support for building a formal AI governance program?</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Follow-up: What does your current AI approval workflow look like — is there one?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Follow-up: How do you currently detect when an AI system's outputs start to degrade or drift?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Engagement prompt: Take 60 seconds and write down the one AI governance gap in your organization you want to address in the next 90 days. We will ask a few people to share.</a:t>
            </a:r>
            <a:endParaRPr/>
          </a:p>
        </p:txBody>
      </p:sp>
      <p:sp>
        <p:nvSpPr>
          <p:cNvPr id="605" name="Google Shape;605;g3eae049a994_4_18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eaf5b54de6_3_14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g3eaf5b54de6_3_14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7" name="Google Shape;647;g3eaf5b54de6_3_14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dacbf28af9_3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694" name="Google Shape;694;g3dacbf28af9_3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bg>
      <p:bgPr>
        <a:solidFill>
          <a:srgbClr val="FFF7EB"/>
        </a:solidFill>
      </p:bgPr>
    </p:bg>
    <p:spTree>
      <p:nvGrpSpPr>
        <p:cNvPr id="9" name="Shape 9"/>
        <p:cNvGrpSpPr/>
        <p:nvPr/>
      </p:nvGrpSpPr>
      <p:grpSpPr>
        <a:xfrm>
          <a:off x="0" y="0"/>
          <a:ext cx="0" cy="0"/>
          <a:chOff x="0" y="0"/>
          <a:chExt cx="0" cy="0"/>
        </a:xfrm>
      </p:grpSpPr>
      <p:sp>
        <p:nvSpPr>
          <p:cNvPr id="10" name="Google Shape;10;g3e6c117acb1_1_4"/>
          <p:cNvSpPr txBox="1"/>
          <p:nvPr>
            <p:ph idx="12" type="sldNum"/>
          </p:nvPr>
        </p:nvSpPr>
        <p:spPr>
          <a:xfrm>
            <a:off x="8610600" y="6356351"/>
            <a:ext cx="2743200" cy="365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g3e6c117acb1_1_6"/>
          <p:cNvSpPr txBox="1"/>
          <p:nvPr>
            <p:ph type="title"/>
          </p:nvPr>
        </p:nvSpPr>
        <p:spPr>
          <a:xfrm>
            <a:off x="838200" y="365125"/>
            <a:ext cx="10515600" cy="1325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 name="Google Shape;13;g3e6c117acb1_1_6"/>
          <p:cNvSpPr txBox="1"/>
          <p:nvPr>
            <p:ph idx="1" type="body"/>
          </p:nvPr>
        </p:nvSpPr>
        <p:spPr>
          <a:xfrm>
            <a:off x="838200" y="1929384"/>
            <a:ext cx="10515600" cy="4252000"/>
          </a:xfrm>
          <a:prstGeom prst="rect">
            <a:avLst/>
          </a:prstGeom>
          <a:noFill/>
          <a:ln>
            <a:noFill/>
          </a:ln>
        </p:spPr>
        <p:txBody>
          <a:bodyPr anchorCtr="0" anchor="t" bIns="45700" lIns="91425" spcFirstLastPara="1" rIns="91425" wrap="square" tIns="45700">
            <a:normAutofit/>
          </a:bodyPr>
          <a:lstStyle>
            <a:lvl1pPr indent="-406400" lvl="0" marL="457200" algn="l">
              <a:lnSpc>
                <a:spcPct val="110000"/>
              </a:lnSpc>
              <a:spcBef>
                <a:spcPts val="1100"/>
              </a:spcBef>
              <a:spcAft>
                <a:spcPts val="0"/>
              </a:spcAft>
              <a:buClr>
                <a:schemeClr val="dk1"/>
              </a:buClr>
              <a:buSzPts val="2800"/>
              <a:buChar char="•"/>
              <a:defRPr sz="2800"/>
            </a:lvl1pPr>
            <a:lvl2pPr indent="-381000" lvl="1" marL="914400" algn="l">
              <a:lnSpc>
                <a:spcPct val="110000"/>
              </a:lnSpc>
              <a:spcBef>
                <a:spcPts val="500"/>
              </a:spcBef>
              <a:spcAft>
                <a:spcPts val="0"/>
              </a:spcAft>
              <a:buClr>
                <a:schemeClr val="dk1"/>
              </a:buClr>
              <a:buSzPts val="2400"/>
              <a:buChar char="•"/>
              <a:defRPr sz="2400"/>
            </a:lvl2pPr>
            <a:lvl3pPr indent="-355600" lvl="2" marL="1371600" algn="l">
              <a:lnSpc>
                <a:spcPct val="110000"/>
              </a:lnSpc>
              <a:spcBef>
                <a:spcPts val="500"/>
              </a:spcBef>
              <a:spcAft>
                <a:spcPts val="0"/>
              </a:spcAft>
              <a:buClr>
                <a:schemeClr val="dk1"/>
              </a:buClr>
              <a:buSzPts val="2000"/>
              <a:buChar char="•"/>
              <a:defRPr sz="2000"/>
            </a:lvl3pPr>
            <a:lvl4pPr indent="-349250" lvl="3" marL="1828800" algn="l">
              <a:lnSpc>
                <a:spcPct val="110000"/>
              </a:lnSpc>
              <a:spcBef>
                <a:spcPts val="500"/>
              </a:spcBef>
              <a:spcAft>
                <a:spcPts val="0"/>
              </a:spcAft>
              <a:buClr>
                <a:schemeClr val="dk1"/>
              </a:buClr>
              <a:buSzPts val="1900"/>
              <a:buChar char="•"/>
              <a:defRPr sz="1900"/>
            </a:lvl4pPr>
            <a:lvl5pPr indent="-349250" lvl="4" marL="2286000" algn="l">
              <a:lnSpc>
                <a:spcPct val="110000"/>
              </a:lnSpc>
              <a:spcBef>
                <a:spcPts val="500"/>
              </a:spcBef>
              <a:spcAft>
                <a:spcPts val="0"/>
              </a:spcAft>
              <a:buClr>
                <a:schemeClr val="dk1"/>
              </a:buClr>
              <a:buSzPts val="1900"/>
              <a:buChar char="•"/>
              <a:defRPr sz="1900"/>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4" name="Google Shape;14;g3e6c117acb1_1_6"/>
          <p:cNvSpPr txBox="1"/>
          <p:nvPr>
            <p:ph idx="12" type="sldNum"/>
          </p:nvPr>
        </p:nvSpPr>
        <p:spPr>
          <a:xfrm>
            <a:off x="8610600" y="6356351"/>
            <a:ext cx="2743200" cy="365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Logo&#10;&#10;Description automatically generated" id="15" name="Google Shape;15;g3e6c117acb1_1_6"/>
          <p:cNvPicPr preferRelativeResize="0"/>
          <p:nvPr/>
        </p:nvPicPr>
        <p:blipFill rotWithShape="1">
          <a:blip r:embed="rId2">
            <a:alphaModFix/>
          </a:blip>
          <a:srcRect b="0" l="0" r="0" t="0"/>
          <a:stretch/>
        </p:blipFill>
        <p:spPr>
          <a:xfrm>
            <a:off x="11105367" y="0"/>
            <a:ext cx="1073200" cy="108713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 name="Shape 16"/>
        <p:cNvGrpSpPr/>
        <p:nvPr/>
      </p:nvGrpSpPr>
      <p:grpSpPr>
        <a:xfrm>
          <a:off x="0" y="0"/>
          <a:ext cx="0" cy="0"/>
          <a:chOff x="0" y="0"/>
          <a:chExt cx="0" cy="0"/>
        </a:xfrm>
      </p:grpSpPr>
      <p:sp>
        <p:nvSpPr>
          <p:cNvPr id="17" name="Google Shape;17;g3e6c117acb1_1_11"/>
          <p:cNvSpPr txBox="1"/>
          <p:nvPr>
            <p:ph type="title"/>
          </p:nvPr>
        </p:nvSpPr>
        <p:spPr>
          <a:xfrm>
            <a:off x="2203704" y="1728216"/>
            <a:ext cx="7781600" cy="3392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7900"/>
              <a:buFont typeface="Arial"/>
              <a:buNone/>
              <a:defRPr sz="79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8" name="Google Shape;18;g3e6c117acb1_1_11"/>
          <p:cNvSpPr txBox="1"/>
          <p:nvPr>
            <p:ph idx="12" type="sldNum"/>
          </p:nvPr>
        </p:nvSpPr>
        <p:spPr>
          <a:xfrm>
            <a:off x="8610600" y="6356351"/>
            <a:ext cx="2743200" cy="365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Logo&#10;&#10;Description automatically generated" id="19" name="Google Shape;19;g3e6c117acb1_1_11"/>
          <p:cNvPicPr preferRelativeResize="0"/>
          <p:nvPr/>
        </p:nvPicPr>
        <p:blipFill rotWithShape="1">
          <a:blip r:embed="rId2">
            <a:alphaModFix/>
          </a:blip>
          <a:srcRect b="0" l="0" r="0" t="0"/>
          <a:stretch/>
        </p:blipFill>
        <p:spPr>
          <a:xfrm>
            <a:off x="11105367" y="0"/>
            <a:ext cx="1073200" cy="108713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Only" type="blank">
  <p:cSld name="BLANK">
    <p:spTree>
      <p:nvGrpSpPr>
        <p:cNvPr id="20" name="Shape 20"/>
        <p:cNvGrpSpPr/>
        <p:nvPr/>
      </p:nvGrpSpPr>
      <p:grpSpPr>
        <a:xfrm>
          <a:off x="0" y="0"/>
          <a:ext cx="0" cy="0"/>
          <a:chOff x="0" y="0"/>
          <a:chExt cx="0" cy="0"/>
        </a:xfrm>
      </p:grpSpPr>
      <p:sp>
        <p:nvSpPr>
          <p:cNvPr id="21" name="Google Shape;21;g3e6c117acb1_1_15"/>
          <p:cNvSpPr txBox="1"/>
          <p:nvPr>
            <p:ph idx="12" type="sldNum"/>
          </p:nvPr>
        </p:nvSpPr>
        <p:spPr>
          <a:xfrm>
            <a:off x="8610600" y="6356351"/>
            <a:ext cx="2743200" cy="365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Logo&#10;&#10;Description automatically generated" id="22" name="Google Shape;22;g3e6c117acb1_1_15"/>
          <p:cNvPicPr preferRelativeResize="0"/>
          <p:nvPr/>
        </p:nvPicPr>
        <p:blipFill rotWithShape="1">
          <a:blip r:embed="rId2">
            <a:alphaModFix/>
          </a:blip>
          <a:srcRect b="0" l="0" r="0" t="0"/>
          <a:stretch/>
        </p:blipFill>
        <p:spPr>
          <a:xfrm>
            <a:off x="11105367" y="0"/>
            <a:ext cx="1073200" cy="108713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Only 1">
  <p:cSld name="BLANK_2">
    <p:spTree>
      <p:nvGrpSpPr>
        <p:cNvPr id="23" name="Shape 23"/>
        <p:cNvGrpSpPr/>
        <p:nvPr/>
      </p:nvGrpSpPr>
      <p:grpSpPr>
        <a:xfrm>
          <a:off x="0" y="0"/>
          <a:ext cx="0" cy="0"/>
          <a:chOff x="0" y="0"/>
          <a:chExt cx="0" cy="0"/>
        </a:xfrm>
      </p:grpSpPr>
      <p:sp>
        <p:nvSpPr>
          <p:cNvPr id="24" name="Google Shape;24;g3e6c117acb1_1_18"/>
          <p:cNvSpPr txBox="1"/>
          <p:nvPr>
            <p:ph idx="12" type="sldNum"/>
          </p:nvPr>
        </p:nvSpPr>
        <p:spPr>
          <a:xfrm>
            <a:off x="8610600" y="6356351"/>
            <a:ext cx="2743200" cy="365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25" name="Google Shape;25;g3e6c117acb1_1_18"/>
          <p:cNvPicPr preferRelativeResize="0"/>
          <p:nvPr/>
        </p:nvPicPr>
        <p:blipFill rotWithShape="1">
          <a:blip r:embed="rId2">
            <a:alphaModFix/>
          </a:blip>
          <a:srcRect b="0" l="0" r="0" t="0"/>
          <a:stretch/>
        </p:blipFill>
        <p:spPr>
          <a:xfrm>
            <a:off x="11176000" y="73615"/>
            <a:ext cx="917467" cy="92786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Pink 1">
  <p:cSld name="TITLE_ONLY_1_1">
    <p:spTree>
      <p:nvGrpSpPr>
        <p:cNvPr id="26" name="Shape 26"/>
        <p:cNvGrpSpPr/>
        <p:nvPr/>
      </p:nvGrpSpPr>
      <p:grpSpPr>
        <a:xfrm>
          <a:off x="0" y="0"/>
          <a:ext cx="0" cy="0"/>
          <a:chOff x="0" y="0"/>
          <a:chExt cx="0" cy="0"/>
        </a:xfrm>
      </p:grpSpPr>
      <p:sp>
        <p:nvSpPr>
          <p:cNvPr id="27" name="Google Shape;27;g3e6c117acb1_1_21"/>
          <p:cNvSpPr txBox="1"/>
          <p:nvPr>
            <p:ph type="title"/>
          </p:nvPr>
        </p:nvSpPr>
        <p:spPr>
          <a:xfrm>
            <a:off x="2203704" y="1728216"/>
            <a:ext cx="7781600" cy="3392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7900"/>
              <a:buFont typeface="Arial"/>
              <a:buNone/>
              <a:defRPr sz="79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8" name="Google Shape;28;g3e6c117acb1_1_21"/>
          <p:cNvSpPr txBox="1"/>
          <p:nvPr>
            <p:ph idx="12" type="sldNum"/>
          </p:nvPr>
        </p:nvSpPr>
        <p:spPr>
          <a:xfrm>
            <a:off x="8610600" y="6356351"/>
            <a:ext cx="2743200" cy="365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29" name="Google Shape;29;g3e6c117acb1_1_21"/>
          <p:cNvPicPr preferRelativeResize="0"/>
          <p:nvPr/>
        </p:nvPicPr>
        <p:blipFill rotWithShape="1">
          <a:blip r:embed="rId2">
            <a:alphaModFix/>
          </a:blip>
          <a:srcRect b="0" l="0" r="0" t="0"/>
          <a:stretch/>
        </p:blipFill>
        <p:spPr>
          <a:xfrm>
            <a:off x="11176000" y="73615"/>
            <a:ext cx="917467" cy="92786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OBJECT_1">
    <p:spTree>
      <p:nvGrpSpPr>
        <p:cNvPr id="30" name="Shape 30"/>
        <p:cNvGrpSpPr/>
        <p:nvPr/>
      </p:nvGrpSpPr>
      <p:grpSpPr>
        <a:xfrm>
          <a:off x="0" y="0"/>
          <a:ext cx="0" cy="0"/>
          <a:chOff x="0" y="0"/>
          <a:chExt cx="0" cy="0"/>
        </a:xfrm>
      </p:grpSpPr>
      <p:sp>
        <p:nvSpPr>
          <p:cNvPr id="31" name="Google Shape;31;g3e6c117acb1_1_25"/>
          <p:cNvSpPr txBox="1"/>
          <p:nvPr>
            <p:ph type="title"/>
          </p:nvPr>
        </p:nvSpPr>
        <p:spPr>
          <a:xfrm>
            <a:off x="838200" y="365125"/>
            <a:ext cx="10515600" cy="1325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32" name="Google Shape;32;g3e6c117acb1_1_25"/>
          <p:cNvSpPr txBox="1"/>
          <p:nvPr>
            <p:ph idx="1" type="body"/>
          </p:nvPr>
        </p:nvSpPr>
        <p:spPr>
          <a:xfrm>
            <a:off x="838200" y="1929384"/>
            <a:ext cx="10515600" cy="4252000"/>
          </a:xfrm>
          <a:prstGeom prst="rect">
            <a:avLst/>
          </a:prstGeom>
          <a:noFill/>
          <a:ln>
            <a:noFill/>
          </a:ln>
        </p:spPr>
        <p:txBody>
          <a:bodyPr anchorCtr="0" anchor="t" bIns="45700" lIns="91425" spcFirstLastPara="1" rIns="91425" wrap="square" tIns="45700">
            <a:normAutofit/>
          </a:bodyPr>
          <a:lstStyle>
            <a:lvl1pPr indent="-406400" lvl="0" marL="457200" algn="l">
              <a:lnSpc>
                <a:spcPct val="110000"/>
              </a:lnSpc>
              <a:spcBef>
                <a:spcPts val="1100"/>
              </a:spcBef>
              <a:spcAft>
                <a:spcPts val="0"/>
              </a:spcAft>
              <a:buClr>
                <a:schemeClr val="dk1"/>
              </a:buClr>
              <a:buSzPts val="2800"/>
              <a:buChar char="•"/>
              <a:defRPr sz="2800"/>
            </a:lvl1pPr>
            <a:lvl2pPr indent="-381000" lvl="1" marL="914400" algn="l">
              <a:lnSpc>
                <a:spcPct val="110000"/>
              </a:lnSpc>
              <a:spcBef>
                <a:spcPts val="500"/>
              </a:spcBef>
              <a:spcAft>
                <a:spcPts val="0"/>
              </a:spcAft>
              <a:buClr>
                <a:schemeClr val="dk1"/>
              </a:buClr>
              <a:buSzPts val="2400"/>
              <a:buChar char="•"/>
              <a:defRPr sz="2400"/>
            </a:lvl2pPr>
            <a:lvl3pPr indent="-355600" lvl="2" marL="1371600" algn="l">
              <a:lnSpc>
                <a:spcPct val="110000"/>
              </a:lnSpc>
              <a:spcBef>
                <a:spcPts val="500"/>
              </a:spcBef>
              <a:spcAft>
                <a:spcPts val="0"/>
              </a:spcAft>
              <a:buClr>
                <a:schemeClr val="dk1"/>
              </a:buClr>
              <a:buSzPts val="2000"/>
              <a:buChar char="•"/>
              <a:defRPr sz="2000"/>
            </a:lvl3pPr>
            <a:lvl4pPr indent="-349250" lvl="3" marL="1828800" algn="l">
              <a:lnSpc>
                <a:spcPct val="110000"/>
              </a:lnSpc>
              <a:spcBef>
                <a:spcPts val="500"/>
              </a:spcBef>
              <a:spcAft>
                <a:spcPts val="0"/>
              </a:spcAft>
              <a:buClr>
                <a:schemeClr val="dk1"/>
              </a:buClr>
              <a:buSzPts val="1900"/>
              <a:buChar char="•"/>
              <a:defRPr sz="1900"/>
            </a:lvl4pPr>
            <a:lvl5pPr indent="-349250" lvl="4" marL="2286000" algn="l">
              <a:lnSpc>
                <a:spcPct val="110000"/>
              </a:lnSpc>
              <a:spcBef>
                <a:spcPts val="500"/>
              </a:spcBef>
              <a:spcAft>
                <a:spcPts val="0"/>
              </a:spcAft>
              <a:buClr>
                <a:schemeClr val="dk1"/>
              </a:buClr>
              <a:buSzPts val="1900"/>
              <a:buChar char="•"/>
              <a:defRPr sz="1900"/>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33" name="Google Shape;33;g3e6c117acb1_1_25"/>
          <p:cNvSpPr txBox="1"/>
          <p:nvPr>
            <p:ph idx="12" type="sldNum"/>
          </p:nvPr>
        </p:nvSpPr>
        <p:spPr>
          <a:xfrm>
            <a:off x="8610600" y="6356351"/>
            <a:ext cx="2743200" cy="365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34" name="Google Shape;34;g3e6c117acb1_1_25"/>
          <p:cNvPicPr preferRelativeResize="0"/>
          <p:nvPr/>
        </p:nvPicPr>
        <p:blipFill rotWithShape="1">
          <a:blip r:embed="rId2">
            <a:alphaModFix/>
          </a:blip>
          <a:srcRect b="0" l="0" r="0" t="0"/>
          <a:stretch/>
        </p:blipFill>
        <p:spPr>
          <a:xfrm>
            <a:off x="11176000" y="73615"/>
            <a:ext cx="917467" cy="92786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35" name="Shape 35"/>
        <p:cNvGrpSpPr/>
        <p:nvPr/>
      </p:nvGrpSpPr>
      <p:grpSpPr>
        <a:xfrm>
          <a:off x="0" y="0"/>
          <a:ext cx="0" cy="0"/>
          <a:chOff x="0" y="0"/>
          <a:chExt cx="0" cy="0"/>
        </a:xfrm>
      </p:grpSpPr>
      <p:pic>
        <p:nvPicPr>
          <p:cNvPr descr="Logo&#10;&#10;Description automatically generated" id="36" name="Google Shape;36;g3e6c117acb1_1_30"/>
          <p:cNvPicPr preferRelativeResize="0"/>
          <p:nvPr/>
        </p:nvPicPr>
        <p:blipFill rotWithShape="1">
          <a:blip r:embed="rId2">
            <a:alphaModFix/>
          </a:blip>
          <a:srcRect b="0" l="0" r="0" t="0"/>
          <a:stretch/>
        </p:blipFill>
        <p:spPr>
          <a:xfrm>
            <a:off x="11105367" y="0"/>
            <a:ext cx="1073200" cy="108713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1">
  <p:cSld name="4_Title and Content_2">
    <p:spTree>
      <p:nvGrpSpPr>
        <p:cNvPr id="37" name="Shape 37"/>
        <p:cNvGrpSpPr/>
        <p:nvPr/>
      </p:nvGrpSpPr>
      <p:grpSpPr>
        <a:xfrm>
          <a:off x="0" y="0"/>
          <a:ext cx="0" cy="0"/>
          <a:chOff x="0" y="0"/>
          <a:chExt cx="0" cy="0"/>
        </a:xfrm>
      </p:grpSpPr>
      <p:pic>
        <p:nvPicPr>
          <p:cNvPr id="38" name="Google Shape;38;g3e6c117acb1_1_32"/>
          <p:cNvPicPr preferRelativeResize="0"/>
          <p:nvPr/>
        </p:nvPicPr>
        <p:blipFill rotWithShape="1">
          <a:blip r:embed="rId2">
            <a:alphaModFix/>
          </a:blip>
          <a:srcRect b="0" l="0" r="0" t="0"/>
          <a:stretch/>
        </p:blipFill>
        <p:spPr>
          <a:xfrm>
            <a:off x="11176000" y="73615"/>
            <a:ext cx="917467" cy="92786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39" name="Shape 39"/>
        <p:cNvGrpSpPr/>
        <p:nvPr/>
      </p:nvGrpSpPr>
      <p:grpSpPr>
        <a:xfrm>
          <a:off x="0" y="0"/>
          <a:ext cx="0" cy="0"/>
          <a:chOff x="0" y="0"/>
          <a:chExt cx="0" cy="0"/>
        </a:xfrm>
      </p:grpSpPr>
      <p:sp>
        <p:nvSpPr>
          <p:cNvPr id="40" name="Google Shape;40;g3e6c117acb1_1_34"/>
          <p:cNvSpPr txBox="1"/>
          <p:nvPr>
            <p:ph idx="11" type="ftr"/>
          </p:nvPr>
        </p:nvSpPr>
        <p:spPr>
          <a:xfrm>
            <a:off x="1251717" y="6361971"/>
            <a:ext cx="6876400" cy="1816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p:txBody>
      </p:sp>
      <p:sp>
        <p:nvSpPr>
          <p:cNvPr id="41" name="Google Shape;41;g3e6c117acb1_1_34"/>
          <p:cNvSpPr txBox="1"/>
          <p:nvPr>
            <p:ph idx="12" type="sldNum"/>
          </p:nvPr>
        </p:nvSpPr>
        <p:spPr>
          <a:xfrm>
            <a:off x="609600" y="6361971"/>
            <a:ext cx="466000" cy="181600"/>
          </a:xfrm>
          <a:prstGeom prst="rect">
            <a:avLst/>
          </a:prstGeom>
          <a:noFill/>
          <a:ln>
            <a:noFill/>
          </a:ln>
        </p:spPr>
        <p:txBody>
          <a:bodyPr anchorCtr="0" anchor="b" bIns="0" lIns="0" spcFirstLastPara="1" rIns="0" wrap="square" tIns="0">
            <a:noAutofit/>
          </a:bodyPr>
          <a:lstStyle>
            <a:lvl1pPr indent="0" lvl="0" marL="0" marR="0" algn="l">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2" name="Shape 42"/>
        <p:cNvGrpSpPr/>
        <p:nvPr/>
      </p:nvGrpSpPr>
      <p:grpSpPr>
        <a:xfrm>
          <a:off x="0" y="0"/>
          <a:ext cx="0" cy="0"/>
          <a:chOff x="0" y="0"/>
          <a:chExt cx="0" cy="0"/>
        </a:xfrm>
      </p:grpSpPr>
      <p:sp>
        <p:nvSpPr>
          <p:cNvPr id="43" name="Google Shape;43;g3e6c117acb1_1_37"/>
          <p:cNvSpPr txBox="1"/>
          <p:nvPr>
            <p:ph type="ctrTitle"/>
          </p:nvPr>
        </p:nvSpPr>
        <p:spPr>
          <a:xfrm>
            <a:off x="415611" y="992767"/>
            <a:ext cx="11360800" cy="27368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44" name="Google Shape;44;g3e6c117acb1_1_37"/>
          <p:cNvSpPr txBox="1"/>
          <p:nvPr>
            <p:ph idx="1" type="subTitle"/>
          </p:nvPr>
        </p:nvSpPr>
        <p:spPr>
          <a:xfrm>
            <a:off x="415600" y="3778833"/>
            <a:ext cx="11360800" cy="10568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100"/>
              </a:spcBef>
              <a:spcAft>
                <a:spcPts val="0"/>
              </a:spcAft>
              <a:buSzPts val="3700"/>
              <a:buNone/>
              <a:defRPr sz="3700"/>
            </a:lvl1pPr>
            <a:lvl2pPr lvl="1" algn="ctr">
              <a:lnSpc>
                <a:spcPct val="100000"/>
              </a:lnSpc>
              <a:spcBef>
                <a:spcPts val="500"/>
              </a:spcBef>
              <a:spcAft>
                <a:spcPts val="0"/>
              </a:spcAft>
              <a:buSzPts val="3700"/>
              <a:buNone/>
              <a:defRPr sz="3700"/>
            </a:lvl2pPr>
            <a:lvl3pPr lvl="2" algn="ctr">
              <a:lnSpc>
                <a:spcPct val="100000"/>
              </a:lnSpc>
              <a:spcBef>
                <a:spcPts val="500"/>
              </a:spcBef>
              <a:spcAft>
                <a:spcPts val="0"/>
              </a:spcAft>
              <a:buSzPts val="3700"/>
              <a:buNone/>
              <a:defRPr sz="3700"/>
            </a:lvl3pPr>
            <a:lvl4pPr lvl="3" algn="ctr">
              <a:lnSpc>
                <a:spcPct val="100000"/>
              </a:lnSpc>
              <a:spcBef>
                <a:spcPts val="500"/>
              </a:spcBef>
              <a:spcAft>
                <a:spcPts val="0"/>
              </a:spcAft>
              <a:buSzPts val="3700"/>
              <a:buNone/>
              <a:defRPr sz="3700"/>
            </a:lvl4pPr>
            <a:lvl5pPr lvl="4" algn="ctr">
              <a:lnSpc>
                <a:spcPct val="100000"/>
              </a:lnSpc>
              <a:spcBef>
                <a:spcPts val="500"/>
              </a:spcBef>
              <a:spcAft>
                <a:spcPts val="0"/>
              </a:spcAft>
              <a:buSzPts val="3700"/>
              <a:buNone/>
              <a:defRPr sz="3700"/>
            </a:lvl5pPr>
            <a:lvl6pPr lvl="5" algn="ctr">
              <a:lnSpc>
                <a:spcPct val="100000"/>
              </a:lnSpc>
              <a:spcBef>
                <a:spcPts val="500"/>
              </a:spcBef>
              <a:spcAft>
                <a:spcPts val="0"/>
              </a:spcAft>
              <a:buSzPts val="3700"/>
              <a:buNone/>
              <a:defRPr sz="3700"/>
            </a:lvl6pPr>
            <a:lvl7pPr lvl="6" algn="ctr">
              <a:lnSpc>
                <a:spcPct val="100000"/>
              </a:lnSpc>
              <a:spcBef>
                <a:spcPts val="500"/>
              </a:spcBef>
              <a:spcAft>
                <a:spcPts val="0"/>
              </a:spcAft>
              <a:buSzPts val="3700"/>
              <a:buNone/>
              <a:defRPr sz="3700"/>
            </a:lvl7pPr>
            <a:lvl8pPr lvl="7" algn="ctr">
              <a:lnSpc>
                <a:spcPct val="100000"/>
              </a:lnSpc>
              <a:spcBef>
                <a:spcPts val="500"/>
              </a:spcBef>
              <a:spcAft>
                <a:spcPts val="0"/>
              </a:spcAft>
              <a:buSzPts val="3700"/>
              <a:buNone/>
              <a:defRPr sz="3700"/>
            </a:lvl8pPr>
            <a:lvl9pPr lvl="8" algn="ctr">
              <a:lnSpc>
                <a:spcPct val="100000"/>
              </a:lnSpc>
              <a:spcBef>
                <a:spcPts val="500"/>
              </a:spcBef>
              <a:spcAft>
                <a:spcPts val="0"/>
              </a:spcAft>
              <a:buSzPts val="3700"/>
              <a:buNone/>
              <a:defRPr sz="3700"/>
            </a:lvl9pPr>
          </a:lstStyle>
          <a:p/>
        </p:txBody>
      </p:sp>
      <p:sp>
        <p:nvSpPr>
          <p:cNvPr id="45" name="Google Shape;45;g3e6c117acb1_1_37"/>
          <p:cNvSpPr txBox="1"/>
          <p:nvPr>
            <p:ph idx="12" type="sldNum"/>
          </p:nvPr>
        </p:nvSpPr>
        <p:spPr>
          <a:xfrm>
            <a:off x="11296611" y="6217623"/>
            <a:ext cx="731600" cy="5248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3_1_1_1_1" showMasterSp="0" type="tx">
  <p:cSld name="TITLE_AND_BODY">
    <p:spTree>
      <p:nvGrpSpPr>
        <p:cNvPr id="56" name="Shape 56"/>
        <p:cNvGrpSpPr/>
        <p:nvPr/>
      </p:nvGrpSpPr>
      <p:grpSpPr>
        <a:xfrm>
          <a:off x="0" y="0"/>
          <a:ext cx="0" cy="0"/>
          <a:chOff x="0" y="0"/>
          <a:chExt cx="0" cy="0"/>
        </a:xfrm>
      </p:grpSpPr>
      <p:pic>
        <p:nvPicPr>
          <p:cNvPr descr="33.pngGoogle Shape;323;p57" id="57" name="Google Shape;57;g3db811beaf8_0_1586"/>
          <p:cNvPicPr preferRelativeResize="0"/>
          <p:nvPr/>
        </p:nvPicPr>
        <p:blipFill rotWithShape="1">
          <a:blip r:embed="rId2">
            <a:alphaModFix/>
          </a:blip>
          <a:srcRect b="0" l="0" r="0" t="0"/>
          <a:stretch/>
        </p:blipFill>
        <p:spPr>
          <a:xfrm>
            <a:off x="0" y="0"/>
            <a:ext cx="12192005" cy="6858008"/>
          </a:xfrm>
          <a:prstGeom prst="rect">
            <a:avLst/>
          </a:prstGeom>
          <a:noFill/>
          <a:ln>
            <a:noFill/>
          </a:ln>
        </p:spPr>
      </p:pic>
      <p:pic>
        <p:nvPicPr>
          <p:cNvPr descr="33.pngGoogle Shape;324;p57" id="58" name="Google Shape;58;g3db811beaf8_0_1586"/>
          <p:cNvPicPr preferRelativeResize="0"/>
          <p:nvPr/>
        </p:nvPicPr>
        <p:blipFill rotWithShape="1">
          <a:blip r:embed="rId2">
            <a:alphaModFix/>
          </a:blip>
          <a:srcRect b="96034" l="42425" r="15724" t="0"/>
          <a:stretch/>
        </p:blipFill>
        <p:spPr>
          <a:xfrm>
            <a:off x="2786033" y="0"/>
            <a:ext cx="5102568" cy="272001"/>
          </a:xfrm>
          <a:prstGeom prst="rect">
            <a:avLst/>
          </a:prstGeom>
          <a:noFill/>
          <a:ln>
            <a:noFill/>
          </a:ln>
        </p:spPr>
      </p:pic>
      <p:sp>
        <p:nvSpPr>
          <p:cNvPr id="59" name="Google Shape;59;g3db811beaf8_0_1586"/>
          <p:cNvSpPr txBox="1"/>
          <p:nvPr>
            <p:ph idx="12" type="sldNum"/>
          </p:nvPr>
        </p:nvSpPr>
        <p:spPr>
          <a:xfrm>
            <a:off x="8737600" y="6149819"/>
            <a:ext cx="411300" cy="413100"/>
          </a:xfrm>
          <a:prstGeom prst="rect">
            <a:avLst/>
          </a:prstGeom>
          <a:noFill/>
          <a:ln>
            <a:noFill/>
          </a:ln>
        </p:spPr>
        <p:txBody>
          <a:bodyPr anchorCtr="0" anchor="ctr" bIns="121825" lIns="121825" spcFirstLastPara="1" rIns="121825" wrap="square" tIns="121825">
            <a:normAutofit/>
          </a:bodyPr>
          <a:lstStyle>
            <a:lvl1pPr indent="0" lvl="0" marL="0" marR="0" algn="l">
              <a:lnSpc>
                <a:spcPct val="100000"/>
              </a:lnSpc>
              <a:spcBef>
                <a:spcPts val="0"/>
              </a:spcBef>
              <a:spcAft>
                <a:spcPts val="0"/>
              </a:spcAft>
              <a:buClr>
                <a:srgbClr val="434343"/>
              </a:buClr>
              <a:buSzPts val="1100"/>
              <a:buFont typeface="DM Sans"/>
              <a:buNone/>
              <a:defRPr b="0" i="0" sz="1100" u="none" cap="none" strike="noStrike">
                <a:solidFill>
                  <a:srgbClr val="434343"/>
                </a:solidFill>
                <a:latin typeface="DM Sans"/>
                <a:ea typeface="DM Sans"/>
                <a:cs typeface="DM Sans"/>
                <a:sym typeface="DM Sans"/>
              </a:defRPr>
            </a:lvl1pPr>
            <a:lvl2pPr indent="0" lvl="1" marL="0" marR="0" algn="l">
              <a:lnSpc>
                <a:spcPct val="100000"/>
              </a:lnSpc>
              <a:spcBef>
                <a:spcPts val="0"/>
              </a:spcBef>
              <a:spcAft>
                <a:spcPts val="0"/>
              </a:spcAft>
              <a:buClr>
                <a:srgbClr val="434343"/>
              </a:buClr>
              <a:buSzPts val="1100"/>
              <a:buFont typeface="DM Sans"/>
              <a:buNone/>
              <a:defRPr b="0" i="0" sz="1100" u="none" cap="none" strike="noStrike">
                <a:solidFill>
                  <a:srgbClr val="434343"/>
                </a:solidFill>
                <a:latin typeface="DM Sans"/>
                <a:ea typeface="DM Sans"/>
                <a:cs typeface="DM Sans"/>
                <a:sym typeface="DM Sans"/>
              </a:defRPr>
            </a:lvl2pPr>
            <a:lvl3pPr indent="0" lvl="2" marL="0" marR="0" algn="l">
              <a:lnSpc>
                <a:spcPct val="100000"/>
              </a:lnSpc>
              <a:spcBef>
                <a:spcPts val="0"/>
              </a:spcBef>
              <a:spcAft>
                <a:spcPts val="0"/>
              </a:spcAft>
              <a:buClr>
                <a:srgbClr val="434343"/>
              </a:buClr>
              <a:buSzPts val="1100"/>
              <a:buFont typeface="DM Sans"/>
              <a:buNone/>
              <a:defRPr b="0" i="0" sz="1100" u="none" cap="none" strike="noStrike">
                <a:solidFill>
                  <a:srgbClr val="434343"/>
                </a:solidFill>
                <a:latin typeface="DM Sans"/>
                <a:ea typeface="DM Sans"/>
                <a:cs typeface="DM Sans"/>
                <a:sym typeface="DM Sans"/>
              </a:defRPr>
            </a:lvl3pPr>
            <a:lvl4pPr indent="0" lvl="3" marL="0" marR="0" algn="l">
              <a:lnSpc>
                <a:spcPct val="100000"/>
              </a:lnSpc>
              <a:spcBef>
                <a:spcPts val="0"/>
              </a:spcBef>
              <a:spcAft>
                <a:spcPts val="0"/>
              </a:spcAft>
              <a:buClr>
                <a:srgbClr val="434343"/>
              </a:buClr>
              <a:buSzPts val="1100"/>
              <a:buFont typeface="DM Sans"/>
              <a:buNone/>
              <a:defRPr b="0" i="0" sz="1100" u="none" cap="none" strike="noStrike">
                <a:solidFill>
                  <a:srgbClr val="434343"/>
                </a:solidFill>
                <a:latin typeface="DM Sans"/>
                <a:ea typeface="DM Sans"/>
                <a:cs typeface="DM Sans"/>
                <a:sym typeface="DM Sans"/>
              </a:defRPr>
            </a:lvl4pPr>
            <a:lvl5pPr indent="0" lvl="4" marL="0" marR="0" algn="l">
              <a:lnSpc>
                <a:spcPct val="100000"/>
              </a:lnSpc>
              <a:spcBef>
                <a:spcPts val="0"/>
              </a:spcBef>
              <a:spcAft>
                <a:spcPts val="0"/>
              </a:spcAft>
              <a:buClr>
                <a:srgbClr val="434343"/>
              </a:buClr>
              <a:buSzPts val="1100"/>
              <a:buFont typeface="DM Sans"/>
              <a:buNone/>
              <a:defRPr b="0" i="0" sz="1100" u="none" cap="none" strike="noStrike">
                <a:solidFill>
                  <a:srgbClr val="434343"/>
                </a:solidFill>
                <a:latin typeface="DM Sans"/>
                <a:ea typeface="DM Sans"/>
                <a:cs typeface="DM Sans"/>
                <a:sym typeface="DM Sans"/>
              </a:defRPr>
            </a:lvl5pPr>
            <a:lvl6pPr indent="0" lvl="5" marL="0" marR="0" algn="l">
              <a:lnSpc>
                <a:spcPct val="100000"/>
              </a:lnSpc>
              <a:spcBef>
                <a:spcPts val="0"/>
              </a:spcBef>
              <a:spcAft>
                <a:spcPts val="0"/>
              </a:spcAft>
              <a:buClr>
                <a:srgbClr val="434343"/>
              </a:buClr>
              <a:buSzPts val="1100"/>
              <a:buFont typeface="DM Sans"/>
              <a:buNone/>
              <a:defRPr b="0" i="0" sz="1100" u="none" cap="none" strike="noStrike">
                <a:solidFill>
                  <a:srgbClr val="434343"/>
                </a:solidFill>
                <a:latin typeface="DM Sans"/>
                <a:ea typeface="DM Sans"/>
                <a:cs typeface="DM Sans"/>
                <a:sym typeface="DM Sans"/>
              </a:defRPr>
            </a:lvl6pPr>
            <a:lvl7pPr indent="0" lvl="6" marL="0" marR="0" algn="l">
              <a:lnSpc>
                <a:spcPct val="100000"/>
              </a:lnSpc>
              <a:spcBef>
                <a:spcPts val="0"/>
              </a:spcBef>
              <a:spcAft>
                <a:spcPts val="0"/>
              </a:spcAft>
              <a:buClr>
                <a:srgbClr val="434343"/>
              </a:buClr>
              <a:buSzPts val="1100"/>
              <a:buFont typeface="DM Sans"/>
              <a:buNone/>
              <a:defRPr b="0" i="0" sz="1100" u="none" cap="none" strike="noStrike">
                <a:solidFill>
                  <a:srgbClr val="434343"/>
                </a:solidFill>
                <a:latin typeface="DM Sans"/>
                <a:ea typeface="DM Sans"/>
                <a:cs typeface="DM Sans"/>
                <a:sym typeface="DM Sans"/>
              </a:defRPr>
            </a:lvl7pPr>
            <a:lvl8pPr indent="0" lvl="7" marL="0" marR="0" algn="l">
              <a:lnSpc>
                <a:spcPct val="100000"/>
              </a:lnSpc>
              <a:spcBef>
                <a:spcPts val="0"/>
              </a:spcBef>
              <a:spcAft>
                <a:spcPts val="0"/>
              </a:spcAft>
              <a:buClr>
                <a:srgbClr val="434343"/>
              </a:buClr>
              <a:buSzPts val="1100"/>
              <a:buFont typeface="DM Sans"/>
              <a:buNone/>
              <a:defRPr b="0" i="0" sz="1100" u="none" cap="none" strike="noStrike">
                <a:solidFill>
                  <a:srgbClr val="434343"/>
                </a:solidFill>
                <a:latin typeface="DM Sans"/>
                <a:ea typeface="DM Sans"/>
                <a:cs typeface="DM Sans"/>
                <a:sym typeface="DM Sans"/>
              </a:defRPr>
            </a:lvl8pPr>
            <a:lvl9pPr indent="0" lvl="8" marL="0" marR="0" algn="l">
              <a:lnSpc>
                <a:spcPct val="100000"/>
              </a:lnSpc>
              <a:spcBef>
                <a:spcPts val="0"/>
              </a:spcBef>
              <a:spcAft>
                <a:spcPts val="0"/>
              </a:spcAft>
              <a:buClr>
                <a:srgbClr val="434343"/>
              </a:buClr>
              <a:buSzPts val="1100"/>
              <a:buFont typeface="DM Sans"/>
              <a:buNone/>
              <a:defRPr b="0" i="0" sz="1100" u="none" cap="none" strike="noStrike">
                <a:solidFill>
                  <a:srgbClr val="434343"/>
                </a:solidFill>
                <a:latin typeface="DM Sans"/>
                <a:ea typeface="DM Sans"/>
                <a:cs typeface="DM Sans"/>
                <a:sym typeface="DM Sans"/>
              </a:defRPr>
            </a:lvl9pPr>
          </a:lstStyle>
          <a:p>
            <a:pPr indent="0" lvl="0" marL="0" rtl="0" algn="l">
              <a:spcBef>
                <a:spcPts val="0"/>
              </a:spcBef>
              <a:spcAft>
                <a:spcPts val="0"/>
              </a:spcAft>
              <a:buNone/>
            </a:pPr>
            <a:fld id="{00000000-1234-1234-1234-123412341234}" type="slidenum">
              <a:rPr lang="en-US"/>
              <a:t>‹#›</a:t>
            </a:fld>
            <a:endParaRPr sz="1200">
              <a:solidFill>
                <a:srgbClr val="888888"/>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0" name="Shape 60"/>
        <p:cNvGrpSpPr/>
        <p:nvPr/>
      </p:nvGrpSpPr>
      <p:grpSpPr>
        <a:xfrm>
          <a:off x="0" y="0"/>
          <a:ext cx="0" cy="0"/>
          <a:chOff x="0" y="0"/>
          <a:chExt cx="0" cy="0"/>
        </a:xfrm>
      </p:grpSpPr>
      <p:sp>
        <p:nvSpPr>
          <p:cNvPr id="61" name="Google Shape;61;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3" name="Google Shape;63;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sp>
        <p:nvSpPr>
          <p:cNvPr id="67" name="Google Shape;67;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69" name="Google Shape;69;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75" name="Google Shape;75;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81" name="Google Shape;81;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82" name="Google Shape;8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88" name="Google Shape;88;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89" name="Google Shape;89;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90" name="Google Shape;90;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91" name="Google Shape;9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02" name="Google Shape;102;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03" name="Google Shape;103;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21"/>
          <p:cNvSpPr/>
          <p:nvPr>
            <p:ph idx="2" type="pic"/>
          </p:nvPr>
        </p:nvSpPr>
        <p:spPr>
          <a:xfrm>
            <a:off x="1792288" y="612775"/>
            <a:ext cx="5486400" cy="4114800"/>
          </a:xfrm>
          <a:prstGeom prst="rect">
            <a:avLst/>
          </a:prstGeom>
          <a:noFill/>
          <a:ln>
            <a:noFill/>
          </a:ln>
        </p:spPr>
      </p:sp>
      <p:sp>
        <p:nvSpPr>
          <p:cNvPr id="109" name="Google Shape;109;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10" name="Google Shape;11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6" name="Google Shape;11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2" name="Google Shape;12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6" name="Shape 126"/>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7" name="Shape 127"/>
        <p:cNvGrpSpPr/>
        <p:nvPr/>
      </p:nvGrpSpPr>
      <p:grpSpPr>
        <a:xfrm>
          <a:off x="0" y="0"/>
          <a:ext cx="0" cy="0"/>
          <a:chOff x="0" y="0"/>
          <a:chExt cx="0" cy="0"/>
        </a:xfrm>
      </p:grpSpPr>
      <p:sp>
        <p:nvSpPr>
          <p:cNvPr id="128" name="Google Shape;128;g3eae049a994_2_2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g3eae049a994_2_2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g3eae049a994_2_2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2" name="Shape 13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5.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3e6c117acb1_1_0"/>
          <p:cNvSpPr txBox="1"/>
          <p:nvPr>
            <p:ph type="title"/>
          </p:nvPr>
        </p:nvSpPr>
        <p:spPr>
          <a:xfrm>
            <a:off x="838200" y="365125"/>
            <a:ext cx="10515600" cy="13256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7" name="Google Shape;7;g3e6c117acb1_1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10000"/>
              </a:lnSpc>
              <a:spcBef>
                <a:spcPts val="110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1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1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1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1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9pPr>
          </a:lstStyle>
          <a:p/>
        </p:txBody>
      </p:sp>
      <p:sp>
        <p:nvSpPr>
          <p:cNvPr id="8" name="Google Shape;8;g3e6c117acb1_1_0"/>
          <p:cNvSpPr txBox="1"/>
          <p:nvPr>
            <p:ph idx="12" type="sldNum"/>
          </p:nvPr>
        </p:nvSpPr>
        <p:spPr>
          <a:xfrm>
            <a:off x="8610600" y="6356351"/>
            <a:ext cx="2743200" cy="3652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600"/>
              <a:buFont typeface="Arial"/>
              <a:buNone/>
              <a:defRPr b="0" i="0" sz="16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 name="Shape 46"/>
        <p:cNvGrpSpPr/>
        <p:nvPr/>
      </p:nvGrpSpPr>
      <p:grpSpPr>
        <a:xfrm>
          <a:off x="0" y="0"/>
          <a:ext cx="0" cy="0"/>
          <a:chOff x="0" y="0"/>
          <a:chExt cx="0" cy="0"/>
        </a:xfrm>
      </p:grpSpPr>
      <p:sp>
        <p:nvSpPr>
          <p:cNvPr id="47" name="Google Shape;47;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9" name="Google Shape;49;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0" name="Google Shape;50;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1" name="Google Shape;51;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4" r:id="rId1"/>
    <p:sldLayoutId id="2147483675"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10.jpg"/><Relationship Id="rId9" Type="http://schemas.openxmlformats.org/officeDocument/2006/relationships/image" Target="../media/image9.png"/><Relationship Id="rId5" Type="http://schemas.openxmlformats.org/officeDocument/2006/relationships/image" Target="../media/image5.jp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hyperlink" Target="https://www.linkedin.com/in/robert-desimone-2b6906/" TargetMode="External"/><Relationship Id="rId5" Type="http://schemas.openxmlformats.org/officeDocument/2006/relationships/image" Target="../media/image9.png"/><Relationship Id="rId6"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7EB"/>
        </a:solidFill>
      </p:bgPr>
    </p:bg>
    <p:spTree>
      <p:nvGrpSpPr>
        <p:cNvPr id="137" name="Shape 137"/>
        <p:cNvGrpSpPr/>
        <p:nvPr/>
      </p:nvGrpSpPr>
      <p:grpSpPr>
        <a:xfrm>
          <a:off x="0" y="0"/>
          <a:ext cx="0" cy="0"/>
          <a:chOff x="0" y="0"/>
          <a:chExt cx="0" cy="0"/>
        </a:xfrm>
      </p:grpSpPr>
      <p:sp>
        <p:nvSpPr>
          <p:cNvPr id="138" name="Google Shape;138;g3e6c117acb1_1_41"/>
          <p:cNvSpPr txBox="1"/>
          <p:nvPr/>
        </p:nvSpPr>
        <p:spPr>
          <a:xfrm>
            <a:off x="4062200" y="1294734"/>
            <a:ext cx="7141800" cy="32478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5300"/>
              <a:buFont typeface="Arial"/>
              <a:buNone/>
            </a:pPr>
            <a:r>
              <a:rPr b="1" i="0" lang="en-US" sz="6500" u="none" cap="none" strike="noStrike">
                <a:solidFill>
                  <a:schemeClr val="accent6"/>
                </a:solidFill>
                <a:latin typeface="Montserrat"/>
                <a:ea typeface="Montserrat"/>
                <a:cs typeface="Montserrat"/>
                <a:sym typeface="Montserrat"/>
              </a:rPr>
              <a:t>T200 AI Leadership and Governance </a:t>
            </a:r>
            <a:endParaRPr b="1" i="0" sz="3500" u="none" cap="none" strike="noStrike">
              <a:solidFill>
                <a:srgbClr val="725FA6"/>
              </a:solidFill>
              <a:latin typeface="Montserrat"/>
              <a:ea typeface="Montserrat"/>
              <a:cs typeface="Montserrat"/>
              <a:sym typeface="Montserrat"/>
            </a:endParaRPr>
          </a:p>
        </p:txBody>
      </p:sp>
      <p:sp>
        <p:nvSpPr>
          <p:cNvPr id="139" name="Google Shape;139;g3e6c117acb1_1_41"/>
          <p:cNvSpPr txBox="1"/>
          <p:nvPr/>
        </p:nvSpPr>
        <p:spPr>
          <a:xfrm>
            <a:off x="4062200" y="4833567"/>
            <a:ext cx="7502700" cy="9624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chemeClr val="dk2"/>
              </a:buClr>
              <a:buSzPts val="1100"/>
              <a:buFont typeface="Arial"/>
              <a:buNone/>
            </a:pPr>
            <a:r>
              <a:rPr b="1" lang="en-US" sz="3100">
                <a:solidFill>
                  <a:srgbClr val="ED7D31"/>
                </a:solidFill>
                <a:latin typeface="Montserrat"/>
                <a:ea typeface="Montserrat"/>
                <a:cs typeface="Montserrat"/>
                <a:sym typeface="Montserrat"/>
              </a:rPr>
              <a:t>Lead with Responsible AI</a:t>
            </a:r>
            <a:endParaRPr b="1" sz="3100">
              <a:solidFill>
                <a:srgbClr val="ED7D31"/>
              </a:solidFill>
              <a:latin typeface="Montserrat"/>
              <a:ea typeface="Montserrat"/>
              <a:cs typeface="Montserrat"/>
              <a:sym typeface="Montserrat"/>
            </a:endParaRPr>
          </a:p>
        </p:txBody>
      </p:sp>
      <p:pic>
        <p:nvPicPr>
          <p:cNvPr descr="Logo&#10;&#10;Description automatically generated" id="140" name="Google Shape;140;g3e6c117acb1_1_41"/>
          <p:cNvPicPr preferRelativeResize="0"/>
          <p:nvPr/>
        </p:nvPicPr>
        <p:blipFill rotWithShape="1">
          <a:blip r:embed="rId3">
            <a:alphaModFix/>
          </a:blip>
          <a:srcRect b="0" l="0" r="0" t="0"/>
          <a:stretch/>
        </p:blipFill>
        <p:spPr>
          <a:xfrm>
            <a:off x="0" y="894083"/>
            <a:ext cx="4403040" cy="4460235"/>
          </a:xfrm>
          <a:prstGeom prst="rect">
            <a:avLst/>
          </a:prstGeom>
          <a:noFill/>
          <a:ln>
            <a:noFill/>
          </a:ln>
        </p:spPr>
      </p:pic>
      <p:sp>
        <p:nvSpPr>
          <p:cNvPr id="141" name="Google Shape;141;g3e6c117acb1_1_41"/>
          <p:cNvSpPr/>
          <p:nvPr/>
        </p:nvSpPr>
        <p:spPr>
          <a:xfrm>
            <a:off x="0" y="6368133"/>
            <a:ext cx="12216300" cy="489900"/>
          </a:xfrm>
          <a:prstGeom prst="round2SameRect">
            <a:avLst>
              <a:gd fmla="val 47728" name="adj1"/>
              <a:gd fmla="val 0" name="adj2"/>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cap="none" strike="noStrike">
                <a:solidFill>
                  <a:schemeClr val="lt1"/>
                </a:solidFill>
                <a:latin typeface="Montserrat"/>
                <a:ea typeface="Montserrat"/>
                <a:cs typeface="Montserrat"/>
                <a:sym typeface="Montserrat"/>
              </a:rPr>
              <a:t>T200 AI Leadership &amp; Governance Series  |  2026								www.t200.org</a:t>
            </a:r>
            <a:endParaRPr b="1" i="0" sz="10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d97d2673e6_0_4"/>
          <p:cNvSpPr/>
          <p:nvPr/>
        </p:nvSpPr>
        <p:spPr>
          <a:xfrm>
            <a:off x="0" y="0"/>
            <a:ext cx="320100" cy="6858000"/>
          </a:xfrm>
          <a:prstGeom prst="rect">
            <a:avLst/>
          </a:prstGeom>
          <a:solidFill>
            <a:srgbClr val="E9713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 name="Google Shape;147;g3d97d2673e6_0_4"/>
          <p:cNvSpPr txBox="1"/>
          <p:nvPr/>
        </p:nvSpPr>
        <p:spPr>
          <a:xfrm>
            <a:off x="777240" y="148980"/>
            <a:ext cx="100584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E97132"/>
                </a:solidFill>
                <a:latin typeface="Montserrat"/>
                <a:ea typeface="Montserrat"/>
                <a:cs typeface="Montserrat"/>
                <a:sym typeface="Montserrat"/>
              </a:rPr>
              <a:t>ABOUT T200</a:t>
            </a:r>
            <a:endParaRPr b="0" i="0" sz="1400" u="none" cap="none" strike="noStrike">
              <a:solidFill>
                <a:srgbClr val="000000"/>
              </a:solidFill>
              <a:latin typeface="Montserrat"/>
              <a:ea typeface="Montserrat"/>
              <a:cs typeface="Montserrat"/>
              <a:sym typeface="Montserrat"/>
            </a:endParaRPr>
          </a:p>
        </p:txBody>
      </p:sp>
      <p:sp>
        <p:nvSpPr>
          <p:cNvPr id="148" name="Google Shape;148;g3d97d2673e6_0_4"/>
          <p:cNvSpPr txBox="1"/>
          <p:nvPr/>
        </p:nvSpPr>
        <p:spPr>
          <a:xfrm>
            <a:off x="729615" y="562365"/>
            <a:ext cx="10058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1A1A1A"/>
                </a:solidFill>
                <a:latin typeface="Montserrat"/>
                <a:ea typeface="Montserrat"/>
                <a:cs typeface="Montserrat"/>
                <a:sym typeface="Montserrat"/>
              </a:rPr>
              <a:t>A Global Community of Senior Technology Executives</a:t>
            </a:r>
            <a:endParaRPr b="0" i="0" sz="900" u="none" cap="none" strike="noStrike">
              <a:solidFill>
                <a:srgbClr val="000000"/>
              </a:solidFill>
              <a:latin typeface="Montserrat"/>
              <a:ea typeface="Montserrat"/>
              <a:cs typeface="Montserrat"/>
              <a:sym typeface="Montserrat"/>
            </a:endParaRPr>
          </a:p>
        </p:txBody>
      </p:sp>
      <p:sp>
        <p:nvSpPr>
          <p:cNvPr id="149" name="Google Shape;149;g3d97d2673e6_0_4"/>
          <p:cNvSpPr txBox="1"/>
          <p:nvPr/>
        </p:nvSpPr>
        <p:spPr>
          <a:xfrm>
            <a:off x="746700" y="971540"/>
            <a:ext cx="10698600" cy="49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A1A1A"/>
                </a:solidFill>
                <a:latin typeface="Montserrat"/>
                <a:ea typeface="Montserrat"/>
                <a:cs typeface="Montserrat"/>
                <a:sym typeface="Montserrat"/>
              </a:rPr>
              <a:t>T200 connects women leaders across industries to share experience, strengthen leadership capability, and support advancement into CIO, CTO, and C-suite roles.</a:t>
            </a:r>
            <a:endParaRPr b="0" i="0" sz="1400" u="none" cap="none" strike="noStrike">
              <a:solidFill>
                <a:srgbClr val="000000"/>
              </a:solidFill>
              <a:latin typeface="Montserrat"/>
              <a:ea typeface="Montserrat"/>
              <a:cs typeface="Montserrat"/>
              <a:sym typeface="Montserrat"/>
            </a:endParaRPr>
          </a:p>
        </p:txBody>
      </p:sp>
      <p:sp>
        <p:nvSpPr>
          <p:cNvPr id="150" name="Google Shape;150;g3d97d2673e6_0_4"/>
          <p:cNvSpPr/>
          <p:nvPr/>
        </p:nvSpPr>
        <p:spPr>
          <a:xfrm>
            <a:off x="650515" y="1593544"/>
            <a:ext cx="3398400" cy="1280100"/>
          </a:xfrm>
          <a:prstGeom prst="rect">
            <a:avLst/>
          </a:prstGeom>
          <a:solidFill>
            <a:srgbClr val="F4F4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 name="Google Shape;151;g3d97d2673e6_0_4"/>
          <p:cNvSpPr/>
          <p:nvPr/>
        </p:nvSpPr>
        <p:spPr>
          <a:xfrm>
            <a:off x="650515" y="1593544"/>
            <a:ext cx="54900" cy="1280100"/>
          </a:xfrm>
          <a:prstGeom prst="rect">
            <a:avLst/>
          </a:prstGeom>
          <a:solidFill>
            <a:srgbClr val="E9713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2" name="Google Shape;152;g3d97d2673e6_0_4"/>
          <p:cNvSpPr txBox="1"/>
          <p:nvPr/>
        </p:nvSpPr>
        <p:spPr>
          <a:xfrm>
            <a:off x="833395" y="1758136"/>
            <a:ext cx="30327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A1A1A"/>
                </a:solidFill>
                <a:latin typeface="Montserrat"/>
                <a:ea typeface="Montserrat"/>
                <a:cs typeface="Montserrat"/>
                <a:sym typeface="Montserrat"/>
              </a:rPr>
              <a:t>Curated Programs</a:t>
            </a:r>
            <a:endParaRPr b="0" i="0" sz="1700" u="none" cap="none" strike="noStrike">
              <a:solidFill>
                <a:srgbClr val="000000"/>
              </a:solidFill>
              <a:latin typeface="Montserrat"/>
              <a:ea typeface="Montserrat"/>
              <a:cs typeface="Montserrat"/>
              <a:sym typeface="Montserrat"/>
            </a:endParaRPr>
          </a:p>
        </p:txBody>
      </p:sp>
      <p:sp>
        <p:nvSpPr>
          <p:cNvPr id="153" name="Google Shape;153;g3d97d2673e6_0_4"/>
          <p:cNvSpPr txBox="1"/>
          <p:nvPr/>
        </p:nvSpPr>
        <p:spPr>
          <a:xfrm>
            <a:off x="833395" y="2096464"/>
            <a:ext cx="3032700" cy="6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555555"/>
                </a:solidFill>
                <a:latin typeface="Montserrat"/>
                <a:ea typeface="Montserrat"/>
                <a:cs typeface="Montserrat"/>
                <a:sym typeface="Montserrat"/>
              </a:rPr>
              <a:t>Executive-level convenings on the imperatives shaping enterprise AI and technology leadership.</a:t>
            </a:r>
            <a:endParaRPr b="0" i="0" sz="1700" u="none" cap="none" strike="noStrike">
              <a:solidFill>
                <a:srgbClr val="000000"/>
              </a:solidFill>
              <a:latin typeface="Montserrat"/>
              <a:ea typeface="Montserrat"/>
              <a:cs typeface="Montserrat"/>
              <a:sym typeface="Montserrat"/>
            </a:endParaRPr>
          </a:p>
        </p:txBody>
      </p:sp>
      <p:sp>
        <p:nvSpPr>
          <p:cNvPr id="154" name="Google Shape;154;g3d97d2673e6_0_4"/>
          <p:cNvSpPr/>
          <p:nvPr/>
        </p:nvSpPr>
        <p:spPr>
          <a:xfrm>
            <a:off x="4277635" y="1593544"/>
            <a:ext cx="3398400" cy="1280100"/>
          </a:xfrm>
          <a:prstGeom prst="rect">
            <a:avLst/>
          </a:prstGeom>
          <a:solidFill>
            <a:srgbClr val="F4F4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5" name="Google Shape;155;g3d97d2673e6_0_4"/>
          <p:cNvSpPr/>
          <p:nvPr/>
        </p:nvSpPr>
        <p:spPr>
          <a:xfrm>
            <a:off x="4277635" y="1593544"/>
            <a:ext cx="54900" cy="1280100"/>
          </a:xfrm>
          <a:prstGeom prst="rect">
            <a:avLst/>
          </a:prstGeom>
          <a:solidFill>
            <a:srgbClr val="E9713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 name="Google Shape;156;g3d97d2673e6_0_4"/>
          <p:cNvSpPr txBox="1"/>
          <p:nvPr/>
        </p:nvSpPr>
        <p:spPr>
          <a:xfrm>
            <a:off x="4460515" y="1758136"/>
            <a:ext cx="30327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A1A1A"/>
                </a:solidFill>
                <a:latin typeface="Montserrat"/>
                <a:ea typeface="Montserrat"/>
                <a:cs typeface="Montserrat"/>
                <a:sym typeface="Montserrat"/>
              </a:rPr>
              <a:t>Peer Exchange</a:t>
            </a:r>
            <a:endParaRPr b="0" i="0" sz="1700" u="none" cap="none" strike="noStrike">
              <a:solidFill>
                <a:srgbClr val="000000"/>
              </a:solidFill>
              <a:latin typeface="Montserrat"/>
              <a:ea typeface="Montserrat"/>
              <a:cs typeface="Montserrat"/>
              <a:sym typeface="Montserrat"/>
            </a:endParaRPr>
          </a:p>
        </p:txBody>
      </p:sp>
      <p:sp>
        <p:nvSpPr>
          <p:cNvPr id="157" name="Google Shape;157;g3d97d2673e6_0_4"/>
          <p:cNvSpPr txBox="1"/>
          <p:nvPr/>
        </p:nvSpPr>
        <p:spPr>
          <a:xfrm>
            <a:off x="4460515" y="2096464"/>
            <a:ext cx="30327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555555"/>
                </a:solidFill>
                <a:latin typeface="Montserrat"/>
                <a:ea typeface="Montserrat"/>
                <a:cs typeface="Montserrat"/>
                <a:sym typeface="Montserrat"/>
              </a:rPr>
              <a:t>Trusted dialogue across industries, functions, and stages of leadership.</a:t>
            </a:r>
            <a:endParaRPr b="0" i="0" sz="1700" u="none" cap="none" strike="noStrike">
              <a:solidFill>
                <a:srgbClr val="000000"/>
              </a:solidFill>
              <a:latin typeface="Montserrat"/>
              <a:ea typeface="Montserrat"/>
              <a:cs typeface="Montserrat"/>
              <a:sym typeface="Montserrat"/>
            </a:endParaRPr>
          </a:p>
        </p:txBody>
      </p:sp>
      <p:sp>
        <p:nvSpPr>
          <p:cNvPr id="158" name="Google Shape;158;g3d97d2673e6_0_4"/>
          <p:cNvSpPr/>
          <p:nvPr/>
        </p:nvSpPr>
        <p:spPr>
          <a:xfrm>
            <a:off x="7904755" y="1593544"/>
            <a:ext cx="3398400" cy="1280100"/>
          </a:xfrm>
          <a:prstGeom prst="rect">
            <a:avLst/>
          </a:prstGeom>
          <a:solidFill>
            <a:srgbClr val="F4F4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9" name="Google Shape;159;g3d97d2673e6_0_4"/>
          <p:cNvSpPr/>
          <p:nvPr/>
        </p:nvSpPr>
        <p:spPr>
          <a:xfrm>
            <a:off x="7904755" y="1593544"/>
            <a:ext cx="54900" cy="1280100"/>
          </a:xfrm>
          <a:prstGeom prst="rect">
            <a:avLst/>
          </a:prstGeom>
          <a:solidFill>
            <a:srgbClr val="E9713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0" name="Google Shape;160;g3d97d2673e6_0_4"/>
          <p:cNvSpPr txBox="1"/>
          <p:nvPr/>
        </p:nvSpPr>
        <p:spPr>
          <a:xfrm>
            <a:off x="8087635" y="1758136"/>
            <a:ext cx="30327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A1A1A"/>
                </a:solidFill>
                <a:latin typeface="Montserrat"/>
                <a:ea typeface="Montserrat"/>
                <a:cs typeface="Montserrat"/>
                <a:sym typeface="Montserrat"/>
              </a:rPr>
              <a:t>Mentorship</a:t>
            </a:r>
            <a:endParaRPr b="0" i="0" sz="1700" u="none" cap="none" strike="noStrike">
              <a:solidFill>
                <a:srgbClr val="000000"/>
              </a:solidFill>
              <a:latin typeface="Montserrat"/>
              <a:ea typeface="Montserrat"/>
              <a:cs typeface="Montserrat"/>
              <a:sym typeface="Montserrat"/>
            </a:endParaRPr>
          </a:p>
        </p:txBody>
      </p:sp>
      <p:sp>
        <p:nvSpPr>
          <p:cNvPr id="161" name="Google Shape;161;g3d97d2673e6_0_4"/>
          <p:cNvSpPr txBox="1"/>
          <p:nvPr/>
        </p:nvSpPr>
        <p:spPr>
          <a:xfrm>
            <a:off x="8087635" y="2096464"/>
            <a:ext cx="3032700" cy="6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555555"/>
                </a:solidFill>
                <a:latin typeface="Montserrat"/>
                <a:ea typeface="Montserrat"/>
                <a:cs typeface="Montserrat"/>
                <a:sym typeface="Montserrat"/>
              </a:rPr>
              <a:t>Guidance and sponsorship pathways into CIO, CTO,CAIO next level roles.</a:t>
            </a:r>
            <a:endParaRPr b="0" i="0" sz="1700" u="none" cap="none" strike="noStrike">
              <a:solidFill>
                <a:srgbClr val="000000"/>
              </a:solidFill>
              <a:latin typeface="Montserrat"/>
              <a:ea typeface="Montserrat"/>
              <a:cs typeface="Montserrat"/>
              <a:sym typeface="Montserrat"/>
            </a:endParaRPr>
          </a:p>
        </p:txBody>
      </p:sp>
      <p:sp>
        <p:nvSpPr>
          <p:cNvPr id="162" name="Google Shape;162;g3d97d2673e6_0_4"/>
          <p:cNvSpPr txBox="1"/>
          <p:nvPr/>
        </p:nvSpPr>
        <p:spPr>
          <a:xfrm>
            <a:off x="502920" y="6446520"/>
            <a:ext cx="73152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3d97d2673e6_0_4"/>
          <p:cNvSpPr txBox="1"/>
          <p:nvPr/>
        </p:nvSpPr>
        <p:spPr>
          <a:xfrm>
            <a:off x="10058400" y="6446520"/>
            <a:ext cx="1828800" cy="13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900"/>
              <a:buFont typeface="Arial"/>
              <a:buNone/>
            </a:pPr>
            <a:r>
              <a:rPr b="0" i="0" lang="en-US" sz="900" u="none" cap="none" strike="noStrike">
                <a:solidFill>
                  <a:srgbClr val="555555"/>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
        <p:nvSpPr>
          <p:cNvPr id="164" name="Google Shape;164;g3d97d2673e6_0_4"/>
          <p:cNvSpPr txBox="1"/>
          <p:nvPr/>
        </p:nvSpPr>
        <p:spPr>
          <a:xfrm>
            <a:off x="650515" y="3046207"/>
            <a:ext cx="100584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E97132"/>
                </a:solidFill>
                <a:latin typeface="Montserrat"/>
                <a:ea typeface="Montserrat"/>
                <a:cs typeface="Montserrat"/>
                <a:sym typeface="Montserrat"/>
              </a:rPr>
              <a:t>ABOUT T200 AI GOVERNANCE &amp; LEADERSHIP COUNCIL </a:t>
            </a:r>
            <a:endParaRPr b="0" i="0" sz="1000" u="none" cap="none" strike="noStrike">
              <a:solidFill>
                <a:srgbClr val="000000"/>
              </a:solidFill>
              <a:latin typeface="Montserrat"/>
              <a:ea typeface="Montserrat"/>
              <a:cs typeface="Montserrat"/>
              <a:sym typeface="Montserrat"/>
            </a:endParaRPr>
          </a:p>
        </p:txBody>
      </p:sp>
      <p:sp>
        <p:nvSpPr>
          <p:cNvPr id="165" name="Google Shape;165;g3d97d2673e6_0_4"/>
          <p:cNvSpPr txBox="1"/>
          <p:nvPr/>
        </p:nvSpPr>
        <p:spPr>
          <a:xfrm>
            <a:off x="2203954" y="5393131"/>
            <a:ext cx="1933200" cy="761700"/>
          </a:xfrm>
          <a:prstGeom prst="rect">
            <a:avLst/>
          </a:prstGeom>
          <a:noFill/>
          <a:ln>
            <a:noFill/>
          </a:ln>
        </p:spPr>
        <p:txBody>
          <a:bodyPr anchorCtr="0" anchor="t" bIns="22150" lIns="44350" spcFirstLastPara="1" rIns="44350" wrap="square" tIns="22150">
            <a:noAutofit/>
          </a:bodyPr>
          <a:lstStyle/>
          <a:p>
            <a:pPr indent="-147711" lvl="0" marL="295422" marR="0" rtl="0" algn="ctr">
              <a:lnSpc>
                <a:spcPct val="110000"/>
              </a:lnSpc>
              <a:spcBef>
                <a:spcPts val="517"/>
              </a:spcBef>
              <a:spcAft>
                <a:spcPts val="0"/>
              </a:spcAft>
              <a:buClr>
                <a:srgbClr val="000000"/>
              </a:buClr>
              <a:buSzPts val="905"/>
              <a:buFont typeface="Arial"/>
              <a:buNone/>
            </a:pPr>
            <a:r>
              <a:rPr b="0" i="0" lang="en-US" sz="905" u="none" cap="none" strike="noStrike">
                <a:solidFill>
                  <a:srgbClr val="6F60A3"/>
                </a:solidFill>
                <a:latin typeface="Montserrat SemiBold"/>
                <a:ea typeface="Montserrat SemiBold"/>
                <a:cs typeface="Montserrat SemiBold"/>
                <a:sym typeface="Montserrat SemiBold"/>
              </a:rPr>
              <a:t>Pooja Dewan, Ph.D</a:t>
            </a:r>
            <a:endParaRPr b="0" i="0" sz="905" u="none" cap="none" strike="noStrike">
              <a:solidFill>
                <a:srgbClr val="6F60A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5"/>
              <a:buFont typeface="Arial"/>
              <a:buNone/>
            </a:pPr>
            <a:r>
              <a:rPr b="0" i="0" lang="en-US" sz="905" u="none" cap="none" strike="noStrike">
                <a:solidFill>
                  <a:srgbClr val="6F60A3"/>
                </a:solidFill>
                <a:latin typeface="Montserrat SemiBold"/>
                <a:ea typeface="Montserrat SemiBold"/>
                <a:cs typeface="Montserrat SemiBold"/>
                <a:sym typeface="Montserrat SemiBold"/>
              </a:rPr>
              <a:t>CDO, Rentokil Terminix</a:t>
            </a:r>
            <a:endParaRPr b="0" i="0" sz="905" u="none" cap="none" strike="noStrike">
              <a:solidFill>
                <a:srgbClr val="6F60A3"/>
              </a:solidFill>
              <a:latin typeface="Montserrat SemiBold"/>
              <a:ea typeface="Montserrat SemiBold"/>
              <a:cs typeface="Montserrat SemiBold"/>
              <a:sym typeface="Montserrat SemiBold"/>
            </a:endParaRPr>
          </a:p>
          <a:p>
            <a:pPr indent="0" lvl="0" marL="0" marR="0" rtl="0" algn="ctr">
              <a:lnSpc>
                <a:spcPct val="100000"/>
              </a:lnSpc>
              <a:spcBef>
                <a:spcPts val="0"/>
              </a:spcBef>
              <a:spcAft>
                <a:spcPts val="0"/>
              </a:spcAft>
              <a:buClr>
                <a:srgbClr val="000000"/>
              </a:buClr>
              <a:buSzPts val="905"/>
              <a:buFont typeface="Arial"/>
              <a:buNone/>
            </a:pPr>
            <a:r>
              <a:rPr b="0" i="0" lang="en-US" sz="905" u="none" cap="none" strike="noStrike">
                <a:solidFill>
                  <a:srgbClr val="6F60A3"/>
                </a:solidFill>
                <a:latin typeface="Montserrat SemiBold"/>
                <a:ea typeface="Montserrat SemiBold"/>
                <a:cs typeface="Montserrat SemiBold"/>
                <a:sym typeface="Montserrat SemiBold"/>
              </a:rPr>
              <a:t>CTO | CDO | CDAO | Advisory | Board Member | Manufacturing | Logistics </a:t>
            </a:r>
            <a:endParaRPr b="0" i="0" sz="905" u="none" cap="none" strike="noStrike">
              <a:solidFill>
                <a:srgbClr val="6F60A3"/>
              </a:solidFill>
              <a:latin typeface="Montserrat SemiBold"/>
              <a:ea typeface="Montserrat SemiBold"/>
              <a:cs typeface="Montserrat SemiBold"/>
              <a:sym typeface="Montserrat SemiBold"/>
            </a:endParaRPr>
          </a:p>
          <a:p>
            <a:pPr indent="-147711" lvl="0" marL="295422" marR="0" rtl="0" algn="ctr">
              <a:lnSpc>
                <a:spcPct val="110000"/>
              </a:lnSpc>
              <a:spcBef>
                <a:spcPts val="517"/>
              </a:spcBef>
              <a:spcAft>
                <a:spcPts val="0"/>
              </a:spcAft>
              <a:buClr>
                <a:srgbClr val="000000"/>
              </a:buClr>
              <a:buSzPts val="905"/>
              <a:buFont typeface="Arial"/>
              <a:buNone/>
            </a:pPr>
            <a:r>
              <a:t/>
            </a:r>
            <a:endParaRPr b="0" i="0" sz="905" u="none" cap="none" strike="noStrike">
              <a:solidFill>
                <a:srgbClr val="696969"/>
              </a:solidFill>
              <a:latin typeface="Arial"/>
              <a:ea typeface="Arial"/>
              <a:cs typeface="Arial"/>
              <a:sym typeface="Arial"/>
            </a:endParaRPr>
          </a:p>
        </p:txBody>
      </p:sp>
      <p:sp>
        <p:nvSpPr>
          <p:cNvPr id="166" name="Google Shape;166;g3d97d2673e6_0_4"/>
          <p:cNvSpPr txBox="1"/>
          <p:nvPr/>
        </p:nvSpPr>
        <p:spPr>
          <a:xfrm>
            <a:off x="5869154" y="5469828"/>
            <a:ext cx="1918200" cy="857100"/>
          </a:xfrm>
          <a:prstGeom prst="rect">
            <a:avLst/>
          </a:prstGeom>
          <a:noFill/>
          <a:ln>
            <a:noFill/>
          </a:ln>
        </p:spPr>
        <p:txBody>
          <a:bodyPr anchorCtr="0" anchor="t" bIns="22150" lIns="44350" spcFirstLastPara="1" rIns="44350" wrap="square" tIns="22150">
            <a:noAutofit/>
          </a:bodyPr>
          <a:lstStyle/>
          <a:p>
            <a:pPr indent="-147711" lvl="0" marL="295422" marR="0" rtl="0" algn="ctr">
              <a:lnSpc>
                <a:spcPct val="110000"/>
              </a:lnSpc>
              <a:spcBef>
                <a:spcPts val="517"/>
              </a:spcBef>
              <a:spcAft>
                <a:spcPts val="0"/>
              </a:spcAft>
              <a:buClr>
                <a:srgbClr val="000000"/>
              </a:buClr>
              <a:buSzPts val="905"/>
              <a:buFont typeface="Arial"/>
              <a:buNone/>
            </a:pPr>
            <a:r>
              <a:rPr b="0" i="0" lang="en-US" sz="905" u="none" cap="none" strike="noStrike">
                <a:solidFill>
                  <a:srgbClr val="6F60A3"/>
                </a:solidFill>
                <a:latin typeface="Montserrat SemiBold"/>
                <a:ea typeface="Montserrat SemiBold"/>
                <a:cs typeface="Montserrat SemiBold"/>
                <a:sym typeface="Montserrat SemiBold"/>
              </a:rPr>
              <a:t>Priya Raman</a:t>
            </a:r>
            <a:endParaRPr b="0" i="0" sz="905" u="none" cap="none" strike="noStrike">
              <a:solidFill>
                <a:srgbClr val="6F60A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5"/>
              <a:buFont typeface="Arial"/>
              <a:buNone/>
            </a:pPr>
            <a:r>
              <a:rPr b="0" i="0" lang="en-US" sz="905" u="none" cap="none" strike="noStrike">
                <a:solidFill>
                  <a:srgbClr val="6F60A3"/>
                </a:solidFill>
                <a:latin typeface="Montserrat SemiBold"/>
                <a:ea typeface="Montserrat SemiBold"/>
                <a:cs typeface="Montserrat SemiBold"/>
                <a:sym typeface="Montserrat SemiBold"/>
              </a:rPr>
              <a:t>Head-Data &amp; AI, Apple</a:t>
            </a:r>
            <a:endParaRPr b="0" i="0" sz="905" u="none" cap="none" strike="noStrike">
              <a:solidFill>
                <a:srgbClr val="6F60A3"/>
              </a:solidFill>
              <a:latin typeface="Montserrat SemiBold"/>
              <a:ea typeface="Montserrat SemiBold"/>
              <a:cs typeface="Montserrat SemiBold"/>
              <a:sym typeface="Montserrat SemiBold"/>
            </a:endParaRPr>
          </a:p>
          <a:p>
            <a:pPr indent="0" lvl="0" marL="0" marR="0" rtl="0" algn="ctr">
              <a:lnSpc>
                <a:spcPct val="100000"/>
              </a:lnSpc>
              <a:spcBef>
                <a:spcPts val="0"/>
              </a:spcBef>
              <a:spcAft>
                <a:spcPts val="0"/>
              </a:spcAft>
              <a:buClr>
                <a:srgbClr val="000000"/>
              </a:buClr>
              <a:buSzPts val="905"/>
              <a:buFont typeface="Arial"/>
              <a:buNone/>
            </a:pPr>
            <a:r>
              <a:rPr b="0" i="0" lang="en-US" sz="905" u="none" cap="none" strike="noStrike">
                <a:solidFill>
                  <a:srgbClr val="6F60A3"/>
                </a:solidFill>
                <a:latin typeface="Montserrat SemiBold"/>
                <a:ea typeface="Montserrat SemiBold"/>
                <a:cs typeface="Montserrat SemiBold"/>
                <a:sym typeface="Montserrat SemiBold"/>
              </a:rPr>
              <a:t>Board Director | </a:t>
            </a:r>
            <a:br>
              <a:rPr b="0" i="0" lang="en-US" sz="905" u="none" cap="none" strike="noStrike">
                <a:solidFill>
                  <a:srgbClr val="6F60A3"/>
                </a:solidFill>
                <a:latin typeface="Montserrat SemiBold"/>
                <a:ea typeface="Montserrat SemiBold"/>
                <a:cs typeface="Montserrat SemiBold"/>
                <a:sym typeface="Montserrat SemiBold"/>
              </a:rPr>
            </a:br>
            <a:r>
              <a:rPr b="0" i="0" lang="en-US" sz="905" u="none" cap="none" strike="noStrike">
                <a:solidFill>
                  <a:srgbClr val="6F60A3"/>
                </a:solidFill>
                <a:latin typeface="Montserrat SemiBold"/>
                <a:ea typeface="Montserrat SemiBold"/>
                <a:cs typeface="Montserrat SemiBold"/>
                <a:sym typeface="Montserrat SemiBold"/>
              </a:rPr>
              <a:t>Enterprise AI &amp; Decision Intelligence</a:t>
            </a:r>
            <a:endParaRPr b="0" i="0" sz="905" u="none" cap="none" strike="noStrike">
              <a:solidFill>
                <a:srgbClr val="6F60A3"/>
              </a:solidFill>
              <a:latin typeface="Montserrat SemiBold"/>
              <a:ea typeface="Montserrat SemiBold"/>
              <a:cs typeface="Montserrat SemiBold"/>
              <a:sym typeface="Montserrat SemiBold"/>
            </a:endParaRPr>
          </a:p>
          <a:p>
            <a:pPr indent="-147711" lvl="0" marL="295422" marR="0" rtl="0" algn="ctr">
              <a:lnSpc>
                <a:spcPct val="110000"/>
              </a:lnSpc>
              <a:spcBef>
                <a:spcPts val="517"/>
              </a:spcBef>
              <a:spcAft>
                <a:spcPts val="0"/>
              </a:spcAft>
              <a:buClr>
                <a:srgbClr val="000000"/>
              </a:buClr>
              <a:buSzPts val="905"/>
              <a:buFont typeface="Arial"/>
              <a:buNone/>
            </a:pPr>
            <a:r>
              <a:t/>
            </a:r>
            <a:endParaRPr b="0" i="0" sz="905" u="none" cap="none" strike="noStrike">
              <a:solidFill>
                <a:srgbClr val="696969"/>
              </a:solidFill>
              <a:latin typeface="Arial"/>
              <a:ea typeface="Arial"/>
              <a:cs typeface="Arial"/>
              <a:sym typeface="Arial"/>
            </a:endParaRPr>
          </a:p>
        </p:txBody>
      </p:sp>
      <p:sp>
        <p:nvSpPr>
          <p:cNvPr id="167" name="Google Shape;167;g3d97d2673e6_0_4"/>
          <p:cNvSpPr txBox="1"/>
          <p:nvPr/>
        </p:nvSpPr>
        <p:spPr>
          <a:xfrm>
            <a:off x="320100" y="5393131"/>
            <a:ext cx="2035800" cy="951000"/>
          </a:xfrm>
          <a:prstGeom prst="rect">
            <a:avLst/>
          </a:prstGeom>
          <a:noFill/>
          <a:ln>
            <a:noFill/>
          </a:ln>
        </p:spPr>
        <p:txBody>
          <a:bodyPr anchorCtr="0" anchor="t" bIns="22150" lIns="44350" spcFirstLastPara="1" rIns="44350" wrap="square" tIns="22150">
            <a:noAutofit/>
          </a:bodyPr>
          <a:lstStyle/>
          <a:p>
            <a:pPr indent="-147711" lvl="0" marL="295422" marR="0" rtl="0" algn="ctr">
              <a:lnSpc>
                <a:spcPct val="110000"/>
              </a:lnSpc>
              <a:spcBef>
                <a:spcPts val="517"/>
              </a:spcBef>
              <a:spcAft>
                <a:spcPts val="0"/>
              </a:spcAft>
              <a:buClr>
                <a:srgbClr val="000000"/>
              </a:buClr>
              <a:buSzPts val="905"/>
              <a:buFont typeface="Arial"/>
              <a:buNone/>
            </a:pPr>
            <a:r>
              <a:rPr b="0" i="0" lang="en-US" sz="905" u="none" cap="none" strike="noStrike">
                <a:solidFill>
                  <a:srgbClr val="6F60A3"/>
                </a:solidFill>
                <a:latin typeface="Montserrat SemiBold"/>
                <a:ea typeface="Montserrat SemiBold"/>
                <a:cs typeface="Montserrat SemiBold"/>
                <a:sym typeface="Montserrat SemiBold"/>
              </a:rPr>
              <a:t>Suja Chandrasekaran</a:t>
            </a:r>
            <a:endParaRPr b="0" i="0" sz="905" u="none" cap="none" strike="noStrike">
              <a:solidFill>
                <a:srgbClr val="6F60A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5"/>
              <a:buFont typeface="Arial"/>
              <a:buNone/>
            </a:pPr>
            <a:r>
              <a:rPr b="0" i="0" lang="en-US" sz="905" u="none" cap="none" strike="noStrike">
                <a:solidFill>
                  <a:srgbClr val="6F60A3"/>
                </a:solidFill>
                <a:latin typeface="Montserrat SemiBold"/>
                <a:ea typeface="Montserrat SemiBold"/>
                <a:cs typeface="Montserrat SemiBold"/>
                <a:sym typeface="Montserrat SemiBold"/>
              </a:rPr>
              <a:t>Chief Operating Officer | Chief Technology and AI Officer | Public and Private Board Director</a:t>
            </a:r>
            <a:endParaRPr b="0" i="0" sz="905" u="none" cap="none" strike="noStrike">
              <a:solidFill>
                <a:srgbClr val="6F60A3"/>
              </a:solidFill>
              <a:latin typeface="Montserrat SemiBold"/>
              <a:ea typeface="Montserrat SemiBold"/>
              <a:cs typeface="Montserrat SemiBold"/>
              <a:sym typeface="Montserrat SemiBold"/>
            </a:endParaRPr>
          </a:p>
          <a:p>
            <a:pPr indent="0" lvl="0" marL="0" marR="0" rtl="0" algn="ctr">
              <a:lnSpc>
                <a:spcPct val="100000"/>
              </a:lnSpc>
              <a:spcBef>
                <a:spcPts val="0"/>
              </a:spcBef>
              <a:spcAft>
                <a:spcPts val="0"/>
              </a:spcAft>
              <a:buClr>
                <a:srgbClr val="000000"/>
              </a:buClr>
              <a:buSzPts val="905"/>
              <a:buFont typeface="Arial"/>
              <a:buNone/>
            </a:pPr>
            <a:r>
              <a:t/>
            </a:r>
            <a:endParaRPr b="0" i="0" sz="905" u="none" cap="none" strike="noStrike">
              <a:solidFill>
                <a:srgbClr val="6F60A3"/>
              </a:solidFill>
              <a:latin typeface="Montserrat SemiBold"/>
              <a:ea typeface="Montserrat SemiBold"/>
              <a:cs typeface="Montserrat SemiBold"/>
              <a:sym typeface="Montserrat SemiBold"/>
            </a:endParaRPr>
          </a:p>
          <a:p>
            <a:pPr indent="-147711" lvl="0" marL="295422" marR="0" rtl="0" algn="ctr">
              <a:lnSpc>
                <a:spcPct val="110000"/>
              </a:lnSpc>
              <a:spcBef>
                <a:spcPts val="517"/>
              </a:spcBef>
              <a:spcAft>
                <a:spcPts val="0"/>
              </a:spcAft>
              <a:buClr>
                <a:srgbClr val="000000"/>
              </a:buClr>
              <a:buSzPts val="905"/>
              <a:buFont typeface="Arial"/>
              <a:buNone/>
            </a:pPr>
            <a:r>
              <a:t/>
            </a:r>
            <a:endParaRPr b="0" i="0" sz="905" u="none" cap="none" strike="noStrike">
              <a:solidFill>
                <a:srgbClr val="696969"/>
              </a:solidFill>
              <a:latin typeface="Arial"/>
              <a:ea typeface="Arial"/>
              <a:cs typeface="Arial"/>
              <a:sym typeface="Arial"/>
            </a:endParaRPr>
          </a:p>
        </p:txBody>
      </p:sp>
      <p:sp>
        <p:nvSpPr>
          <p:cNvPr id="168" name="Google Shape;168;g3d97d2673e6_0_4"/>
          <p:cNvSpPr txBox="1"/>
          <p:nvPr/>
        </p:nvSpPr>
        <p:spPr>
          <a:xfrm>
            <a:off x="4033757" y="5452542"/>
            <a:ext cx="1933200" cy="935700"/>
          </a:xfrm>
          <a:prstGeom prst="rect">
            <a:avLst/>
          </a:prstGeom>
          <a:noFill/>
          <a:ln>
            <a:noFill/>
          </a:ln>
        </p:spPr>
        <p:txBody>
          <a:bodyPr anchorCtr="0" anchor="t" bIns="28350" lIns="56700" spcFirstLastPara="1" rIns="56700" wrap="square" tIns="28350">
            <a:noAutofit/>
          </a:bodyPr>
          <a:lstStyle/>
          <a:p>
            <a:pPr indent="0" lvl="0" marL="0" marR="0" rtl="0" algn="ctr">
              <a:lnSpc>
                <a:spcPct val="100000"/>
              </a:lnSpc>
              <a:spcBef>
                <a:spcPts val="0"/>
              </a:spcBef>
              <a:spcAft>
                <a:spcPts val="0"/>
              </a:spcAft>
              <a:buClr>
                <a:srgbClr val="000000"/>
              </a:buClr>
              <a:buSzPts val="910"/>
              <a:buFont typeface="Arial"/>
              <a:buNone/>
            </a:pPr>
            <a:r>
              <a:rPr b="0" i="0" lang="en-US" sz="910" u="none" cap="none" strike="noStrike">
                <a:solidFill>
                  <a:srgbClr val="6F60A3"/>
                </a:solidFill>
                <a:latin typeface="Montserrat SemiBold"/>
                <a:ea typeface="Montserrat SemiBold"/>
                <a:cs typeface="Montserrat SemiBold"/>
                <a:sym typeface="Montserrat SemiBold"/>
              </a:rPr>
              <a:t>Jyoti Wadhwa</a:t>
            </a:r>
            <a:endParaRPr b="0" i="0" sz="910" u="none" cap="none" strike="noStrike">
              <a:solidFill>
                <a:srgbClr val="6F60A3"/>
              </a:solidFill>
              <a:latin typeface="Montserrat SemiBold"/>
              <a:ea typeface="Montserrat SemiBold"/>
              <a:cs typeface="Montserrat SemiBold"/>
              <a:sym typeface="Montserrat SemiBold"/>
            </a:endParaRPr>
          </a:p>
          <a:p>
            <a:pPr indent="0" lvl="0" marL="0" marR="0" rtl="0" algn="ctr">
              <a:lnSpc>
                <a:spcPct val="100000"/>
              </a:lnSpc>
              <a:spcBef>
                <a:spcPts val="0"/>
              </a:spcBef>
              <a:spcAft>
                <a:spcPts val="0"/>
              </a:spcAft>
              <a:buClr>
                <a:srgbClr val="000000"/>
              </a:buClr>
              <a:buSzPts val="910"/>
              <a:buFont typeface="Arial"/>
              <a:buNone/>
            </a:pPr>
            <a:r>
              <a:rPr b="0" i="0" lang="en-US" sz="910" u="none" cap="none" strike="noStrike">
                <a:solidFill>
                  <a:srgbClr val="6F60A3"/>
                </a:solidFill>
                <a:latin typeface="Montserrat SemiBold"/>
                <a:ea typeface="Montserrat SemiBold"/>
                <a:cs typeface="Montserrat SemiBold"/>
                <a:sym typeface="Montserrat SemiBold"/>
              </a:rPr>
              <a:t>Fmr. Global Head, Product &amp; Cloud Security, NetApp</a:t>
            </a:r>
            <a:endParaRPr b="0" i="0" sz="910" u="none" cap="none" strike="noStrike">
              <a:solidFill>
                <a:srgbClr val="6F60A3"/>
              </a:solidFill>
              <a:latin typeface="Montserrat SemiBold"/>
              <a:ea typeface="Montserrat SemiBold"/>
              <a:cs typeface="Montserrat SemiBold"/>
              <a:sym typeface="Montserrat SemiBold"/>
            </a:endParaRPr>
          </a:p>
          <a:p>
            <a:pPr indent="0" lvl="0" marL="0" marR="0" rtl="0" algn="ctr">
              <a:lnSpc>
                <a:spcPct val="100000"/>
              </a:lnSpc>
              <a:spcBef>
                <a:spcPts val="0"/>
              </a:spcBef>
              <a:spcAft>
                <a:spcPts val="0"/>
              </a:spcAft>
              <a:buClr>
                <a:srgbClr val="000000"/>
              </a:buClr>
              <a:buSzPts val="910"/>
              <a:buFont typeface="Arial"/>
              <a:buNone/>
            </a:pPr>
            <a:r>
              <a:rPr b="0" i="0" lang="en-US" sz="910" u="none" cap="none" strike="noStrike">
                <a:solidFill>
                  <a:srgbClr val="6F60A3"/>
                </a:solidFill>
                <a:latin typeface="Montserrat SemiBold"/>
                <a:ea typeface="Montserrat SemiBold"/>
                <a:cs typeface="Montserrat SemiBold"/>
                <a:sym typeface="Montserrat SemiBold"/>
              </a:rPr>
              <a:t>AI Governance Executive &amp; Board Advisor | CISSP</a:t>
            </a:r>
            <a:endParaRPr b="0" i="0" sz="910" u="none" cap="none" strike="noStrike">
              <a:solidFill>
                <a:srgbClr val="6F60A3"/>
              </a:solidFill>
              <a:latin typeface="Montserrat SemiBold"/>
              <a:ea typeface="Montserrat SemiBold"/>
              <a:cs typeface="Montserrat SemiBold"/>
              <a:sym typeface="Montserrat SemiBold"/>
            </a:endParaRPr>
          </a:p>
          <a:p>
            <a:pPr indent="-189010" lvl="0" marL="378021" marR="0" rtl="0" algn="ctr">
              <a:lnSpc>
                <a:spcPct val="110000"/>
              </a:lnSpc>
              <a:spcBef>
                <a:spcPts val="662"/>
              </a:spcBef>
              <a:spcAft>
                <a:spcPts val="0"/>
              </a:spcAft>
              <a:buClr>
                <a:srgbClr val="000000"/>
              </a:buClr>
              <a:buSzPts val="910"/>
              <a:buFont typeface="Arial"/>
              <a:buNone/>
            </a:pPr>
            <a:r>
              <a:t/>
            </a:r>
            <a:endParaRPr b="0" i="0" sz="910" u="none" cap="none" strike="noStrike">
              <a:solidFill>
                <a:srgbClr val="696969"/>
              </a:solidFill>
              <a:latin typeface="Arial"/>
              <a:ea typeface="Arial"/>
              <a:cs typeface="Arial"/>
              <a:sym typeface="Arial"/>
            </a:endParaRPr>
          </a:p>
        </p:txBody>
      </p:sp>
      <p:pic>
        <p:nvPicPr>
          <p:cNvPr id="169" name="Google Shape;169;g3d97d2673e6_0_4" title="Jyoti Wadhwa 2.jpeg"/>
          <p:cNvPicPr preferRelativeResize="0"/>
          <p:nvPr/>
        </p:nvPicPr>
        <p:blipFill rotWithShape="1">
          <a:blip r:embed="rId3">
            <a:alphaModFix/>
          </a:blip>
          <a:srcRect b="0" l="0" r="0" t="0"/>
          <a:stretch/>
        </p:blipFill>
        <p:spPr>
          <a:xfrm>
            <a:off x="4155892" y="3595704"/>
            <a:ext cx="1688400" cy="1688400"/>
          </a:xfrm>
          <a:prstGeom prst="ellipse">
            <a:avLst/>
          </a:prstGeom>
          <a:noFill/>
          <a:ln cap="flat" cmpd="sng" w="9525">
            <a:solidFill>
              <a:srgbClr val="F39200"/>
            </a:solidFill>
            <a:prstDash val="solid"/>
            <a:round/>
            <a:headEnd len="sm" w="sm" type="none"/>
            <a:tailEnd len="sm" w="sm" type="none"/>
          </a:ln>
        </p:spPr>
      </p:pic>
      <p:pic>
        <p:nvPicPr>
          <p:cNvPr id="170" name="Google Shape;170;g3d97d2673e6_0_4" title="Pooja Dewan.jpg"/>
          <p:cNvPicPr preferRelativeResize="0"/>
          <p:nvPr/>
        </p:nvPicPr>
        <p:blipFill rotWithShape="1">
          <a:blip r:embed="rId4">
            <a:alphaModFix/>
          </a:blip>
          <a:srcRect b="0" l="0" r="0" t="0"/>
          <a:stretch/>
        </p:blipFill>
        <p:spPr>
          <a:xfrm>
            <a:off x="2328030" y="3595704"/>
            <a:ext cx="1684800" cy="1684800"/>
          </a:xfrm>
          <a:prstGeom prst="ellipse">
            <a:avLst/>
          </a:prstGeom>
          <a:noFill/>
          <a:ln cap="flat" cmpd="sng" w="9525">
            <a:solidFill>
              <a:srgbClr val="F39200"/>
            </a:solidFill>
            <a:prstDash val="solid"/>
            <a:round/>
            <a:headEnd len="sm" w="sm" type="none"/>
            <a:tailEnd len="sm" w="sm" type="none"/>
          </a:ln>
        </p:spPr>
      </p:pic>
      <p:pic>
        <p:nvPicPr>
          <p:cNvPr id="171" name="Google Shape;171;g3d97d2673e6_0_4" title="Priya Raman 2.jpeg"/>
          <p:cNvPicPr preferRelativeResize="0"/>
          <p:nvPr/>
        </p:nvPicPr>
        <p:blipFill rotWithShape="1">
          <a:blip r:embed="rId5">
            <a:alphaModFix/>
          </a:blip>
          <a:srcRect b="0" l="0" r="0" t="0"/>
          <a:stretch/>
        </p:blipFill>
        <p:spPr>
          <a:xfrm>
            <a:off x="6031379" y="3637384"/>
            <a:ext cx="1688400" cy="1688400"/>
          </a:xfrm>
          <a:prstGeom prst="ellipse">
            <a:avLst/>
          </a:prstGeom>
          <a:noFill/>
          <a:ln cap="flat" cmpd="sng" w="9525">
            <a:solidFill>
              <a:srgbClr val="F39200"/>
            </a:solidFill>
            <a:prstDash val="solid"/>
            <a:round/>
            <a:headEnd len="sm" w="sm" type="none"/>
            <a:tailEnd len="sm" w="sm" type="none"/>
          </a:ln>
        </p:spPr>
      </p:pic>
      <p:pic>
        <p:nvPicPr>
          <p:cNvPr id="172" name="Google Shape;172;g3d97d2673e6_0_4"/>
          <p:cNvPicPr preferRelativeResize="0"/>
          <p:nvPr/>
        </p:nvPicPr>
        <p:blipFill rotWithShape="1">
          <a:blip r:embed="rId6">
            <a:alphaModFix/>
          </a:blip>
          <a:srcRect b="-310" l="6933" r="3373" t="310"/>
          <a:stretch/>
        </p:blipFill>
        <p:spPr>
          <a:xfrm>
            <a:off x="480379" y="3571873"/>
            <a:ext cx="1701000" cy="1667400"/>
          </a:xfrm>
          <a:prstGeom prst="flowChartConnector">
            <a:avLst/>
          </a:prstGeom>
          <a:noFill/>
          <a:ln cap="flat" cmpd="sng" w="9525">
            <a:solidFill>
              <a:srgbClr val="F39200"/>
            </a:solidFill>
            <a:prstDash val="solid"/>
            <a:round/>
            <a:headEnd len="sm" w="sm" type="none"/>
            <a:tailEnd len="sm" w="sm" type="none"/>
          </a:ln>
        </p:spPr>
      </p:pic>
      <p:sp>
        <p:nvSpPr>
          <p:cNvPr id="173" name="Google Shape;173;g3d97d2673e6_0_4"/>
          <p:cNvSpPr txBox="1"/>
          <p:nvPr/>
        </p:nvSpPr>
        <p:spPr>
          <a:xfrm>
            <a:off x="7942986" y="5516556"/>
            <a:ext cx="2035800" cy="951000"/>
          </a:xfrm>
          <a:prstGeom prst="rect">
            <a:avLst/>
          </a:prstGeom>
          <a:noFill/>
          <a:ln>
            <a:noFill/>
          </a:ln>
        </p:spPr>
        <p:txBody>
          <a:bodyPr anchorCtr="0" anchor="t" bIns="22150" lIns="44350" spcFirstLastPara="1" rIns="44350" wrap="square" tIns="22150">
            <a:noAutofit/>
          </a:bodyPr>
          <a:lstStyle/>
          <a:p>
            <a:pPr indent="-147711" lvl="0" marL="295422" marR="0" rtl="0" algn="ctr">
              <a:lnSpc>
                <a:spcPct val="110000"/>
              </a:lnSpc>
              <a:spcBef>
                <a:spcPts val="517"/>
              </a:spcBef>
              <a:spcAft>
                <a:spcPts val="0"/>
              </a:spcAft>
              <a:buClr>
                <a:srgbClr val="000000"/>
              </a:buClr>
              <a:buSzPts val="905"/>
              <a:buFont typeface="Arial"/>
              <a:buNone/>
            </a:pPr>
            <a:r>
              <a:rPr b="0" i="0" lang="en-US" sz="905" u="none" cap="none" strike="noStrike">
                <a:solidFill>
                  <a:srgbClr val="6F60A3"/>
                </a:solidFill>
                <a:latin typeface="Montserrat SemiBold"/>
                <a:ea typeface="Montserrat SemiBold"/>
                <a:cs typeface="Montserrat SemiBold"/>
                <a:sym typeface="Montserrat SemiBold"/>
              </a:rPr>
              <a:t>Deepika Rayala</a:t>
            </a:r>
            <a:endParaRPr b="0" i="0" sz="905" u="none" cap="none" strike="noStrike">
              <a:solidFill>
                <a:srgbClr val="6F60A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5"/>
              <a:buFont typeface="Arial"/>
              <a:buNone/>
            </a:pPr>
            <a:r>
              <a:rPr b="0" i="0" lang="en-US" sz="905" u="none" cap="none" strike="noStrike">
                <a:solidFill>
                  <a:srgbClr val="6F60A3"/>
                </a:solidFill>
                <a:latin typeface="Montserrat SemiBold"/>
                <a:ea typeface="Montserrat SemiBold"/>
                <a:cs typeface="Montserrat SemiBold"/>
                <a:sym typeface="Montserrat SemiBold"/>
              </a:rPr>
              <a:t>CDIO</a:t>
            </a:r>
            <a:endParaRPr b="0" i="0" sz="905" u="none" cap="none" strike="noStrike">
              <a:solidFill>
                <a:srgbClr val="6F60A3"/>
              </a:solidFill>
              <a:latin typeface="Montserrat SemiBold"/>
              <a:ea typeface="Montserrat SemiBold"/>
              <a:cs typeface="Montserrat SemiBold"/>
              <a:sym typeface="Montserrat SemiBold"/>
            </a:endParaRPr>
          </a:p>
          <a:p>
            <a:pPr indent="0" lvl="0" marL="0" marR="0" rtl="0" algn="ctr">
              <a:lnSpc>
                <a:spcPct val="100000"/>
              </a:lnSpc>
              <a:spcBef>
                <a:spcPts val="0"/>
              </a:spcBef>
              <a:spcAft>
                <a:spcPts val="0"/>
              </a:spcAft>
              <a:buClr>
                <a:srgbClr val="000000"/>
              </a:buClr>
              <a:buSzPts val="905"/>
              <a:buFont typeface="Arial"/>
              <a:buNone/>
            </a:pPr>
            <a:r>
              <a:rPr b="0" i="0" lang="en-US" sz="905" u="none" cap="none" strike="noStrike">
                <a:solidFill>
                  <a:srgbClr val="6F60A3"/>
                </a:solidFill>
                <a:latin typeface="Montserrat SemiBold"/>
                <a:ea typeface="Montserrat SemiBold"/>
                <a:cs typeface="Montserrat SemiBold"/>
                <a:sym typeface="Montserrat SemiBold"/>
              </a:rPr>
              <a:t>Enterprise AI, Digital Transformation &amp;  Risk Leadership </a:t>
            </a:r>
            <a:endParaRPr b="0" i="0" sz="905" u="none" cap="none" strike="noStrike">
              <a:solidFill>
                <a:srgbClr val="6F60A3"/>
              </a:solidFill>
              <a:latin typeface="Montserrat SemiBold"/>
              <a:ea typeface="Montserrat SemiBold"/>
              <a:cs typeface="Montserrat SemiBold"/>
              <a:sym typeface="Montserrat SemiBold"/>
            </a:endParaRPr>
          </a:p>
          <a:p>
            <a:pPr indent="0" lvl="0" marL="0" marR="0" rtl="0" algn="ctr">
              <a:lnSpc>
                <a:spcPct val="100000"/>
              </a:lnSpc>
              <a:spcBef>
                <a:spcPts val="0"/>
              </a:spcBef>
              <a:spcAft>
                <a:spcPts val="0"/>
              </a:spcAft>
              <a:buClr>
                <a:srgbClr val="000000"/>
              </a:buClr>
              <a:buSzPts val="905"/>
              <a:buFont typeface="Arial"/>
              <a:buNone/>
            </a:pPr>
            <a:r>
              <a:t/>
            </a:r>
            <a:endParaRPr b="0" i="0" sz="905" u="none" cap="none" strike="noStrike">
              <a:solidFill>
                <a:srgbClr val="6F60A3"/>
              </a:solidFill>
              <a:latin typeface="Montserrat SemiBold"/>
              <a:ea typeface="Montserrat SemiBold"/>
              <a:cs typeface="Montserrat SemiBold"/>
              <a:sym typeface="Montserrat SemiBold"/>
            </a:endParaRPr>
          </a:p>
          <a:p>
            <a:pPr indent="-147711" lvl="0" marL="295422" marR="0" rtl="0" algn="ctr">
              <a:lnSpc>
                <a:spcPct val="110000"/>
              </a:lnSpc>
              <a:spcBef>
                <a:spcPts val="517"/>
              </a:spcBef>
              <a:spcAft>
                <a:spcPts val="0"/>
              </a:spcAft>
              <a:buClr>
                <a:srgbClr val="000000"/>
              </a:buClr>
              <a:buSzPts val="905"/>
              <a:buFont typeface="Arial"/>
              <a:buNone/>
            </a:pPr>
            <a:r>
              <a:t/>
            </a:r>
            <a:endParaRPr b="0" i="0" sz="905" u="none" cap="none" strike="noStrike">
              <a:solidFill>
                <a:srgbClr val="696969"/>
              </a:solidFill>
              <a:latin typeface="Arial"/>
              <a:ea typeface="Arial"/>
              <a:cs typeface="Arial"/>
              <a:sym typeface="Arial"/>
            </a:endParaRPr>
          </a:p>
        </p:txBody>
      </p:sp>
      <p:pic>
        <p:nvPicPr>
          <p:cNvPr id="174" name="Google Shape;174;g3d97d2673e6_0_4" title="image.png"/>
          <p:cNvPicPr preferRelativeResize="0"/>
          <p:nvPr/>
        </p:nvPicPr>
        <p:blipFill rotWithShape="1">
          <a:blip r:embed="rId7">
            <a:alphaModFix/>
          </a:blip>
          <a:srcRect b="1362" l="0" r="0" t="1352"/>
          <a:stretch/>
        </p:blipFill>
        <p:spPr>
          <a:xfrm>
            <a:off x="8031828" y="3695297"/>
            <a:ext cx="1701000" cy="1667400"/>
          </a:xfrm>
          <a:prstGeom prst="flowChartConnector">
            <a:avLst/>
          </a:prstGeom>
          <a:noFill/>
          <a:ln cap="flat" cmpd="sng" w="9525">
            <a:solidFill>
              <a:srgbClr val="F39200"/>
            </a:solidFill>
            <a:prstDash val="solid"/>
            <a:round/>
            <a:headEnd len="sm" w="sm" type="none"/>
            <a:tailEnd len="sm" w="sm" type="none"/>
          </a:ln>
        </p:spPr>
      </p:pic>
      <p:pic>
        <p:nvPicPr>
          <p:cNvPr id="175" name="Google Shape;175;g3d97d2673e6_0_4" title="Hsing Hsing.jpeg"/>
          <p:cNvPicPr preferRelativeResize="0"/>
          <p:nvPr/>
        </p:nvPicPr>
        <p:blipFill rotWithShape="1">
          <a:blip r:embed="rId8">
            <a:alphaModFix/>
          </a:blip>
          <a:srcRect b="980" l="0" r="0" t="980"/>
          <a:stretch/>
        </p:blipFill>
        <p:spPr>
          <a:xfrm>
            <a:off x="10056116" y="3708489"/>
            <a:ext cx="1701000" cy="1667400"/>
          </a:xfrm>
          <a:prstGeom prst="flowChartConnector">
            <a:avLst/>
          </a:prstGeom>
          <a:noFill/>
          <a:ln cap="flat" cmpd="sng" w="9525">
            <a:solidFill>
              <a:srgbClr val="F39200"/>
            </a:solidFill>
            <a:prstDash val="solid"/>
            <a:round/>
            <a:headEnd len="sm" w="sm" type="none"/>
            <a:tailEnd len="sm" w="sm" type="none"/>
          </a:ln>
        </p:spPr>
      </p:pic>
      <p:sp>
        <p:nvSpPr>
          <p:cNvPr id="176" name="Google Shape;176;g3d97d2673e6_0_4"/>
          <p:cNvSpPr txBox="1"/>
          <p:nvPr/>
        </p:nvSpPr>
        <p:spPr>
          <a:xfrm>
            <a:off x="9989490" y="5482123"/>
            <a:ext cx="2035800" cy="951000"/>
          </a:xfrm>
          <a:prstGeom prst="rect">
            <a:avLst/>
          </a:prstGeom>
          <a:noFill/>
          <a:ln>
            <a:noFill/>
          </a:ln>
        </p:spPr>
        <p:txBody>
          <a:bodyPr anchorCtr="0" anchor="t" bIns="22150" lIns="44350" spcFirstLastPara="1" rIns="44350" wrap="square" tIns="22150">
            <a:noAutofit/>
          </a:bodyPr>
          <a:lstStyle/>
          <a:p>
            <a:pPr indent="-147711" lvl="0" marL="295422" marR="0" rtl="0" algn="ctr">
              <a:lnSpc>
                <a:spcPct val="110000"/>
              </a:lnSpc>
              <a:spcBef>
                <a:spcPts val="517"/>
              </a:spcBef>
              <a:spcAft>
                <a:spcPts val="0"/>
              </a:spcAft>
              <a:buClr>
                <a:srgbClr val="000000"/>
              </a:buClr>
              <a:buSzPts val="905"/>
              <a:buFont typeface="Arial"/>
              <a:buNone/>
            </a:pPr>
            <a:r>
              <a:rPr b="0" i="0" lang="en-US" sz="905" u="none" cap="none" strike="noStrike">
                <a:solidFill>
                  <a:srgbClr val="6F60A3"/>
                </a:solidFill>
                <a:latin typeface="Montserrat SemiBold"/>
                <a:ea typeface="Montserrat SemiBold"/>
                <a:cs typeface="Montserrat SemiBold"/>
                <a:sym typeface="Montserrat SemiBold"/>
              </a:rPr>
              <a:t>Hsing Hsing Li</a:t>
            </a:r>
            <a:endParaRPr b="0" i="0" sz="905" u="none" cap="none" strike="noStrike">
              <a:solidFill>
                <a:srgbClr val="6F60A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5"/>
              <a:buFont typeface="Arial"/>
              <a:buNone/>
            </a:pPr>
            <a:r>
              <a:rPr b="0" i="0" lang="en-US" sz="905" u="none" cap="none" strike="noStrike">
                <a:solidFill>
                  <a:srgbClr val="6F60A3"/>
                </a:solidFill>
                <a:latin typeface="Montserrat SemiBold"/>
                <a:ea typeface="Montserrat SemiBold"/>
                <a:cs typeface="Montserrat SemiBold"/>
                <a:sym typeface="Montserrat SemiBold"/>
              </a:rPr>
              <a:t>COO</a:t>
            </a:r>
            <a:endParaRPr b="0" i="0" sz="905" u="none" cap="none" strike="noStrike">
              <a:solidFill>
                <a:srgbClr val="6F60A3"/>
              </a:solidFill>
              <a:latin typeface="Montserrat SemiBold"/>
              <a:ea typeface="Montserrat SemiBold"/>
              <a:cs typeface="Montserrat SemiBold"/>
              <a:sym typeface="Montserrat SemiBold"/>
            </a:endParaRPr>
          </a:p>
          <a:p>
            <a:pPr indent="0" lvl="0" marL="0" marR="0" rtl="0" algn="ctr">
              <a:lnSpc>
                <a:spcPct val="100000"/>
              </a:lnSpc>
              <a:spcBef>
                <a:spcPts val="0"/>
              </a:spcBef>
              <a:spcAft>
                <a:spcPts val="0"/>
              </a:spcAft>
              <a:buClr>
                <a:srgbClr val="000000"/>
              </a:buClr>
              <a:buSzPts val="905"/>
              <a:buFont typeface="Arial"/>
              <a:buNone/>
            </a:pPr>
            <a:r>
              <a:rPr b="0" i="0" lang="en-US" sz="905" u="none" cap="none" strike="noStrike">
                <a:solidFill>
                  <a:srgbClr val="6F60A3"/>
                </a:solidFill>
                <a:latin typeface="Montserrat SemiBold"/>
                <a:ea typeface="Montserrat SemiBold"/>
                <a:cs typeface="Montserrat SemiBold"/>
                <a:sym typeface="Montserrat SemiBold"/>
              </a:rPr>
              <a:t>ACELER8.AI</a:t>
            </a:r>
            <a:endParaRPr b="0" i="0" sz="905" u="none" cap="none" strike="noStrike">
              <a:solidFill>
                <a:srgbClr val="6F60A3"/>
              </a:solidFill>
              <a:latin typeface="Montserrat SemiBold"/>
              <a:ea typeface="Montserrat SemiBold"/>
              <a:cs typeface="Montserrat SemiBold"/>
              <a:sym typeface="Montserrat SemiBold"/>
            </a:endParaRPr>
          </a:p>
          <a:p>
            <a:pPr indent="0" lvl="0" marL="0" marR="0" rtl="0" algn="ctr">
              <a:lnSpc>
                <a:spcPct val="100000"/>
              </a:lnSpc>
              <a:spcBef>
                <a:spcPts val="0"/>
              </a:spcBef>
              <a:spcAft>
                <a:spcPts val="0"/>
              </a:spcAft>
              <a:buClr>
                <a:srgbClr val="000000"/>
              </a:buClr>
              <a:buSzPts val="905"/>
              <a:buFont typeface="Arial"/>
              <a:buNone/>
            </a:pPr>
            <a:r>
              <a:rPr b="0" i="0" lang="en-US" sz="905" u="none" cap="none" strike="noStrike">
                <a:solidFill>
                  <a:srgbClr val="6F60A3"/>
                </a:solidFill>
                <a:latin typeface="Montserrat SemiBold"/>
                <a:ea typeface="Montserrat SemiBold"/>
                <a:cs typeface="Montserrat SemiBold"/>
                <a:sym typeface="Montserrat SemiBold"/>
              </a:rPr>
              <a:t>AI &amp; Enterprise Transformation Leadership </a:t>
            </a:r>
            <a:endParaRPr b="0" i="0" sz="905" u="none" cap="none" strike="noStrike">
              <a:solidFill>
                <a:srgbClr val="6F60A3"/>
              </a:solidFill>
              <a:latin typeface="Montserrat SemiBold"/>
              <a:ea typeface="Montserrat SemiBold"/>
              <a:cs typeface="Montserrat SemiBold"/>
              <a:sym typeface="Montserrat SemiBold"/>
            </a:endParaRPr>
          </a:p>
          <a:p>
            <a:pPr indent="0" lvl="0" marL="0" marR="0" rtl="0" algn="ctr">
              <a:lnSpc>
                <a:spcPct val="100000"/>
              </a:lnSpc>
              <a:spcBef>
                <a:spcPts val="0"/>
              </a:spcBef>
              <a:spcAft>
                <a:spcPts val="0"/>
              </a:spcAft>
              <a:buClr>
                <a:srgbClr val="000000"/>
              </a:buClr>
              <a:buSzPts val="905"/>
              <a:buFont typeface="Arial"/>
              <a:buNone/>
            </a:pPr>
            <a:r>
              <a:t/>
            </a:r>
            <a:endParaRPr b="0" i="0" sz="905" u="none" cap="none" strike="noStrike">
              <a:solidFill>
                <a:srgbClr val="6F60A3"/>
              </a:solidFill>
              <a:latin typeface="Montserrat SemiBold"/>
              <a:ea typeface="Montserrat SemiBold"/>
              <a:cs typeface="Montserrat SemiBold"/>
              <a:sym typeface="Montserrat SemiBold"/>
            </a:endParaRPr>
          </a:p>
          <a:p>
            <a:pPr indent="-147711" lvl="0" marL="295422" marR="0" rtl="0" algn="ctr">
              <a:lnSpc>
                <a:spcPct val="110000"/>
              </a:lnSpc>
              <a:spcBef>
                <a:spcPts val="517"/>
              </a:spcBef>
              <a:spcAft>
                <a:spcPts val="0"/>
              </a:spcAft>
              <a:buClr>
                <a:srgbClr val="000000"/>
              </a:buClr>
              <a:buSzPts val="905"/>
              <a:buFont typeface="Arial"/>
              <a:buNone/>
            </a:pPr>
            <a:r>
              <a:t/>
            </a:r>
            <a:endParaRPr b="0" i="0" sz="905" u="none" cap="none" strike="noStrike">
              <a:solidFill>
                <a:srgbClr val="696969"/>
              </a:solidFill>
              <a:latin typeface="Arial"/>
              <a:ea typeface="Arial"/>
              <a:cs typeface="Arial"/>
              <a:sym typeface="Arial"/>
            </a:endParaRPr>
          </a:p>
        </p:txBody>
      </p:sp>
      <p:pic>
        <p:nvPicPr>
          <p:cNvPr descr="Logo&#10;&#10;Description automatically generated" id="177" name="Google Shape;177;g3d97d2673e6_0_4"/>
          <p:cNvPicPr preferRelativeResize="0"/>
          <p:nvPr/>
        </p:nvPicPr>
        <p:blipFill rotWithShape="1">
          <a:blip r:embed="rId9">
            <a:alphaModFix/>
          </a:blip>
          <a:srcRect b="0" l="0" r="0" t="0"/>
          <a:stretch/>
        </p:blipFill>
        <p:spPr>
          <a:xfrm>
            <a:off x="11105367" y="0"/>
            <a:ext cx="1073201" cy="1087137"/>
          </a:xfrm>
          <a:prstGeom prst="rect">
            <a:avLst/>
          </a:prstGeom>
          <a:noFill/>
          <a:ln>
            <a:noFill/>
          </a:ln>
        </p:spPr>
      </p:pic>
      <p:sp>
        <p:nvSpPr>
          <p:cNvPr id="178" name="Google Shape;178;g3d97d2673e6_0_4"/>
          <p:cNvSpPr/>
          <p:nvPr/>
        </p:nvSpPr>
        <p:spPr>
          <a:xfrm>
            <a:off x="0" y="6368133"/>
            <a:ext cx="12216300" cy="489900"/>
          </a:xfrm>
          <a:prstGeom prst="round2SameRect">
            <a:avLst>
              <a:gd fmla="val 47728" name="adj1"/>
              <a:gd fmla="val 0" name="adj2"/>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cap="none" strike="noStrike">
                <a:solidFill>
                  <a:schemeClr val="lt1"/>
                </a:solidFill>
                <a:latin typeface="Montserrat"/>
                <a:ea typeface="Montserrat"/>
                <a:cs typeface="Montserrat"/>
                <a:sym typeface="Montserrat"/>
              </a:rPr>
              <a:t>T200 AI Leadership &amp; Governance Series  |  2026								www.t200.org</a:t>
            </a:r>
            <a:endParaRPr b="1" i="0" sz="10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ae049a994_1_21"/>
          <p:cNvSpPr txBox="1"/>
          <p:nvPr/>
        </p:nvSpPr>
        <p:spPr>
          <a:xfrm>
            <a:off x="502920" y="365760"/>
            <a:ext cx="54864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E97132"/>
                </a:solidFill>
                <a:latin typeface="Montserrat"/>
                <a:ea typeface="Montserrat"/>
                <a:cs typeface="Montserrat"/>
                <a:sym typeface="Montserrat"/>
              </a:rPr>
              <a:t>SPOTLIGHT SERIES  |  2026</a:t>
            </a:r>
            <a:endParaRPr>
              <a:latin typeface="Montserrat"/>
              <a:ea typeface="Montserrat"/>
              <a:cs typeface="Montserrat"/>
              <a:sym typeface="Montserrat"/>
            </a:endParaRPr>
          </a:p>
        </p:txBody>
      </p:sp>
      <p:sp>
        <p:nvSpPr>
          <p:cNvPr id="184" name="Google Shape;184;g3eae049a994_1_21"/>
          <p:cNvSpPr txBox="1"/>
          <p:nvPr/>
        </p:nvSpPr>
        <p:spPr>
          <a:xfrm>
            <a:off x="487680" y="562562"/>
            <a:ext cx="11155800" cy="76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1A1A1A"/>
                </a:solidFill>
                <a:latin typeface="Montserrat"/>
                <a:ea typeface="Montserrat"/>
                <a:cs typeface="Montserrat"/>
                <a:sym typeface="Montserrat"/>
              </a:rPr>
              <a:t>T200 AI Leadership &amp; Governance Series</a:t>
            </a:r>
            <a:endParaRPr>
              <a:latin typeface="Montserrat"/>
              <a:ea typeface="Montserrat"/>
              <a:cs typeface="Montserrat"/>
              <a:sym typeface="Montserrat"/>
            </a:endParaRPr>
          </a:p>
          <a:p>
            <a:pPr indent="0" lvl="0" marL="0" marR="0" rtl="0" algn="l">
              <a:spcBef>
                <a:spcPts val="200"/>
              </a:spcBef>
              <a:spcAft>
                <a:spcPts val="0"/>
              </a:spcAft>
              <a:buNone/>
            </a:pPr>
            <a:r>
              <a:rPr i="1" lang="en-US" sz="1600" u="none" cap="none" strike="noStrike">
                <a:solidFill>
                  <a:srgbClr val="555555"/>
                </a:solidFill>
                <a:latin typeface="Montserrat"/>
                <a:ea typeface="Montserrat"/>
                <a:cs typeface="Montserrat"/>
                <a:sym typeface="Montserrat"/>
              </a:rPr>
              <a:t>Equipping Executive Leaders to Scale AI with Accountability &amp; Value</a:t>
            </a:r>
            <a:endParaRPr>
              <a:latin typeface="Montserrat"/>
              <a:ea typeface="Montserrat"/>
              <a:cs typeface="Montserrat"/>
              <a:sym typeface="Montserrat"/>
            </a:endParaRPr>
          </a:p>
        </p:txBody>
      </p:sp>
      <p:sp>
        <p:nvSpPr>
          <p:cNvPr id="185" name="Google Shape;185;g3eae049a994_1_21"/>
          <p:cNvSpPr txBox="1"/>
          <p:nvPr/>
        </p:nvSpPr>
        <p:spPr>
          <a:xfrm>
            <a:off x="502920" y="1919832"/>
            <a:ext cx="6949500" cy="861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400" u="none" cap="none" strike="noStrike">
                <a:solidFill>
                  <a:srgbClr val="1A1A1A"/>
                </a:solidFill>
                <a:latin typeface="Montserrat"/>
                <a:ea typeface="Montserrat"/>
                <a:cs typeface="Montserrat"/>
                <a:sym typeface="Montserrat"/>
              </a:rPr>
              <a:t>AI is scaling rapidly across the enterprise, and leadership demands are scaling faster. Organizations are moving from experimentation to operational deployment while governance, ownership models, and value discipline are still catching up.</a:t>
            </a:r>
            <a:endParaRPr>
              <a:latin typeface="Montserrat"/>
              <a:ea typeface="Montserrat"/>
              <a:cs typeface="Montserrat"/>
              <a:sym typeface="Montserrat"/>
            </a:endParaRPr>
          </a:p>
        </p:txBody>
      </p:sp>
      <p:sp>
        <p:nvSpPr>
          <p:cNvPr id="186" name="Google Shape;186;g3eae049a994_1_21"/>
          <p:cNvSpPr/>
          <p:nvPr/>
        </p:nvSpPr>
        <p:spPr>
          <a:xfrm>
            <a:off x="7635240" y="1919832"/>
            <a:ext cx="4069200" cy="914400"/>
          </a:xfrm>
          <a:prstGeom prst="rect">
            <a:avLst/>
          </a:prstGeom>
          <a:solidFill>
            <a:srgbClr val="0E2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7" name="Google Shape;187;g3eae049a994_1_21"/>
          <p:cNvSpPr txBox="1"/>
          <p:nvPr/>
        </p:nvSpPr>
        <p:spPr>
          <a:xfrm>
            <a:off x="7818120" y="2011272"/>
            <a:ext cx="3840600" cy="518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E97132"/>
                </a:solidFill>
                <a:latin typeface="Montserrat"/>
                <a:ea typeface="Montserrat"/>
                <a:cs typeface="Montserrat"/>
                <a:sym typeface="Montserrat"/>
              </a:rPr>
              <a:t>FIVE LEADERSHIP IMPERATIVES</a:t>
            </a:r>
            <a:endParaRPr>
              <a:latin typeface="Montserrat"/>
              <a:ea typeface="Montserrat"/>
              <a:cs typeface="Montserrat"/>
              <a:sym typeface="Montserrat"/>
            </a:endParaRPr>
          </a:p>
          <a:p>
            <a:pPr indent="0" lvl="0" marL="0" marR="0" rtl="0" algn="l">
              <a:spcBef>
                <a:spcPts val="200"/>
              </a:spcBef>
              <a:spcAft>
                <a:spcPts val="0"/>
              </a:spcAft>
              <a:buNone/>
            </a:pPr>
            <a:r>
              <a:rPr i="1" lang="en-US" sz="1100" u="none" cap="none" strike="noStrike">
                <a:solidFill>
                  <a:srgbClr val="FFFFFF"/>
                </a:solidFill>
                <a:latin typeface="Montserrat"/>
                <a:ea typeface="Montserrat"/>
                <a:cs typeface="Montserrat"/>
                <a:sym typeface="Montserrat"/>
              </a:rPr>
              <a:t>Each imperative will be explored through focused executive sessions.</a:t>
            </a:r>
            <a:endParaRPr>
              <a:latin typeface="Montserrat"/>
              <a:ea typeface="Montserrat"/>
              <a:cs typeface="Montserrat"/>
              <a:sym typeface="Montserrat"/>
            </a:endParaRPr>
          </a:p>
        </p:txBody>
      </p:sp>
      <p:sp>
        <p:nvSpPr>
          <p:cNvPr id="188" name="Google Shape;188;g3eae049a994_1_21"/>
          <p:cNvSpPr/>
          <p:nvPr/>
        </p:nvSpPr>
        <p:spPr>
          <a:xfrm>
            <a:off x="502920" y="3246120"/>
            <a:ext cx="2161500" cy="2697600"/>
          </a:xfrm>
          <a:prstGeom prst="rect">
            <a:avLst/>
          </a:prstGeom>
          <a:solidFill>
            <a:srgbClr val="F4F4F4"/>
          </a:solidFill>
          <a:ln cap="flat" cmpd="sng" w="19050">
            <a:solidFill>
              <a:srgbClr val="E9713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9" name="Google Shape;189;g3eae049a994_1_21"/>
          <p:cNvSpPr/>
          <p:nvPr/>
        </p:nvSpPr>
        <p:spPr>
          <a:xfrm>
            <a:off x="502920" y="3246120"/>
            <a:ext cx="2161500" cy="91500"/>
          </a:xfrm>
          <a:prstGeom prst="rect">
            <a:avLst/>
          </a:prstGeom>
          <a:solidFill>
            <a:srgbClr val="E971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lt1"/>
              </a:solidFill>
              <a:latin typeface="Montserrat"/>
              <a:ea typeface="Montserrat"/>
              <a:cs typeface="Montserrat"/>
              <a:sym typeface="Montserrat"/>
            </a:endParaRPr>
          </a:p>
        </p:txBody>
      </p:sp>
      <p:sp>
        <p:nvSpPr>
          <p:cNvPr id="190" name="Google Shape;190;g3eae049a994_1_21"/>
          <p:cNvSpPr txBox="1"/>
          <p:nvPr/>
        </p:nvSpPr>
        <p:spPr>
          <a:xfrm>
            <a:off x="685800" y="3429000"/>
            <a:ext cx="5487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E97132"/>
                </a:solidFill>
                <a:latin typeface="Montserrat"/>
                <a:ea typeface="Montserrat"/>
                <a:cs typeface="Montserrat"/>
                <a:sym typeface="Montserrat"/>
              </a:rPr>
              <a:t>01</a:t>
            </a:r>
            <a:endParaRPr>
              <a:latin typeface="Montserrat"/>
              <a:ea typeface="Montserrat"/>
              <a:cs typeface="Montserrat"/>
              <a:sym typeface="Montserrat"/>
            </a:endParaRPr>
          </a:p>
        </p:txBody>
      </p:sp>
      <p:sp>
        <p:nvSpPr>
          <p:cNvPr id="191" name="Google Shape;191;g3eae049a994_1_21"/>
          <p:cNvSpPr txBox="1"/>
          <p:nvPr/>
        </p:nvSpPr>
        <p:spPr>
          <a:xfrm>
            <a:off x="685800" y="3886200"/>
            <a:ext cx="17958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A1A1A"/>
                </a:solidFill>
                <a:latin typeface="Montserrat"/>
                <a:ea typeface="Montserrat"/>
                <a:cs typeface="Montserrat"/>
                <a:sym typeface="Montserrat"/>
              </a:rPr>
              <a:t>Lead with</a:t>
            </a:r>
            <a:br>
              <a:rPr b="1" i="0" lang="en-US" sz="1800" u="none" cap="none" strike="noStrike">
                <a:solidFill>
                  <a:srgbClr val="1A1A1A"/>
                </a:solidFill>
                <a:latin typeface="Montserrat"/>
                <a:ea typeface="Montserrat"/>
                <a:cs typeface="Montserrat"/>
                <a:sym typeface="Montserrat"/>
              </a:rPr>
            </a:br>
            <a:r>
              <a:rPr b="1" i="0" lang="en-US" sz="1800" u="none" cap="none" strike="noStrike">
                <a:solidFill>
                  <a:srgbClr val="1A1A1A"/>
                </a:solidFill>
                <a:latin typeface="Montserrat"/>
                <a:ea typeface="Montserrat"/>
                <a:cs typeface="Montserrat"/>
                <a:sym typeface="Montserrat"/>
              </a:rPr>
              <a:t>Responsible AI</a:t>
            </a:r>
            <a:endParaRPr sz="1600">
              <a:latin typeface="Montserrat"/>
              <a:ea typeface="Montserrat"/>
              <a:cs typeface="Montserrat"/>
              <a:sym typeface="Montserrat"/>
            </a:endParaRPr>
          </a:p>
        </p:txBody>
      </p:sp>
      <p:sp>
        <p:nvSpPr>
          <p:cNvPr id="192" name="Google Shape;192;g3eae049a994_1_21"/>
          <p:cNvSpPr/>
          <p:nvPr/>
        </p:nvSpPr>
        <p:spPr>
          <a:xfrm>
            <a:off x="685800" y="4846320"/>
            <a:ext cx="411600" cy="15000"/>
          </a:xfrm>
          <a:prstGeom prst="rect">
            <a:avLst/>
          </a:prstGeom>
          <a:solidFill>
            <a:srgbClr val="E971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3" name="Google Shape;193;g3eae049a994_1_21"/>
          <p:cNvSpPr txBox="1"/>
          <p:nvPr/>
        </p:nvSpPr>
        <p:spPr>
          <a:xfrm>
            <a:off x="685800" y="4937760"/>
            <a:ext cx="17958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US" sz="1200">
                <a:solidFill>
                  <a:srgbClr val="1A1A1A"/>
                </a:solidFill>
                <a:latin typeface="Montserrat"/>
                <a:ea typeface="Montserrat"/>
                <a:cs typeface="Montserrat"/>
                <a:sym typeface="Montserrat"/>
              </a:rPr>
              <a:t>The AI Trust Imperative</a:t>
            </a:r>
            <a:endParaRPr sz="1200">
              <a:latin typeface="Montserrat"/>
              <a:ea typeface="Montserrat"/>
              <a:cs typeface="Montserrat"/>
              <a:sym typeface="Montserrat"/>
            </a:endParaRPr>
          </a:p>
        </p:txBody>
      </p:sp>
      <p:sp>
        <p:nvSpPr>
          <p:cNvPr id="194" name="Google Shape;194;g3eae049a994_1_21"/>
          <p:cNvSpPr/>
          <p:nvPr/>
        </p:nvSpPr>
        <p:spPr>
          <a:xfrm>
            <a:off x="2756001" y="3246120"/>
            <a:ext cx="2161500" cy="2697600"/>
          </a:xfrm>
          <a:prstGeom prst="rect">
            <a:avLst/>
          </a:prstGeom>
          <a:solidFill>
            <a:srgbClr val="F4F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lt1"/>
              </a:solidFill>
              <a:latin typeface="Montserrat"/>
              <a:ea typeface="Montserrat"/>
              <a:cs typeface="Montserrat"/>
              <a:sym typeface="Montserrat"/>
            </a:endParaRPr>
          </a:p>
        </p:txBody>
      </p:sp>
      <p:sp>
        <p:nvSpPr>
          <p:cNvPr id="195" name="Google Shape;195;g3eae049a994_1_21"/>
          <p:cNvSpPr/>
          <p:nvPr/>
        </p:nvSpPr>
        <p:spPr>
          <a:xfrm>
            <a:off x="2756001" y="3246120"/>
            <a:ext cx="2161500" cy="91500"/>
          </a:xfrm>
          <a:prstGeom prst="rect">
            <a:avLst/>
          </a:prstGeom>
          <a:solidFill>
            <a:srgbClr val="15608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6" name="Google Shape;196;g3eae049a994_1_21"/>
          <p:cNvSpPr txBox="1"/>
          <p:nvPr/>
        </p:nvSpPr>
        <p:spPr>
          <a:xfrm>
            <a:off x="2938881" y="3429000"/>
            <a:ext cx="5487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156082"/>
                </a:solidFill>
                <a:latin typeface="Montserrat"/>
                <a:ea typeface="Montserrat"/>
                <a:cs typeface="Montserrat"/>
                <a:sym typeface="Montserrat"/>
              </a:rPr>
              <a:t>02</a:t>
            </a:r>
            <a:endParaRPr>
              <a:latin typeface="Montserrat"/>
              <a:ea typeface="Montserrat"/>
              <a:cs typeface="Montserrat"/>
              <a:sym typeface="Montserrat"/>
            </a:endParaRPr>
          </a:p>
        </p:txBody>
      </p:sp>
      <p:sp>
        <p:nvSpPr>
          <p:cNvPr id="197" name="Google Shape;197;g3eae049a994_1_21"/>
          <p:cNvSpPr txBox="1"/>
          <p:nvPr/>
        </p:nvSpPr>
        <p:spPr>
          <a:xfrm>
            <a:off x="2831724" y="3886200"/>
            <a:ext cx="20859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A1A1A"/>
                </a:solidFill>
                <a:latin typeface="Montserrat"/>
                <a:ea typeface="Montserrat"/>
                <a:cs typeface="Montserrat"/>
                <a:sym typeface="Montserrat"/>
              </a:rPr>
              <a:t>AI Impact and Driving Outcomes</a:t>
            </a:r>
            <a:endParaRPr sz="1600">
              <a:latin typeface="Montserrat"/>
              <a:ea typeface="Montserrat"/>
              <a:cs typeface="Montserrat"/>
              <a:sym typeface="Montserrat"/>
            </a:endParaRPr>
          </a:p>
        </p:txBody>
      </p:sp>
      <p:sp>
        <p:nvSpPr>
          <p:cNvPr id="198" name="Google Shape;198;g3eae049a994_1_21"/>
          <p:cNvSpPr/>
          <p:nvPr/>
        </p:nvSpPr>
        <p:spPr>
          <a:xfrm>
            <a:off x="2938881" y="4846320"/>
            <a:ext cx="411600" cy="15000"/>
          </a:xfrm>
          <a:prstGeom prst="rect">
            <a:avLst/>
          </a:prstGeom>
          <a:solidFill>
            <a:srgbClr val="15608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9" name="Google Shape;199;g3eae049a994_1_21"/>
          <p:cNvSpPr txBox="1"/>
          <p:nvPr/>
        </p:nvSpPr>
        <p:spPr>
          <a:xfrm>
            <a:off x="2938874" y="4937750"/>
            <a:ext cx="19788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US" sz="1200">
                <a:solidFill>
                  <a:srgbClr val="1A1A1A"/>
                </a:solidFill>
                <a:latin typeface="Montserrat"/>
                <a:ea typeface="Montserrat"/>
                <a:cs typeface="Montserrat"/>
                <a:sym typeface="Montserrat"/>
              </a:rPr>
              <a:t>Quantifying AI's P&amp;L Impact from Hypothesis to Profit</a:t>
            </a:r>
            <a:endParaRPr sz="1200">
              <a:solidFill>
                <a:srgbClr val="1A1A1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1200">
              <a:solidFill>
                <a:srgbClr val="1A1A1A"/>
              </a:solidFill>
              <a:latin typeface="Montserrat"/>
              <a:ea typeface="Montserrat"/>
              <a:cs typeface="Montserrat"/>
              <a:sym typeface="Montserrat"/>
            </a:endParaRPr>
          </a:p>
          <a:p>
            <a:pPr indent="0" lvl="0" marL="0" marR="0" rtl="0" algn="l">
              <a:spcBef>
                <a:spcPts val="0"/>
              </a:spcBef>
              <a:spcAft>
                <a:spcPts val="0"/>
              </a:spcAft>
              <a:buNone/>
            </a:pPr>
            <a:r>
              <a:t/>
            </a:r>
            <a:endParaRPr sz="1200">
              <a:solidFill>
                <a:srgbClr val="1A1A1A"/>
              </a:solidFill>
              <a:latin typeface="Montserrat"/>
              <a:ea typeface="Montserrat"/>
              <a:cs typeface="Montserrat"/>
              <a:sym typeface="Montserrat"/>
            </a:endParaRPr>
          </a:p>
        </p:txBody>
      </p:sp>
      <p:sp>
        <p:nvSpPr>
          <p:cNvPr id="200" name="Google Shape;200;g3eae049a994_1_21"/>
          <p:cNvSpPr/>
          <p:nvPr/>
        </p:nvSpPr>
        <p:spPr>
          <a:xfrm>
            <a:off x="5009082" y="3246120"/>
            <a:ext cx="2161500" cy="2697600"/>
          </a:xfrm>
          <a:prstGeom prst="rect">
            <a:avLst/>
          </a:prstGeom>
          <a:solidFill>
            <a:srgbClr val="F4F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1" name="Google Shape;201;g3eae049a994_1_21"/>
          <p:cNvSpPr/>
          <p:nvPr/>
        </p:nvSpPr>
        <p:spPr>
          <a:xfrm>
            <a:off x="5009082" y="3246120"/>
            <a:ext cx="2161500" cy="91500"/>
          </a:xfrm>
          <a:prstGeom prst="rect">
            <a:avLst/>
          </a:prstGeom>
          <a:solidFill>
            <a:srgbClr val="0E2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2" name="Google Shape;202;g3eae049a994_1_21"/>
          <p:cNvSpPr txBox="1"/>
          <p:nvPr/>
        </p:nvSpPr>
        <p:spPr>
          <a:xfrm>
            <a:off x="5191962" y="3429000"/>
            <a:ext cx="5487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E2841"/>
                </a:solidFill>
                <a:latin typeface="Montserrat"/>
                <a:ea typeface="Montserrat"/>
                <a:cs typeface="Montserrat"/>
                <a:sym typeface="Montserrat"/>
              </a:rPr>
              <a:t>03</a:t>
            </a:r>
            <a:endParaRPr>
              <a:latin typeface="Montserrat"/>
              <a:ea typeface="Montserrat"/>
              <a:cs typeface="Montserrat"/>
              <a:sym typeface="Montserrat"/>
            </a:endParaRPr>
          </a:p>
        </p:txBody>
      </p:sp>
      <p:sp>
        <p:nvSpPr>
          <p:cNvPr id="203" name="Google Shape;203;g3eae049a994_1_21"/>
          <p:cNvSpPr txBox="1"/>
          <p:nvPr/>
        </p:nvSpPr>
        <p:spPr>
          <a:xfrm>
            <a:off x="5115410" y="3886200"/>
            <a:ext cx="21615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A1A1A"/>
                </a:solidFill>
                <a:latin typeface="Montserrat"/>
                <a:ea typeface="Montserrat"/>
                <a:cs typeface="Montserrat"/>
                <a:sym typeface="Montserrat"/>
              </a:rPr>
              <a:t>The AI Operating Model</a:t>
            </a:r>
            <a:endParaRPr sz="1600">
              <a:latin typeface="Montserrat"/>
              <a:ea typeface="Montserrat"/>
              <a:cs typeface="Montserrat"/>
              <a:sym typeface="Montserrat"/>
            </a:endParaRPr>
          </a:p>
        </p:txBody>
      </p:sp>
      <p:sp>
        <p:nvSpPr>
          <p:cNvPr id="204" name="Google Shape;204;g3eae049a994_1_21"/>
          <p:cNvSpPr/>
          <p:nvPr/>
        </p:nvSpPr>
        <p:spPr>
          <a:xfrm>
            <a:off x="5191962" y="4846320"/>
            <a:ext cx="411600" cy="15000"/>
          </a:xfrm>
          <a:prstGeom prst="rect">
            <a:avLst/>
          </a:prstGeom>
          <a:solidFill>
            <a:srgbClr val="0E2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5" name="Google Shape;205;g3eae049a994_1_21"/>
          <p:cNvSpPr txBox="1"/>
          <p:nvPr/>
        </p:nvSpPr>
        <p:spPr>
          <a:xfrm>
            <a:off x="5191962" y="4937760"/>
            <a:ext cx="1795800" cy="738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1A1A1A"/>
                </a:solidFill>
                <a:latin typeface="Montserrat"/>
                <a:ea typeface="Montserrat"/>
                <a:cs typeface="Montserrat"/>
                <a:sym typeface="Montserrat"/>
              </a:rPr>
              <a:t>People Readiness Lessons for Architecting the AI-Native Organization</a:t>
            </a:r>
            <a:endParaRPr>
              <a:latin typeface="Montserrat"/>
              <a:ea typeface="Montserrat"/>
              <a:cs typeface="Montserrat"/>
              <a:sym typeface="Montserrat"/>
            </a:endParaRPr>
          </a:p>
        </p:txBody>
      </p:sp>
      <p:sp>
        <p:nvSpPr>
          <p:cNvPr id="206" name="Google Shape;206;g3eae049a994_1_21"/>
          <p:cNvSpPr/>
          <p:nvPr/>
        </p:nvSpPr>
        <p:spPr>
          <a:xfrm>
            <a:off x="7262163" y="3246120"/>
            <a:ext cx="2161500" cy="2697600"/>
          </a:xfrm>
          <a:prstGeom prst="rect">
            <a:avLst/>
          </a:prstGeom>
          <a:solidFill>
            <a:srgbClr val="F4F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7" name="Google Shape;207;g3eae049a994_1_21"/>
          <p:cNvSpPr/>
          <p:nvPr/>
        </p:nvSpPr>
        <p:spPr>
          <a:xfrm>
            <a:off x="7262163" y="3246120"/>
            <a:ext cx="2161500" cy="91500"/>
          </a:xfrm>
          <a:prstGeom prst="rect">
            <a:avLst/>
          </a:prstGeom>
          <a:solidFill>
            <a:srgbClr val="6D2E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8" name="Google Shape;208;g3eae049a994_1_21"/>
          <p:cNvSpPr txBox="1"/>
          <p:nvPr/>
        </p:nvSpPr>
        <p:spPr>
          <a:xfrm>
            <a:off x="7445043" y="3429000"/>
            <a:ext cx="5487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6D2E46"/>
                </a:solidFill>
                <a:latin typeface="Montserrat"/>
                <a:ea typeface="Montserrat"/>
                <a:cs typeface="Montserrat"/>
                <a:sym typeface="Montserrat"/>
              </a:rPr>
              <a:t>04</a:t>
            </a:r>
            <a:endParaRPr>
              <a:latin typeface="Montserrat"/>
              <a:ea typeface="Montserrat"/>
              <a:cs typeface="Montserrat"/>
              <a:sym typeface="Montserrat"/>
            </a:endParaRPr>
          </a:p>
        </p:txBody>
      </p:sp>
      <p:sp>
        <p:nvSpPr>
          <p:cNvPr id="209" name="Google Shape;209;g3eae049a994_1_21"/>
          <p:cNvSpPr txBox="1"/>
          <p:nvPr/>
        </p:nvSpPr>
        <p:spPr>
          <a:xfrm>
            <a:off x="7445043" y="3886200"/>
            <a:ext cx="17958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A1A1A"/>
                </a:solidFill>
                <a:latin typeface="Montserrat"/>
                <a:ea typeface="Montserrat"/>
                <a:cs typeface="Montserrat"/>
                <a:sym typeface="Montserrat"/>
              </a:rPr>
              <a:t>Operationalize</a:t>
            </a:r>
            <a:br>
              <a:rPr b="1" i="0" lang="en-US" sz="1800" u="none" cap="none" strike="noStrike">
                <a:solidFill>
                  <a:srgbClr val="1A1A1A"/>
                </a:solidFill>
                <a:latin typeface="Montserrat"/>
                <a:ea typeface="Montserrat"/>
                <a:cs typeface="Montserrat"/>
                <a:sym typeface="Montserrat"/>
              </a:rPr>
            </a:br>
            <a:r>
              <a:rPr b="1" i="0" lang="en-US" sz="1800" u="none" cap="none" strike="noStrike">
                <a:solidFill>
                  <a:srgbClr val="1A1A1A"/>
                </a:solidFill>
                <a:latin typeface="Montserrat"/>
                <a:ea typeface="Montserrat"/>
                <a:cs typeface="Montserrat"/>
                <a:sym typeface="Montserrat"/>
              </a:rPr>
              <a:t>the AI Lifecycle</a:t>
            </a:r>
            <a:endParaRPr sz="1600">
              <a:latin typeface="Montserrat"/>
              <a:ea typeface="Montserrat"/>
              <a:cs typeface="Montserrat"/>
              <a:sym typeface="Montserrat"/>
            </a:endParaRPr>
          </a:p>
        </p:txBody>
      </p:sp>
      <p:sp>
        <p:nvSpPr>
          <p:cNvPr id="210" name="Google Shape;210;g3eae049a994_1_21"/>
          <p:cNvSpPr/>
          <p:nvPr/>
        </p:nvSpPr>
        <p:spPr>
          <a:xfrm>
            <a:off x="7445043" y="4846320"/>
            <a:ext cx="411600" cy="15000"/>
          </a:xfrm>
          <a:prstGeom prst="rect">
            <a:avLst/>
          </a:prstGeom>
          <a:solidFill>
            <a:srgbClr val="6D2E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1" name="Google Shape;211;g3eae049a994_1_21"/>
          <p:cNvSpPr txBox="1"/>
          <p:nvPr/>
        </p:nvSpPr>
        <p:spPr>
          <a:xfrm>
            <a:off x="7445043" y="4937760"/>
            <a:ext cx="1795800" cy="738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200" u="none" cap="none" strike="noStrike">
                <a:solidFill>
                  <a:srgbClr val="1A1A1A"/>
                </a:solidFill>
                <a:latin typeface="Montserrat"/>
                <a:ea typeface="Montserrat"/>
                <a:cs typeface="Montserrat"/>
                <a:sym typeface="Montserrat"/>
              </a:rPr>
              <a:t>Manage platforms, and AI capability design, develop, test, operate with the </a:t>
            </a:r>
            <a:r>
              <a:rPr lang="en-US" sz="1200">
                <a:solidFill>
                  <a:srgbClr val="1A1A1A"/>
                </a:solidFill>
                <a:latin typeface="Montserrat"/>
                <a:ea typeface="Montserrat"/>
                <a:cs typeface="Montserrat"/>
                <a:sym typeface="Montserrat"/>
              </a:rPr>
              <a:t>higher</a:t>
            </a:r>
            <a:r>
              <a:rPr i="0" lang="en-US" sz="1200" u="none" cap="none" strike="noStrike">
                <a:solidFill>
                  <a:srgbClr val="1A1A1A"/>
                </a:solidFill>
                <a:latin typeface="Montserrat"/>
                <a:ea typeface="Montserrat"/>
                <a:cs typeface="Montserrat"/>
                <a:sym typeface="Montserrat"/>
              </a:rPr>
              <a:t> rigor</a:t>
            </a:r>
            <a:r>
              <a:rPr lang="en-US" sz="1200">
                <a:solidFill>
                  <a:srgbClr val="1A1A1A"/>
                </a:solidFill>
                <a:latin typeface="Montserrat"/>
                <a:ea typeface="Montserrat"/>
                <a:cs typeface="Montserrat"/>
                <a:sym typeface="Montserrat"/>
              </a:rPr>
              <a:t>.</a:t>
            </a:r>
            <a:endParaRPr>
              <a:latin typeface="Montserrat"/>
              <a:ea typeface="Montserrat"/>
              <a:cs typeface="Montserrat"/>
              <a:sym typeface="Montserrat"/>
            </a:endParaRPr>
          </a:p>
        </p:txBody>
      </p:sp>
      <p:sp>
        <p:nvSpPr>
          <p:cNvPr id="212" name="Google Shape;212;g3eae049a994_1_21"/>
          <p:cNvSpPr/>
          <p:nvPr/>
        </p:nvSpPr>
        <p:spPr>
          <a:xfrm>
            <a:off x="9515244" y="3246120"/>
            <a:ext cx="2161500" cy="2697600"/>
          </a:xfrm>
          <a:prstGeom prst="rect">
            <a:avLst/>
          </a:prstGeom>
          <a:solidFill>
            <a:srgbClr val="F4F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lt1"/>
              </a:solidFill>
              <a:latin typeface="Calibri"/>
              <a:ea typeface="Calibri"/>
              <a:cs typeface="Calibri"/>
              <a:sym typeface="Calibri"/>
            </a:endParaRPr>
          </a:p>
        </p:txBody>
      </p:sp>
      <p:sp>
        <p:nvSpPr>
          <p:cNvPr id="213" name="Google Shape;213;g3eae049a994_1_21"/>
          <p:cNvSpPr/>
          <p:nvPr/>
        </p:nvSpPr>
        <p:spPr>
          <a:xfrm>
            <a:off x="9515244" y="3246120"/>
            <a:ext cx="2161500" cy="91500"/>
          </a:xfrm>
          <a:prstGeom prst="rect">
            <a:avLst/>
          </a:prstGeom>
          <a:solidFill>
            <a:srgbClr val="4EA7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4" name="Google Shape;214;g3eae049a994_1_21"/>
          <p:cNvSpPr txBox="1"/>
          <p:nvPr/>
        </p:nvSpPr>
        <p:spPr>
          <a:xfrm>
            <a:off x="9698124" y="3429000"/>
            <a:ext cx="5487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4EA72E"/>
                </a:solidFill>
                <a:latin typeface="Montserrat"/>
                <a:ea typeface="Montserrat"/>
                <a:cs typeface="Montserrat"/>
                <a:sym typeface="Montserrat"/>
              </a:rPr>
              <a:t>05</a:t>
            </a:r>
            <a:endParaRPr>
              <a:latin typeface="Montserrat"/>
              <a:ea typeface="Montserrat"/>
              <a:cs typeface="Montserrat"/>
              <a:sym typeface="Montserrat"/>
            </a:endParaRPr>
          </a:p>
        </p:txBody>
      </p:sp>
      <p:sp>
        <p:nvSpPr>
          <p:cNvPr id="215" name="Google Shape;215;g3eae049a994_1_21"/>
          <p:cNvSpPr txBox="1"/>
          <p:nvPr/>
        </p:nvSpPr>
        <p:spPr>
          <a:xfrm>
            <a:off x="9698124" y="3886200"/>
            <a:ext cx="17958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A1A1A"/>
                </a:solidFill>
                <a:latin typeface="Montserrat"/>
                <a:ea typeface="Montserrat"/>
                <a:cs typeface="Montserrat"/>
                <a:sym typeface="Montserrat"/>
              </a:rPr>
              <a:t>Vendors</a:t>
            </a:r>
            <a:br>
              <a:rPr b="1" i="0" lang="en-US" sz="1800" u="none" cap="none" strike="noStrike">
                <a:solidFill>
                  <a:srgbClr val="1A1A1A"/>
                </a:solidFill>
                <a:latin typeface="Montserrat"/>
                <a:ea typeface="Montserrat"/>
                <a:cs typeface="Montserrat"/>
                <a:sym typeface="Montserrat"/>
              </a:rPr>
            </a:br>
            <a:r>
              <a:rPr b="1" i="0" lang="en-US" sz="1800" u="none" cap="none" strike="noStrike">
                <a:solidFill>
                  <a:srgbClr val="1A1A1A"/>
                </a:solidFill>
                <a:latin typeface="Montserrat"/>
                <a:ea typeface="Montserrat"/>
                <a:cs typeface="Montserrat"/>
                <a:sym typeface="Montserrat"/>
              </a:rPr>
              <a:t>&amp; Partners</a:t>
            </a:r>
            <a:endParaRPr sz="1600">
              <a:latin typeface="Montserrat"/>
              <a:ea typeface="Montserrat"/>
              <a:cs typeface="Montserrat"/>
              <a:sym typeface="Montserrat"/>
            </a:endParaRPr>
          </a:p>
        </p:txBody>
      </p:sp>
      <p:sp>
        <p:nvSpPr>
          <p:cNvPr id="216" name="Google Shape;216;g3eae049a994_1_21"/>
          <p:cNvSpPr/>
          <p:nvPr/>
        </p:nvSpPr>
        <p:spPr>
          <a:xfrm>
            <a:off x="9698124" y="4846320"/>
            <a:ext cx="411600" cy="15000"/>
          </a:xfrm>
          <a:prstGeom prst="rect">
            <a:avLst/>
          </a:prstGeom>
          <a:solidFill>
            <a:srgbClr val="4EA7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7" name="Google Shape;217;g3eae049a994_1_21"/>
          <p:cNvSpPr txBox="1"/>
          <p:nvPr/>
        </p:nvSpPr>
        <p:spPr>
          <a:xfrm>
            <a:off x="9698125" y="4937750"/>
            <a:ext cx="1945500" cy="923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200" u="none" cap="none" strike="noStrike">
                <a:solidFill>
                  <a:srgbClr val="1A1A1A"/>
                </a:solidFill>
                <a:latin typeface="Montserrat"/>
                <a:ea typeface="Montserrat"/>
                <a:cs typeface="Montserrat"/>
                <a:sym typeface="Montserrat"/>
              </a:rPr>
              <a:t>Why partnerships are crucial </a:t>
            </a:r>
            <a:r>
              <a:rPr lang="en-US" sz="1200">
                <a:solidFill>
                  <a:srgbClr val="1A1A1A"/>
                </a:solidFill>
                <a:latin typeface="Montserrat"/>
                <a:ea typeface="Montserrat"/>
                <a:cs typeface="Montserrat"/>
                <a:sym typeface="Montserrat"/>
              </a:rPr>
              <a:t>for </a:t>
            </a:r>
            <a:r>
              <a:rPr i="0" lang="en-US" sz="1200" u="none" cap="none" strike="noStrike">
                <a:solidFill>
                  <a:srgbClr val="1A1A1A"/>
                </a:solidFill>
                <a:latin typeface="Montserrat"/>
                <a:ea typeface="Montserrat"/>
                <a:cs typeface="Montserrat"/>
                <a:sym typeface="Montserrat"/>
              </a:rPr>
              <a:t> enterprise AI to scale, and how to select the right partners across the value chain.</a:t>
            </a:r>
            <a:endParaRPr>
              <a:latin typeface="Montserrat"/>
              <a:ea typeface="Montserrat"/>
              <a:cs typeface="Montserrat"/>
              <a:sym typeface="Montserrat"/>
            </a:endParaRPr>
          </a:p>
        </p:txBody>
      </p:sp>
      <p:sp>
        <p:nvSpPr>
          <p:cNvPr id="218" name="Google Shape;218;g3eae049a994_1_21"/>
          <p:cNvSpPr txBox="1"/>
          <p:nvPr/>
        </p:nvSpPr>
        <p:spPr>
          <a:xfrm>
            <a:off x="10058400" y="6446520"/>
            <a:ext cx="1828800" cy="13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u="none" cap="none" strike="noStrike">
                <a:solidFill>
                  <a:srgbClr val="555555"/>
                </a:solidFill>
                <a:latin typeface="Calibri"/>
                <a:ea typeface="Calibri"/>
                <a:cs typeface="Calibri"/>
                <a:sym typeface="Calibri"/>
              </a:rPr>
              <a:t>1</a:t>
            </a:r>
            <a:endParaRPr/>
          </a:p>
        </p:txBody>
      </p:sp>
      <p:pic>
        <p:nvPicPr>
          <p:cNvPr descr="Logo&#10;&#10;Description automatically generated" id="219" name="Google Shape;219;g3eae049a994_1_21"/>
          <p:cNvPicPr preferRelativeResize="0"/>
          <p:nvPr/>
        </p:nvPicPr>
        <p:blipFill rotWithShape="1">
          <a:blip r:embed="rId3">
            <a:alphaModFix/>
          </a:blip>
          <a:srcRect b="0" l="0" r="0" t="0"/>
          <a:stretch/>
        </p:blipFill>
        <p:spPr>
          <a:xfrm>
            <a:off x="11105367" y="0"/>
            <a:ext cx="1073201" cy="1087137"/>
          </a:xfrm>
          <a:prstGeom prst="rect">
            <a:avLst/>
          </a:prstGeom>
          <a:noFill/>
          <a:ln>
            <a:noFill/>
          </a:ln>
        </p:spPr>
      </p:pic>
      <p:sp>
        <p:nvSpPr>
          <p:cNvPr id="220" name="Google Shape;220;g3eae049a994_1_21"/>
          <p:cNvSpPr/>
          <p:nvPr/>
        </p:nvSpPr>
        <p:spPr>
          <a:xfrm>
            <a:off x="0" y="6368133"/>
            <a:ext cx="12216300" cy="489900"/>
          </a:xfrm>
          <a:prstGeom prst="round2SameRect">
            <a:avLst>
              <a:gd fmla="val 47728" name="adj1"/>
              <a:gd fmla="val 0" name="adj2"/>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Clr>
                <a:schemeClr val="dk1"/>
              </a:buClr>
              <a:buFont typeface="Arial"/>
              <a:buNone/>
            </a:pPr>
            <a:r>
              <a:rPr b="1" lang="en-US" sz="1000">
                <a:solidFill>
                  <a:schemeClr val="lt1"/>
                </a:solidFill>
                <a:latin typeface="Montserrat"/>
                <a:ea typeface="Montserrat"/>
                <a:cs typeface="Montserrat"/>
                <a:sym typeface="Montserrat"/>
              </a:rPr>
              <a:t>T200 AI Leadership &amp; Governance Series  |  2026								www.t200.org</a:t>
            </a:r>
            <a:endParaRPr b="1" i="0" sz="10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eae049a994_1_14"/>
          <p:cNvSpPr txBox="1"/>
          <p:nvPr/>
        </p:nvSpPr>
        <p:spPr>
          <a:xfrm>
            <a:off x="1773300" y="2988450"/>
            <a:ext cx="8645400" cy="8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Poll: Are responsible AI and governance practices established in your organization?</a:t>
            </a:r>
            <a:endParaRPr sz="3200">
              <a:solidFill>
                <a:schemeClr val="dk1"/>
              </a:solidFill>
              <a:latin typeface="Calibri"/>
              <a:ea typeface="Calibri"/>
              <a:cs typeface="Calibri"/>
              <a:sym typeface="Calibri"/>
            </a:endParaRPr>
          </a:p>
        </p:txBody>
      </p:sp>
      <p:pic>
        <p:nvPicPr>
          <p:cNvPr descr="Logo&#10;&#10;Description automatically generated" id="226" name="Google Shape;226;g3eae049a994_1_14"/>
          <p:cNvPicPr preferRelativeResize="0"/>
          <p:nvPr/>
        </p:nvPicPr>
        <p:blipFill rotWithShape="1">
          <a:blip r:embed="rId3">
            <a:alphaModFix/>
          </a:blip>
          <a:srcRect b="0" l="0" r="0" t="0"/>
          <a:stretch/>
        </p:blipFill>
        <p:spPr>
          <a:xfrm>
            <a:off x="11105367" y="0"/>
            <a:ext cx="1073201" cy="108713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sp>
        <p:nvSpPr>
          <p:cNvPr id="232" name="Google Shape;232;g3eaf5b54de6_3_0"/>
          <p:cNvSpPr/>
          <p:nvPr/>
        </p:nvSpPr>
        <p:spPr>
          <a:xfrm>
            <a:off x="9144000" y="6437376"/>
            <a:ext cx="2865120" cy="268224"/>
          </a:xfrm>
          <a:prstGeom prst="rect">
            <a:avLst/>
          </a:prstGeom>
          <a:noFill/>
          <a:ln>
            <a:noFill/>
          </a:ln>
        </p:spPr>
        <p:txBody>
          <a:bodyPr anchorCtr="0" anchor="ctr" bIns="60925" lIns="121900" spcFirstLastPara="1" rIns="121900" wrap="square" tIns="60925">
            <a:noAutofit/>
          </a:bodyPr>
          <a:lstStyle/>
          <a:p>
            <a:pPr indent="0" lvl="0" marL="0" marR="0" rtl="0" algn="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www.t200.org</a:t>
            </a:r>
            <a:endParaRPr b="0" i="0" sz="1000" u="none" cap="none" strike="noStrike">
              <a:solidFill>
                <a:schemeClr val="dk1"/>
              </a:solidFill>
              <a:latin typeface="Calibri"/>
              <a:ea typeface="Calibri"/>
              <a:cs typeface="Calibri"/>
              <a:sym typeface="Calibri"/>
            </a:endParaRPr>
          </a:p>
        </p:txBody>
      </p:sp>
      <p:sp>
        <p:nvSpPr>
          <p:cNvPr id="233" name="Google Shape;233;g3eaf5b54de6_3_0"/>
          <p:cNvSpPr/>
          <p:nvPr/>
        </p:nvSpPr>
        <p:spPr>
          <a:xfrm>
            <a:off x="365760" y="390144"/>
            <a:ext cx="10485120" cy="536448"/>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E2841"/>
              </a:buClr>
              <a:buSzPts val="2900"/>
              <a:buFont typeface="Arial"/>
              <a:buNone/>
            </a:pPr>
            <a:r>
              <a:rPr b="1" i="0" lang="en-US" sz="2900" u="none" cap="none" strike="noStrike">
                <a:solidFill>
                  <a:srgbClr val="0E2841"/>
                </a:solidFill>
                <a:latin typeface="Arial"/>
                <a:ea typeface="Arial"/>
                <a:cs typeface="Arial"/>
                <a:sym typeface="Arial"/>
              </a:rPr>
              <a:t>The AI Governance Gap Is </a:t>
            </a:r>
            <a:r>
              <a:rPr b="1" lang="en-US" sz="2900">
                <a:solidFill>
                  <a:srgbClr val="0E2841"/>
                </a:solidFill>
              </a:rPr>
              <a:t>Impacting </a:t>
            </a:r>
            <a:r>
              <a:rPr b="1" i="0" lang="en-US" sz="2900" u="none" cap="none" strike="noStrike">
                <a:solidFill>
                  <a:srgbClr val="0E2841"/>
                </a:solidFill>
                <a:latin typeface="Arial"/>
                <a:ea typeface="Arial"/>
                <a:cs typeface="Arial"/>
                <a:sym typeface="Arial"/>
              </a:rPr>
              <a:t>Organizations</a:t>
            </a:r>
            <a:endParaRPr b="0" i="0" sz="2900" u="none" cap="none" strike="noStrike">
              <a:solidFill>
                <a:schemeClr val="dk1"/>
              </a:solidFill>
              <a:latin typeface="Calibri"/>
              <a:ea typeface="Calibri"/>
              <a:cs typeface="Calibri"/>
              <a:sym typeface="Calibri"/>
            </a:endParaRPr>
          </a:p>
        </p:txBody>
      </p:sp>
      <p:sp>
        <p:nvSpPr>
          <p:cNvPr id="234" name="Google Shape;234;g3eaf5b54de6_3_0"/>
          <p:cNvSpPr/>
          <p:nvPr/>
        </p:nvSpPr>
        <p:spPr>
          <a:xfrm>
            <a:off x="365760" y="926592"/>
            <a:ext cx="1121664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555555"/>
              </a:buClr>
              <a:buSzPts val="1200"/>
              <a:buFont typeface="Calibri"/>
              <a:buNone/>
            </a:pPr>
            <a:r>
              <a:rPr i="1" lang="en-US" sz="1300" u="none" cap="none" strike="noStrike">
                <a:solidFill>
                  <a:srgbClr val="555555"/>
                </a:solidFill>
                <a:latin typeface="Montserrat"/>
                <a:ea typeface="Montserrat"/>
                <a:cs typeface="Montserrat"/>
                <a:sym typeface="Montserrat"/>
              </a:rPr>
              <a:t>Adoption is accelerating. Governance readiness is not keeping pace. The costs are no longer hypothetical.</a:t>
            </a:r>
            <a:endParaRPr i="0" sz="1300" u="none" cap="none" strike="noStrike">
              <a:solidFill>
                <a:schemeClr val="dk1"/>
              </a:solidFill>
              <a:latin typeface="Montserrat"/>
              <a:ea typeface="Montserrat"/>
              <a:cs typeface="Montserrat"/>
              <a:sym typeface="Montserrat"/>
            </a:endParaRPr>
          </a:p>
        </p:txBody>
      </p:sp>
      <p:sp>
        <p:nvSpPr>
          <p:cNvPr id="235" name="Google Shape;235;g3eaf5b54de6_3_0"/>
          <p:cNvSpPr/>
          <p:nvPr/>
        </p:nvSpPr>
        <p:spPr>
          <a:xfrm>
            <a:off x="646925" y="1142194"/>
            <a:ext cx="2179200" cy="9510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7200"/>
              <a:buFont typeface="Arial"/>
              <a:buNone/>
            </a:pPr>
            <a:r>
              <a:rPr b="1" i="0" lang="en-US" sz="4400" u="none" cap="none" strike="noStrike">
                <a:solidFill>
                  <a:srgbClr val="156082"/>
                </a:solidFill>
                <a:latin typeface="Montserrat"/>
                <a:ea typeface="Montserrat"/>
                <a:cs typeface="Montserrat"/>
                <a:sym typeface="Montserrat"/>
              </a:rPr>
              <a:t>50</a:t>
            </a:r>
            <a:r>
              <a:rPr b="1" i="0" lang="en-US" sz="4400" u="none" cap="none" strike="noStrike">
                <a:solidFill>
                  <a:srgbClr val="156082"/>
                </a:solidFill>
                <a:latin typeface="Montserrat"/>
                <a:ea typeface="Montserrat"/>
                <a:cs typeface="Montserrat"/>
                <a:sym typeface="Montserrat"/>
              </a:rPr>
              <a:t>%</a:t>
            </a:r>
            <a:endParaRPr i="0" sz="4400" u="none" cap="none" strike="noStrike">
              <a:solidFill>
                <a:srgbClr val="156082"/>
              </a:solidFill>
              <a:latin typeface="Montserrat"/>
              <a:ea typeface="Montserrat"/>
              <a:cs typeface="Montserrat"/>
              <a:sym typeface="Montserrat"/>
            </a:endParaRPr>
          </a:p>
        </p:txBody>
      </p:sp>
      <p:sp>
        <p:nvSpPr>
          <p:cNvPr id="236" name="Google Shape;236;g3eaf5b54de6_3_0"/>
          <p:cNvSpPr/>
          <p:nvPr/>
        </p:nvSpPr>
        <p:spPr>
          <a:xfrm>
            <a:off x="6" y="2040558"/>
            <a:ext cx="3535800" cy="243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AAAAAA"/>
              </a:buClr>
              <a:buSzPts val="1200"/>
              <a:buFont typeface="Calibri"/>
              <a:buNone/>
            </a:pPr>
            <a:r>
              <a:rPr i="0" lang="en-US" sz="1500" u="none" cap="none" strike="noStrike">
                <a:solidFill>
                  <a:srgbClr val="156082"/>
                </a:solidFill>
                <a:latin typeface="Montserrat"/>
                <a:ea typeface="Montserrat"/>
                <a:cs typeface="Montserrat"/>
                <a:sym typeface="Montserrat"/>
              </a:rPr>
              <a:t>of CIOs</a:t>
            </a:r>
            <a:endParaRPr i="0" sz="1500" u="none" cap="none" strike="noStrike">
              <a:solidFill>
                <a:srgbClr val="156082"/>
              </a:solidFill>
              <a:latin typeface="Montserrat"/>
              <a:ea typeface="Montserrat"/>
              <a:cs typeface="Montserrat"/>
              <a:sym typeface="Montserrat"/>
            </a:endParaRPr>
          </a:p>
        </p:txBody>
      </p:sp>
      <p:sp>
        <p:nvSpPr>
          <p:cNvPr id="237" name="Google Shape;237;g3eaf5b54de6_3_0"/>
          <p:cNvSpPr/>
          <p:nvPr/>
        </p:nvSpPr>
        <p:spPr>
          <a:xfrm>
            <a:off x="146310" y="2279919"/>
            <a:ext cx="3243000" cy="829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Clr>
                <a:srgbClr val="FFFFFF"/>
              </a:buClr>
              <a:buSzPts val="1300"/>
              <a:buFont typeface="Calibri"/>
              <a:buNone/>
            </a:pPr>
            <a:r>
              <a:rPr b="1" i="0" lang="en-US" u="none" cap="none" strike="noStrike">
                <a:solidFill>
                  <a:srgbClr val="156082"/>
                </a:solidFill>
                <a:latin typeface="Montserrat"/>
                <a:ea typeface="Montserrat"/>
                <a:cs typeface="Montserrat"/>
                <a:sym typeface="Montserrat"/>
              </a:rPr>
              <a:t>lack confidence in their ability to execute against agentic AI priorities</a:t>
            </a:r>
            <a:endParaRPr i="0" u="none" cap="none" strike="noStrike">
              <a:solidFill>
                <a:srgbClr val="156082"/>
              </a:solidFill>
              <a:latin typeface="Montserrat"/>
              <a:ea typeface="Montserrat"/>
              <a:cs typeface="Montserrat"/>
              <a:sym typeface="Montserrat"/>
            </a:endParaRPr>
          </a:p>
        </p:txBody>
      </p:sp>
      <p:sp>
        <p:nvSpPr>
          <p:cNvPr id="238" name="Google Shape;238;g3eaf5b54de6_3_0"/>
          <p:cNvSpPr/>
          <p:nvPr/>
        </p:nvSpPr>
        <p:spPr>
          <a:xfrm>
            <a:off x="-31364" y="2974835"/>
            <a:ext cx="3535800" cy="1950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888888"/>
              </a:buClr>
              <a:buSzPts val="900"/>
              <a:buFont typeface="Calibri"/>
              <a:buNone/>
            </a:pPr>
            <a:r>
              <a:rPr i="1" lang="en-US" sz="1000" u="none" cap="none" strike="noStrike">
                <a:solidFill>
                  <a:srgbClr val="1A1A1A"/>
                </a:solidFill>
                <a:latin typeface="Montserrat"/>
                <a:ea typeface="Montserrat"/>
                <a:cs typeface="Montserrat"/>
                <a:sym typeface="Montserrat"/>
              </a:rPr>
              <a:t>Source: Gartner, 2026</a:t>
            </a:r>
            <a:endParaRPr i="0" sz="1000" u="none" cap="none" strike="noStrike">
              <a:solidFill>
                <a:srgbClr val="1A1A1A"/>
              </a:solidFill>
              <a:latin typeface="Montserrat"/>
              <a:ea typeface="Montserrat"/>
              <a:cs typeface="Montserrat"/>
              <a:sym typeface="Montserrat"/>
            </a:endParaRPr>
          </a:p>
        </p:txBody>
      </p:sp>
      <p:sp>
        <p:nvSpPr>
          <p:cNvPr id="239" name="Google Shape;239;g3eaf5b54de6_3_0"/>
          <p:cNvSpPr/>
          <p:nvPr/>
        </p:nvSpPr>
        <p:spPr>
          <a:xfrm>
            <a:off x="4218435" y="2011695"/>
            <a:ext cx="3535800" cy="243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AECE7"/>
              </a:buClr>
              <a:buSzPts val="1200"/>
              <a:buFont typeface="Calibri"/>
              <a:buNone/>
            </a:pPr>
            <a:r>
              <a:rPr i="0" lang="en-US" sz="1500" u="none" cap="none" strike="noStrike">
                <a:solidFill>
                  <a:srgbClr val="156082"/>
                </a:solidFill>
                <a:latin typeface="Montserrat"/>
                <a:ea typeface="Montserrat"/>
                <a:cs typeface="Montserrat"/>
                <a:sym typeface="Montserrat"/>
              </a:rPr>
              <a:t>of brands</a:t>
            </a:r>
            <a:endParaRPr i="0" sz="1500" u="none" cap="none" strike="noStrike">
              <a:solidFill>
                <a:srgbClr val="156082"/>
              </a:solidFill>
              <a:latin typeface="Montserrat"/>
              <a:ea typeface="Montserrat"/>
              <a:cs typeface="Montserrat"/>
              <a:sym typeface="Montserrat"/>
            </a:endParaRPr>
          </a:p>
        </p:txBody>
      </p:sp>
      <p:sp>
        <p:nvSpPr>
          <p:cNvPr id="240" name="Google Shape;240;g3eaf5b54de6_3_0"/>
          <p:cNvSpPr/>
          <p:nvPr/>
        </p:nvSpPr>
        <p:spPr>
          <a:xfrm>
            <a:off x="4364838" y="2279919"/>
            <a:ext cx="3243000" cy="5364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Clr>
                <a:srgbClr val="FFFFFF"/>
              </a:buClr>
              <a:buSzPts val="1300"/>
              <a:buFont typeface="Calibri"/>
              <a:buNone/>
            </a:pPr>
            <a:r>
              <a:rPr b="1" i="0" lang="en-US" u="none" cap="none" strike="noStrike">
                <a:solidFill>
                  <a:srgbClr val="156082"/>
                </a:solidFill>
                <a:latin typeface="Montserrat"/>
                <a:ea typeface="Montserrat"/>
                <a:cs typeface="Montserrat"/>
                <a:sym typeface="Montserrat"/>
              </a:rPr>
              <a:t>will use Agentic AI for customer interactions by 2028</a:t>
            </a:r>
            <a:endParaRPr i="0" u="none" cap="none" strike="noStrike">
              <a:solidFill>
                <a:srgbClr val="156082"/>
              </a:solidFill>
              <a:latin typeface="Montserrat"/>
              <a:ea typeface="Montserrat"/>
              <a:cs typeface="Montserrat"/>
              <a:sym typeface="Montserrat"/>
            </a:endParaRPr>
          </a:p>
        </p:txBody>
      </p:sp>
      <p:sp>
        <p:nvSpPr>
          <p:cNvPr id="241" name="Google Shape;241;g3eaf5b54de6_3_0"/>
          <p:cNvSpPr/>
          <p:nvPr/>
        </p:nvSpPr>
        <p:spPr>
          <a:xfrm>
            <a:off x="4279385" y="2974835"/>
            <a:ext cx="3535800" cy="1950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888888"/>
              </a:buClr>
              <a:buSzPts val="900"/>
              <a:buFont typeface="Calibri"/>
              <a:buNone/>
            </a:pPr>
            <a:r>
              <a:rPr i="1" lang="en-US" sz="1000" u="none" cap="none" strike="noStrike">
                <a:solidFill>
                  <a:srgbClr val="1A1A1A"/>
                </a:solidFill>
                <a:latin typeface="Montserrat"/>
                <a:ea typeface="Montserrat"/>
                <a:cs typeface="Montserrat"/>
                <a:sym typeface="Montserrat"/>
              </a:rPr>
              <a:t>Source: Gartner, Jan 2026</a:t>
            </a:r>
            <a:endParaRPr i="0" sz="1000" u="none" cap="none" strike="noStrike">
              <a:solidFill>
                <a:srgbClr val="1A1A1A"/>
              </a:solidFill>
              <a:latin typeface="Montserrat"/>
              <a:ea typeface="Montserrat"/>
              <a:cs typeface="Montserrat"/>
              <a:sym typeface="Montserrat"/>
            </a:endParaRPr>
          </a:p>
        </p:txBody>
      </p:sp>
      <p:sp>
        <p:nvSpPr>
          <p:cNvPr id="242" name="Google Shape;242;g3eaf5b54de6_3_0"/>
          <p:cNvSpPr/>
          <p:nvPr/>
        </p:nvSpPr>
        <p:spPr>
          <a:xfrm>
            <a:off x="8436839" y="2011695"/>
            <a:ext cx="3535800" cy="243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B5D4F4"/>
              </a:buClr>
              <a:buSzPts val="1200"/>
              <a:buFont typeface="Calibri"/>
              <a:buNone/>
            </a:pPr>
            <a:r>
              <a:rPr i="0" lang="en-US" sz="1500" u="none" cap="none" strike="noStrike">
                <a:solidFill>
                  <a:srgbClr val="156082"/>
                </a:solidFill>
                <a:latin typeface="Montserrat"/>
                <a:ea typeface="Montserrat"/>
                <a:cs typeface="Montserrat"/>
                <a:sym typeface="Montserrat"/>
              </a:rPr>
              <a:t>of executives</a:t>
            </a:r>
            <a:endParaRPr i="0" sz="1500" u="none" cap="none" strike="noStrike">
              <a:solidFill>
                <a:srgbClr val="156082"/>
              </a:solidFill>
              <a:latin typeface="Montserrat"/>
              <a:ea typeface="Montserrat"/>
              <a:cs typeface="Montserrat"/>
              <a:sym typeface="Montserrat"/>
            </a:endParaRPr>
          </a:p>
        </p:txBody>
      </p:sp>
      <p:sp>
        <p:nvSpPr>
          <p:cNvPr id="243" name="Google Shape;243;g3eaf5b54de6_3_0"/>
          <p:cNvSpPr/>
          <p:nvPr/>
        </p:nvSpPr>
        <p:spPr>
          <a:xfrm>
            <a:off x="8583143" y="2279919"/>
            <a:ext cx="3243000" cy="829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Clr>
                <a:srgbClr val="FFFFFF"/>
              </a:buClr>
              <a:buSzPts val="1300"/>
              <a:buFont typeface="Calibri"/>
              <a:buNone/>
            </a:pPr>
            <a:r>
              <a:rPr b="1" i="0" lang="en-US" u="none" cap="none" strike="noStrike">
                <a:solidFill>
                  <a:srgbClr val="156082"/>
                </a:solidFill>
                <a:latin typeface="Montserrat"/>
                <a:ea typeface="Montserrat"/>
                <a:cs typeface="Montserrat"/>
                <a:sym typeface="Montserrat"/>
              </a:rPr>
              <a:t>expect their agentic AI projects to deliver value within 12 months</a:t>
            </a:r>
            <a:endParaRPr i="0" u="none" cap="none" strike="noStrike">
              <a:solidFill>
                <a:srgbClr val="156082"/>
              </a:solidFill>
              <a:latin typeface="Montserrat"/>
              <a:ea typeface="Montserrat"/>
              <a:cs typeface="Montserrat"/>
              <a:sym typeface="Montserrat"/>
            </a:endParaRPr>
          </a:p>
        </p:txBody>
      </p:sp>
      <p:sp>
        <p:nvSpPr>
          <p:cNvPr id="244" name="Google Shape;244;g3eaf5b54de6_3_0"/>
          <p:cNvSpPr/>
          <p:nvPr/>
        </p:nvSpPr>
        <p:spPr>
          <a:xfrm>
            <a:off x="8436802" y="2974835"/>
            <a:ext cx="3535800" cy="1950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888888"/>
              </a:buClr>
              <a:buSzPts val="900"/>
              <a:buFont typeface="Calibri"/>
              <a:buNone/>
            </a:pPr>
            <a:r>
              <a:rPr i="1" lang="en-US" sz="1000" u="none" cap="none" strike="noStrike">
                <a:solidFill>
                  <a:srgbClr val="1A1A1A"/>
                </a:solidFill>
                <a:latin typeface="Montserrat"/>
                <a:ea typeface="Montserrat"/>
                <a:cs typeface="Montserrat"/>
                <a:sym typeface="Montserrat"/>
              </a:rPr>
              <a:t>Source: KPMG AI Pulse Survey, Q3 2025</a:t>
            </a:r>
            <a:endParaRPr i="0" sz="1000" u="none" cap="none" strike="noStrike">
              <a:solidFill>
                <a:srgbClr val="1A1A1A"/>
              </a:solidFill>
              <a:latin typeface="Montserrat"/>
              <a:ea typeface="Montserrat"/>
              <a:cs typeface="Montserrat"/>
              <a:sym typeface="Montserrat"/>
            </a:endParaRPr>
          </a:p>
        </p:txBody>
      </p:sp>
      <p:sp>
        <p:nvSpPr>
          <p:cNvPr id="245" name="Google Shape;245;g3eaf5b54de6_3_0"/>
          <p:cNvSpPr/>
          <p:nvPr/>
        </p:nvSpPr>
        <p:spPr>
          <a:xfrm>
            <a:off x="1861900" y="3972849"/>
            <a:ext cx="8468100" cy="1918500"/>
          </a:xfrm>
          <a:prstGeom prst="rect">
            <a:avLst/>
          </a:prstGeom>
          <a:solidFill>
            <a:schemeClr val="dk1"/>
          </a:solidFill>
          <a:ln cap="flat" cmpd="sng" w="12700">
            <a:solidFill>
              <a:srgbClr val="0E284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246" name="Google Shape;246;g3eaf5b54de6_3_0"/>
          <p:cNvGrpSpPr/>
          <p:nvPr/>
        </p:nvGrpSpPr>
        <p:grpSpPr>
          <a:xfrm>
            <a:off x="1861900" y="3513813"/>
            <a:ext cx="8468237" cy="2407935"/>
            <a:chOff x="6242277" y="4779264"/>
            <a:chExt cx="5730300" cy="1487481"/>
          </a:xfrm>
        </p:grpSpPr>
        <p:sp>
          <p:nvSpPr>
            <p:cNvPr id="247" name="Google Shape;247;g3eaf5b54de6_3_0"/>
            <p:cNvSpPr/>
            <p:nvPr/>
          </p:nvSpPr>
          <p:spPr>
            <a:xfrm>
              <a:off x="6242304" y="4779264"/>
              <a:ext cx="5730240" cy="73152"/>
            </a:xfrm>
            <a:prstGeom prst="rect">
              <a:avLst/>
            </a:prstGeom>
            <a:solidFill>
              <a:srgbClr val="6D2E46"/>
            </a:solidFill>
            <a:ln cap="flat" cmpd="sng" w="12700">
              <a:solidFill>
                <a:srgbClr val="6D2E4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8" name="Google Shape;248;g3eaf5b54de6_3_0"/>
            <p:cNvSpPr/>
            <p:nvPr/>
          </p:nvSpPr>
          <p:spPr>
            <a:xfrm>
              <a:off x="6242277" y="4845784"/>
              <a:ext cx="5730300" cy="243900"/>
            </a:xfrm>
            <a:prstGeom prst="rect">
              <a:avLst/>
            </a:prstGeom>
            <a:noFill/>
            <a:ln cap="flat" cmpd="sng" w="9525">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spcBef>
                  <a:spcPts val="0"/>
                </a:spcBef>
                <a:spcAft>
                  <a:spcPts val="0"/>
                </a:spcAft>
                <a:buClr>
                  <a:srgbClr val="D4829E"/>
                </a:buClr>
                <a:buSzPts val="1100"/>
                <a:buFont typeface="Arial"/>
                <a:buNone/>
              </a:pPr>
              <a:r>
                <a:rPr b="1" i="0" lang="en-US" sz="1700" u="none" cap="none" strike="noStrike">
                  <a:solidFill>
                    <a:srgbClr val="D4829E"/>
                  </a:solidFill>
                  <a:latin typeface="Montserrat"/>
                  <a:ea typeface="Montserrat"/>
                  <a:cs typeface="Montserrat"/>
                  <a:sym typeface="Montserrat"/>
                </a:rPr>
                <a:t>CYBERSECURITY THREAT  |  Mythos AI, 2026</a:t>
              </a:r>
              <a:endParaRPr b="1" i="0" sz="1700" u="none" cap="none" strike="noStrike">
                <a:solidFill>
                  <a:schemeClr val="dk1"/>
                </a:solidFill>
                <a:latin typeface="Montserrat"/>
                <a:ea typeface="Montserrat"/>
                <a:cs typeface="Montserrat"/>
                <a:sym typeface="Montserrat"/>
              </a:endParaRPr>
            </a:p>
          </p:txBody>
        </p:sp>
        <p:sp>
          <p:nvSpPr>
            <p:cNvPr id="249" name="Google Shape;249;g3eaf5b54de6_3_0"/>
            <p:cNvSpPr/>
            <p:nvPr/>
          </p:nvSpPr>
          <p:spPr>
            <a:xfrm>
              <a:off x="6306027" y="5186566"/>
              <a:ext cx="5437500" cy="65850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Clr>
                  <a:srgbClr val="FFFFFF"/>
                </a:buClr>
                <a:buSzPts val="1100"/>
                <a:buFont typeface="Calibri"/>
                <a:buNone/>
              </a:pPr>
              <a:r>
                <a:rPr b="1" i="0" lang="en-US" sz="1500" u="none" cap="none" strike="noStrike">
                  <a:solidFill>
                    <a:srgbClr val="FFFFFF"/>
                  </a:solidFill>
                  <a:latin typeface="Montserrat"/>
                  <a:ea typeface="Montserrat"/>
                  <a:cs typeface="Montserrat"/>
                  <a:sym typeface="Montserrat"/>
                </a:rPr>
                <a:t>Advanced AI model with autonomous offensive cyber capabilities — a wake-up call that AI is now an active part of the enterprise attack surface, not just a productivity tool.</a:t>
              </a:r>
              <a:endParaRPr b="1" i="0" sz="1500" u="none" cap="none" strike="noStrike">
                <a:solidFill>
                  <a:schemeClr val="dk1"/>
                </a:solidFill>
                <a:latin typeface="Montserrat"/>
                <a:ea typeface="Montserrat"/>
                <a:cs typeface="Montserrat"/>
                <a:sym typeface="Montserrat"/>
              </a:endParaRPr>
            </a:p>
          </p:txBody>
        </p:sp>
        <p:sp>
          <p:nvSpPr>
            <p:cNvPr id="250" name="Google Shape;250;g3eaf5b54de6_3_0"/>
            <p:cNvSpPr/>
            <p:nvPr/>
          </p:nvSpPr>
          <p:spPr>
            <a:xfrm>
              <a:off x="6359308" y="5765367"/>
              <a:ext cx="4632900" cy="243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888888"/>
                </a:buClr>
                <a:buSzPts val="1000"/>
                <a:buFont typeface="Calibri"/>
                <a:buNone/>
              </a:pPr>
              <a:r>
                <a:rPr b="1" i="1" lang="en-US" u="none" cap="none" strike="noStrike">
                  <a:solidFill>
                    <a:schemeClr val="accent2"/>
                  </a:solidFill>
                  <a:latin typeface="Montserrat"/>
                  <a:ea typeface="Montserrat"/>
                  <a:cs typeface="Montserrat"/>
                  <a:sym typeface="Montserrat"/>
                </a:rPr>
                <a:t>Cause: </a:t>
              </a:r>
              <a:r>
                <a:rPr b="1" i="1" lang="en-US" u="none" cap="none" strike="noStrike">
                  <a:solidFill>
                    <a:schemeClr val="lt1"/>
                  </a:solidFill>
                  <a:latin typeface="Montserrat"/>
                  <a:ea typeface="Montserrat"/>
                  <a:cs typeface="Montserrat"/>
                  <a:sym typeface="Montserrat"/>
                </a:rPr>
                <a:t>AI capabilities outpacing security governance frameworks</a:t>
              </a:r>
              <a:endParaRPr b="1" i="0" u="none" cap="none" strike="noStrike">
                <a:solidFill>
                  <a:schemeClr val="lt1"/>
                </a:solidFill>
                <a:latin typeface="Montserrat"/>
                <a:ea typeface="Montserrat"/>
                <a:cs typeface="Montserrat"/>
                <a:sym typeface="Montserrat"/>
              </a:endParaRPr>
            </a:p>
          </p:txBody>
        </p:sp>
        <p:sp>
          <p:nvSpPr>
            <p:cNvPr id="251" name="Google Shape;251;g3eaf5b54de6_3_0"/>
            <p:cNvSpPr/>
            <p:nvPr/>
          </p:nvSpPr>
          <p:spPr>
            <a:xfrm>
              <a:off x="9241179" y="6022845"/>
              <a:ext cx="2585100" cy="243900"/>
            </a:xfrm>
            <a:prstGeom prst="rect">
              <a:avLst/>
            </a:prstGeom>
            <a:noFill/>
            <a:ln>
              <a:noFill/>
            </a:ln>
          </p:spPr>
          <p:txBody>
            <a:bodyPr anchorCtr="0" anchor="ctr" bIns="60925" lIns="121900" spcFirstLastPara="1" rIns="121900" wrap="square" tIns="60925">
              <a:noAutofit/>
            </a:bodyPr>
            <a:lstStyle/>
            <a:p>
              <a:pPr indent="0" lvl="0" marL="0" marR="0" rtl="0" algn="r">
                <a:spcBef>
                  <a:spcPts val="0"/>
                </a:spcBef>
                <a:spcAft>
                  <a:spcPts val="0"/>
                </a:spcAft>
                <a:buClr>
                  <a:srgbClr val="555555"/>
                </a:buClr>
                <a:buSzPts val="900"/>
                <a:buFont typeface="Calibri"/>
                <a:buNone/>
              </a:pPr>
              <a:r>
                <a:rPr i="1" lang="en-US" sz="1200" u="none" cap="none" strike="noStrike">
                  <a:solidFill>
                    <a:schemeClr val="lt1"/>
                  </a:solidFill>
                  <a:latin typeface="Montserrat"/>
                  <a:ea typeface="Montserrat"/>
                  <a:cs typeface="Montserrat"/>
                  <a:sym typeface="Montserrat"/>
                </a:rPr>
                <a:t>Anthropic Project Glasswing, 2026</a:t>
              </a:r>
              <a:endParaRPr i="0" sz="1200" u="none" cap="none" strike="noStrike">
                <a:solidFill>
                  <a:schemeClr val="lt1"/>
                </a:solidFill>
                <a:latin typeface="Montserrat"/>
                <a:ea typeface="Montserrat"/>
                <a:cs typeface="Montserrat"/>
                <a:sym typeface="Montserrat"/>
              </a:endParaRPr>
            </a:p>
          </p:txBody>
        </p:sp>
      </p:grpSp>
      <p:sp>
        <p:nvSpPr>
          <p:cNvPr id="252" name="Google Shape;252;g3eaf5b54de6_3_0"/>
          <p:cNvSpPr txBox="1"/>
          <p:nvPr/>
        </p:nvSpPr>
        <p:spPr>
          <a:xfrm>
            <a:off x="4998728" y="1182625"/>
            <a:ext cx="2003100" cy="923400"/>
          </a:xfrm>
          <a:prstGeom prst="rect">
            <a:avLst/>
          </a:prstGeom>
          <a:noFill/>
          <a:ln>
            <a:noFill/>
          </a:ln>
        </p:spPr>
        <p:txBody>
          <a:bodyPr anchorCtr="0" anchor="ctr" bIns="121875" lIns="121875" spcFirstLastPara="1" rIns="121875" wrap="square" tIns="121875">
            <a:spAutoFit/>
          </a:bodyPr>
          <a:lstStyle/>
          <a:p>
            <a:pPr indent="0" lvl="0" marL="0" marR="0" rtl="0" algn="ctr">
              <a:lnSpc>
                <a:spcPct val="100000"/>
              </a:lnSpc>
              <a:spcBef>
                <a:spcPts val="0"/>
              </a:spcBef>
              <a:spcAft>
                <a:spcPts val="0"/>
              </a:spcAft>
              <a:buClr>
                <a:srgbClr val="FFFFFF"/>
              </a:buClr>
              <a:buSzPts val="7200"/>
              <a:buFont typeface="Arial"/>
              <a:buNone/>
            </a:pPr>
            <a:r>
              <a:rPr b="1" lang="en-US" sz="4400">
                <a:solidFill>
                  <a:srgbClr val="156082"/>
                </a:solidFill>
                <a:latin typeface="Montserrat"/>
                <a:ea typeface="Montserrat"/>
                <a:cs typeface="Montserrat"/>
                <a:sym typeface="Montserrat"/>
              </a:rPr>
              <a:t>60%</a:t>
            </a:r>
            <a:endParaRPr i="0" sz="1500" u="none" cap="none" strike="noStrike">
              <a:solidFill>
                <a:srgbClr val="0F43E9"/>
              </a:solidFill>
              <a:latin typeface="Montserrat"/>
              <a:ea typeface="Montserrat"/>
              <a:cs typeface="Montserrat"/>
              <a:sym typeface="Montserrat"/>
            </a:endParaRPr>
          </a:p>
        </p:txBody>
      </p:sp>
      <p:sp>
        <p:nvSpPr>
          <p:cNvPr id="253" name="Google Shape;253;g3eaf5b54de6_3_0"/>
          <p:cNvSpPr txBox="1"/>
          <p:nvPr/>
        </p:nvSpPr>
        <p:spPr>
          <a:xfrm>
            <a:off x="9271609" y="1136506"/>
            <a:ext cx="2060400" cy="923400"/>
          </a:xfrm>
          <a:prstGeom prst="rect">
            <a:avLst/>
          </a:prstGeom>
          <a:noFill/>
          <a:ln>
            <a:noFill/>
          </a:ln>
        </p:spPr>
        <p:txBody>
          <a:bodyPr anchorCtr="0" anchor="ctr" bIns="121875" lIns="121875" spcFirstLastPara="1" rIns="121875" wrap="square" tIns="121875">
            <a:spAutoFit/>
          </a:bodyPr>
          <a:lstStyle/>
          <a:p>
            <a:pPr indent="0" lvl="0" marL="0" marR="0" rtl="0" algn="ctr">
              <a:lnSpc>
                <a:spcPct val="100000"/>
              </a:lnSpc>
              <a:spcBef>
                <a:spcPts val="0"/>
              </a:spcBef>
              <a:spcAft>
                <a:spcPts val="0"/>
              </a:spcAft>
              <a:buClr>
                <a:srgbClr val="FFFFFF"/>
              </a:buClr>
              <a:buSzPts val="7200"/>
              <a:buFont typeface="Arial"/>
              <a:buNone/>
            </a:pPr>
            <a:r>
              <a:rPr b="1" lang="en-US" sz="4400">
                <a:solidFill>
                  <a:srgbClr val="156082"/>
                </a:solidFill>
                <a:latin typeface="Montserrat"/>
                <a:ea typeface="Montserrat"/>
                <a:cs typeface="Montserrat"/>
                <a:sym typeface="Montserrat"/>
              </a:rPr>
              <a:t>73%</a:t>
            </a:r>
            <a:endParaRPr b="1" sz="4400">
              <a:solidFill>
                <a:srgbClr val="156082"/>
              </a:solidFill>
              <a:latin typeface="Montserrat"/>
              <a:ea typeface="Montserrat"/>
              <a:cs typeface="Montserrat"/>
              <a:sym typeface="Montserrat"/>
            </a:endParaRPr>
          </a:p>
        </p:txBody>
      </p:sp>
      <p:pic>
        <p:nvPicPr>
          <p:cNvPr descr="Logo&#10;&#10;Description automatically generated" id="254" name="Google Shape;254;g3eaf5b54de6_3_0"/>
          <p:cNvPicPr preferRelativeResize="0"/>
          <p:nvPr/>
        </p:nvPicPr>
        <p:blipFill rotWithShape="1">
          <a:blip r:embed="rId3">
            <a:alphaModFix/>
          </a:blip>
          <a:srcRect b="0" l="0" r="0" t="0"/>
          <a:stretch/>
        </p:blipFill>
        <p:spPr>
          <a:xfrm>
            <a:off x="11105367" y="0"/>
            <a:ext cx="1073201" cy="1087137"/>
          </a:xfrm>
          <a:prstGeom prst="rect">
            <a:avLst/>
          </a:prstGeom>
          <a:noFill/>
          <a:ln>
            <a:noFill/>
          </a:ln>
        </p:spPr>
      </p:pic>
      <p:sp>
        <p:nvSpPr>
          <p:cNvPr id="255" name="Google Shape;255;g3eaf5b54de6_3_0"/>
          <p:cNvSpPr/>
          <p:nvPr/>
        </p:nvSpPr>
        <p:spPr>
          <a:xfrm>
            <a:off x="0" y="6368133"/>
            <a:ext cx="12216300" cy="489900"/>
          </a:xfrm>
          <a:prstGeom prst="round2SameRect">
            <a:avLst>
              <a:gd fmla="val 47728" name="adj1"/>
              <a:gd fmla="val 0" name="adj2"/>
            </a:avLst>
          </a:prstGeom>
          <a:solidFill>
            <a:srgbClr val="9BBB59"/>
          </a:solidFill>
          <a:ln>
            <a:noFill/>
          </a:ln>
        </p:spPr>
        <p:txBody>
          <a:bodyPr anchorCtr="0" anchor="ctr" bIns="121900" lIns="121900" spcFirstLastPara="1" rIns="121900" wrap="square" tIns="121900">
            <a:noAutofit/>
          </a:bodyPr>
          <a:lstStyle/>
          <a:p>
            <a:pPr indent="0" lvl="0" marL="0" rtl="0" algn="l">
              <a:spcBef>
                <a:spcPts val="0"/>
              </a:spcBef>
              <a:spcAft>
                <a:spcPts val="0"/>
              </a:spcAft>
              <a:buClr>
                <a:schemeClr val="dk1"/>
              </a:buClr>
              <a:buFont typeface="Arial"/>
              <a:buNone/>
            </a:pPr>
            <a:r>
              <a:rPr b="1" lang="en-US" sz="1000">
                <a:solidFill>
                  <a:schemeClr val="lt1"/>
                </a:solidFill>
                <a:latin typeface="Montserrat"/>
                <a:ea typeface="Montserrat"/>
                <a:cs typeface="Montserrat"/>
                <a:sym typeface="Montserrat"/>
              </a:rPr>
              <a:t>T200 AI Leadership &amp; Governance Series  |  2026								www.t200.org</a:t>
            </a:r>
            <a:endParaRPr b="1" i="0" sz="10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
          <p:cNvSpPr/>
          <p:nvPr/>
        </p:nvSpPr>
        <p:spPr>
          <a:xfrm>
            <a:off x="0" y="0"/>
            <a:ext cx="3657600"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 name="Google Shape;261;p2"/>
          <p:cNvSpPr txBox="1"/>
          <p:nvPr/>
        </p:nvSpPr>
        <p:spPr>
          <a:xfrm>
            <a:off x="411480" y="457200"/>
            <a:ext cx="31089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E97132"/>
                </a:solidFill>
                <a:latin typeface="Montserrat"/>
                <a:ea typeface="Montserrat"/>
                <a:cs typeface="Montserrat"/>
                <a:sym typeface="Montserrat"/>
              </a:rPr>
              <a:t>T200 SPOTLIGHT SERIES 1</a:t>
            </a:r>
            <a:endParaRPr b="0" i="0" sz="1400" u="none" cap="none" strike="noStrike">
              <a:solidFill>
                <a:srgbClr val="000000"/>
              </a:solidFill>
              <a:latin typeface="Montserrat"/>
              <a:ea typeface="Montserrat"/>
              <a:cs typeface="Montserrat"/>
              <a:sym typeface="Montserrat"/>
            </a:endParaRPr>
          </a:p>
        </p:txBody>
      </p:sp>
      <p:sp>
        <p:nvSpPr>
          <p:cNvPr id="262" name="Google Shape;262;p2"/>
          <p:cNvSpPr txBox="1"/>
          <p:nvPr/>
        </p:nvSpPr>
        <p:spPr>
          <a:xfrm>
            <a:off x="411480" y="868680"/>
            <a:ext cx="3108900" cy="2308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Montserrat"/>
                <a:ea typeface="Montserrat"/>
                <a:cs typeface="Montserrat"/>
                <a:sym typeface="Montserrat"/>
              </a:rPr>
              <a:t>Lead with</a:t>
            </a:r>
            <a:endParaRPr b="0" i="0" sz="14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Montserrat"/>
                <a:ea typeface="Montserrat"/>
                <a:cs typeface="Montserrat"/>
                <a:sym typeface="Montserrat"/>
              </a:rPr>
              <a:t>Responsible</a:t>
            </a:r>
            <a:endParaRPr b="0" i="0" sz="14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E97132"/>
                </a:solidFill>
                <a:latin typeface="Montserrat"/>
                <a:ea typeface="Montserrat"/>
                <a:cs typeface="Montserrat"/>
                <a:sym typeface="Montserrat"/>
              </a:rPr>
              <a:t>AI</a:t>
            </a:r>
            <a:endParaRPr b="0" i="0" sz="14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200"/>
              </a:spcBef>
              <a:spcAft>
                <a:spcPts val="0"/>
              </a:spcAft>
              <a:buClr>
                <a:srgbClr val="000000"/>
              </a:buClr>
              <a:buSzPts val="1600"/>
              <a:buFont typeface="Arial"/>
              <a:buNone/>
            </a:pPr>
            <a:r>
              <a:rPr b="0" i="1" lang="en-US" sz="1600" u="none" cap="none" strike="noStrike">
                <a:solidFill>
                  <a:srgbClr val="D9D9D9"/>
                </a:solidFill>
                <a:latin typeface="Montserrat"/>
                <a:ea typeface="Montserrat"/>
                <a:cs typeface="Montserrat"/>
                <a:sym typeface="Montserrat"/>
              </a:rPr>
              <a:t>Enabling confident AI scaling in the enterprise.</a:t>
            </a:r>
            <a:endParaRPr b="0" i="0" sz="1400" u="none" cap="none" strike="noStrike">
              <a:solidFill>
                <a:srgbClr val="000000"/>
              </a:solidFill>
              <a:latin typeface="Montserrat"/>
              <a:ea typeface="Montserrat"/>
              <a:cs typeface="Montserrat"/>
              <a:sym typeface="Montserrat"/>
            </a:endParaRPr>
          </a:p>
        </p:txBody>
      </p:sp>
      <p:sp>
        <p:nvSpPr>
          <p:cNvPr id="263" name="Google Shape;263;p2"/>
          <p:cNvSpPr/>
          <p:nvPr/>
        </p:nvSpPr>
        <p:spPr>
          <a:xfrm>
            <a:off x="411480" y="4829010"/>
            <a:ext cx="1828800" cy="457200"/>
          </a:xfrm>
          <a:prstGeom prst="roundRect">
            <a:avLst>
              <a:gd fmla="val 50000" name="adj"/>
            </a:avLst>
          </a:prstGeom>
          <a:solidFill>
            <a:srgbClr val="E9713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4" name="Google Shape;264;p2"/>
          <p:cNvSpPr txBox="1"/>
          <p:nvPr/>
        </p:nvSpPr>
        <p:spPr>
          <a:xfrm>
            <a:off x="411480" y="4965192"/>
            <a:ext cx="1828800" cy="184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lang="en-US" sz="1200">
                <a:solidFill>
                  <a:srgbClr val="FFFFFF"/>
                </a:solidFill>
                <a:latin typeface="Montserrat"/>
                <a:ea typeface="Montserrat"/>
                <a:cs typeface="Montserrat"/>
                <a:sym typeface="Montserrat"/>
              </a:rPr>
              <a:t>JUNE 11 </a:t>
            </a:r>
            <a:r>
              <a:rPr b="1" i="0" lang="en-US" sz="1200" u="none" cap="none" strike="noStrike">
                <a:solidFill>
                  <a:srgbClr val="FFFFFF"/>
                </a:solidFill>
                <a:latin typeface="Montserrat"/>
                <a:ea typeface="Montserrat"/>
                <a:cs typeface="Montserrat"/>
                <a:sym typeface="Montserrat"/>
              </a:rPr>
              <a:t> 2026</a:t>
            </a:r>
            <a:endParaRPr b="0" i="0" sz="1400" u="none" cap="none" strike="noStrike">
              <a:solidFill>
                <a:srgbClr val="000000"/>
              </a:solidFill>
              <a:latin typeface="Montserrat"/>
              <a:ea typeface="Montserrat"/>
              <a:cs typeface="Montserrat"/>
              <a:sym typeface="Montserrat"/>
            </a:endParaRPr>
          </a:p>
        </p:txBody>
      </p:sp>
      <p:sp>
        <p:nvSpPr>
          <p:cNvPr id="265" name="Google Shape;265;p2"/>
          <p:cNvSpPr txBox="1"/>
          <p:nvPr/>
        </p:nvSpPr>
        <p:spPr>
          <a:xfrm>
            <a:off x="4023360" y="457200"/>
            <a:ext cx="777240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E97132"/>
                </a:solidFill>
                <a:latin typeface="Montserrat"/>
                <a:ea typeface="Montserrat"/>
                <a:cs typeface="Montserrat"/>
                <a:sym typeface="Montserrat"/>
              </a:rPr>
              <a:t>OBJECTIVE</a:t>
            </a:r>
            <a:endParaRPr b="0" i="0" sz="1400" u="none" cap="none" strike="noStrike">
              <a:solidFill>
                <a:srgbClr val="000000"/>
              </a:solidFill>
              <a:latin typeface="Montserrat"/>
              <a:ea typeface="Montserrat"/>
              <a:cs typeface="Montserrat"/>
              <a:sym typeface="Montserrat"/>
            </a:endParaRPr>
          </a:p>
        </p:txBody>
      </p:sp>
      <p:sp>
        <p:nvSpPr>
          <p:cNvPr id="266" name="Google Shape;266;p2"/>
          <p:cNvSpPr txBox="1"/>
          <p:nvPr/>
        </p:nvSpPr>
        <p:spPr>
          <a:xfrm>
            <a:off x="4023351" y="727551"/>
            <a:ext cx="7159800" cy="646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A1A1A"/>
                </a:solidFill>
                <a:latin typeface="Montserrat"/>
                <a:ea typeface="Montserrat"/>
                <a:cs typeface="Montserrat"/>
                <a:sym typeface="Montserrat"/>
              </a:rPr>
              <a:t>Equip leaders to govern AI-driven decisions with confidence, embedding oversight, ownership, and lifecycle controls before scale creates unmanaged enterprise risk.</a:t>
            </a:r>
            <a:endParaRPr b="0" i="0" sz="1400" u="none" cap="none" strike="noStrike">
              <a:solidFill>
                <a:srgbClr val="000000"/>
              </a:solidFill>
              <a:latin typeface="Montserrat"/>
              <a:ea typeface="Montserrat"/>
              <a:cs typeface="Montserrat"/>
              <a:sym typeface="Montserrat"/>
            </a:endParaRPr>
          </a:p>
        </p:txBody>
      </p:sp>
      <p:sp>
        <p:nvSpPr>
          <p:cNvPr id="267" name="Google Shape;267;p2"/>
          <p:cNvSpPr txBox="1"/>
          <p:nvPr/>
        </p:nvSpPr>
        <p:spPr>
          <a:xfrm>
            <a:off x="4023360" y="1622077"/>
            <a:ext cx="77724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E97132"/>
                </a:solidFill>
                <a:latin typeface="Montserrat"/>
                <a:ea typeface="Montserrat"/>
                <a:cs typeface="Montserrat"/>
                <a:sym typeface="Montserrat"/>
              </a:rPr>
              <a:t>WHY IT MATTERS NOW</a:t>
            </a:r>
            <a:endParaRPr b="0" i="0" sz="1400" u="none" cap="none" strike="noStrike">
              <a:solidFill>
                <a:srgbClr val="000000"/>
              </a:solidFill>
              <a:latin typeface="Montserrat"/>
              <a:ea typeface="Montserrat"/>
              <a:cs typeface="Montserrat"/>
              <a:sym typeface="Montserrat"/>
            </a:endParaRPr>
          </a:p>
        </p:txBody>
      </p:sp>
      <p:sp>
        <p:nvSpPr>
          <p:cNvPr id="268" name="Google Shape;268;p2"/>
          <p:cNvSpPr txBox="1"/>
          <p:nvPr/>
        </p:nvSpPr>
        <p:spPr>
          <a:xfrm>
            <a:off x="3957085" y="1908489"/>
            <a:ext cx="7772400" cy="1557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1A1A1A"/>
                </a:solidFill>
                <a:latin typeface="Montserrat"/>
                <a:ea typeface="Montserrat"/>
                <a:cs typeface="Montserrat"/>
                <a:sym typeface="Montserrat"/>
              </a:rPr>
              <a:t>■  AI is now shaping decisions, not just automating tasks: impacting operations, customers, and financial outcomes.</a:t>
            </a:r>
            <a:endParaRPr b="0" i="0" sz="1400" u="none" cap="none" strike="noStrike">
              <a:solidFill>
                <a:srgbClr val="000000"/>
              </a:solidFill>
              <a:latin typeface="Montserrat"/>
              <a:ea typeface="Montserrat"/>
              <a:cs typeface="Montserrat"/>
              <a:sym typeface="Montserrat"/>
            </a:endParaRPr>
          </a:p>
          <a:p>
            <a:pPr indent="0" lvl="0" marL="0" marR="0" rtl="0" algn="l">
              <a:lnSpc>
                <a:spcPct val="115000"/>
              </a:lnSpc>
              <a:spcBef>
                <a:spcPts val="400"/>
              </a:spcBef>
              <a:spcAft>
                <a:spcPts val="0"/>
              </a:spcAft>
              <a:buClr>
                <a:srgbClr val="000000"/>
              </a:buClr>
              <a:buSzPts val="1400"/>
              <a:buFont typeface="Arial"/>
              <a:buNone/>
            </a:pPr>
            <a:r>
              <a:rPr b="0" i="0" lang="en-US" sz="1400" u="none" cap="none" strike="noStrike">
                <a:solidFill>
                  <a:srgbClr val="1A1A1A"/>
                </a:solidFill>
                <a:latin typeface="Montserrat"/>
                <a:ea typeface="Montserrat"/>
                <a:cs typeface="Montserrat"/>
                <a:sym typeface="Montserrat"/>
              </a:rPr>
              <a:t>■  Risk has evolved from system (cyber) and data (info) risk to decision risk</a:t>
            </a:r>
            <a:r>
              <a:rPr lang="en-US">
                <a:solidFill>
                  <a:srgbClr val="1A1A1A"/>
                </a:solidFill>
                <a:latin typeface="Montserrat"/>
                <a:ea typeface="Montserrat"/>
                <a:cs typeface="Montserrat"/>
                <a:sym typeface="Montserrat"/>
              </a:rPr>
              <a:t> </a:t>
            </a:r>
            <a:r>
              <a:rPr b="0" i="0" lang="en-US" sz="1400" u="none" cap="none" strike="noStrike">
                <a:solidFill>
                  <a:srgbClr val="1A1A1A"/>
                </a:solidFill>
                <a:latin typeface="Montserrat"/>
                <a:ea typeface="Montserrat"/>
                <a:cs typeface="Montserrat"/>
                <a:sym typeface="Montserrat"/>
              </a:rPr>
              <a:t>affecting compliance, reputation, and performance.</a:t>
            </a:r>
            <a:endParaRPr b="0" i="0" sz="1400" u="none" cap="none" strike="noStrike">
              <a:solidFill>
                <a:srgbClr val="000000"/>
              </a:solidFill>
              <a:latin typeface="Montserrat"/>
              <a:ea typeface="Montserrat"/>
              <a:cs typeface="Montserrat"/>
              <a:sym typeface="Montserrat"/>
            </a:endParaRPr>
          </a:p>
          <a:p>
            <a:pPr indent="0" lvl="0" marL="0" marR="0" rtl="0" algn="l">
              <a:lnSpc>
                <a:spcPct val="115000"/>
              </a:lnSpc>
              <a:spcBef>
                <a:spcPts val="400"/>
              </a:spcBef>
              <a:spcAft>
                <a:spcPts val="0"/>
              </a:spcAft>
              <a:buClr>
                <a:srgbClr val="000000"/>
              </a:buClr>
              <a:buSzPts val="1400"/>
              <a:buFont typeface="Arial"/>
              <a:buNone/>
            </a:pPr>
            <a:r>
              <a:rPr b="0" i="0" lang="en-US" sz="1400" u="none" cap="none" strike="noStrike">
                <a:solidFill>
                  <a:srgbClr val="1A1A1A"/>
                </a:solidFill>
                <a:latin typeface="Montserrat"/>
                <a:ea typeface="Montserrat"/>
                <a:cs typeface="Montserrat"/>
                <a:sym typeface="Montserrat"/>
              </a:rPr>
              <a:t>■  Regulatory and stakeholder expectations are accelerating, requiring demonstrable control and transparency.</a:t>
            </a:r>
            <a:endParaRPr b="0" i="0" sz="1400" u="none" cap="none" strike="noStrike">
              <a:solidFill>
                <a:srgbClr val="000000"/>
              </a:solidFill>
              <a:latin typeface="Montserrat"/>
              <a:ea typeface="Montserrat"/>
              <a:cs typeface="Montserrat"/>
              <a:sym typeface="Montserrat"/>
            </a:endParaRPr>
          </a:p>
        </p:txBody>
      </p:sp>
      <p:sp>
        <p:nvSpPr>
          <p:cNvPr id="269" name="Google Shape;269;p2"/>
          <p:cNvSpPr txBox="1"/>
          <p:nvPr/>
        </p:nvSpPr>
        <p:spPr>
          <a:xfrm>
            <a:off x="4023340" y="3703113"/>
            <a:ext cx="77724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E97132"/>
                </a:solidFill>
                <a:latin typeface="Montserrat"/>
                <a:ea typeface="Montserrat"/>
                <a:cs typeface="Montserrat"/>
                <a:sym typeface="Montserrat"/>
              </a:rPr>
              <a:t>WHAT IT ENABLES</a:t>
            </a:r>
            <a:endParaRPr b="0" i="0" sz="1400" u="none" cap="none" strike="noStrike">
              <a:solidFill>
                <a:srgbClr val="000000"/>
              </a:solidFill>
              <a:latin typeface="Montserrat"/>
              <a:ea typeface="Montserrat"/>
              <a:cs typeface="Montserrat"/>
              <a:sym typeface="Montserrat"/>
            </a:endParaRPr>
          </a:p>
        </p:txBody>
      </p:sp>
      <p:sp>
        <p:nvSpPr>
          <p:cNvPr id="270" name="Google Shape;270;p2"/>
          <p:cNvSpPr txBox="1"/>
          <p:nvPr/>
        </p:nvSpPr>
        <p:spPr>
          <a:xfrm>
            <a:off x="3957085" y="3950601"/>
            <a:ext cx="7772400" cy="813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1A1A1A"/>
                </a:solidFill>
                <a:latin typeface="Montserrat"/>
                <a:ea typeface="Montserrat"/>
                <a:cs typeface="Montserrat"/>
                <a:sym typeface="Montserrat"/>
              </a:rPr>
              <a:t>■  Elevates  AI governance to a board-level priority.</a:t>
            </a:r>
            <a:endParaRPr b="0" i="0" sz="1400" u="none" cap="none" strike="noStrike">
              <a:solidFill>
                <a:srgbClr val="000000"/>
              </a:solidFill>
              <a:latin typeface="Montserrat"/>
              <a:ea typeface="Montserrat"/>
              <a:cs typeface="Montserrat"/>
              <a:sym typeface="Montserrat"/>
            </a:endParaRPr>
          </a:p>
          <a:p>
            <a:pPr indent="0" lvl="0" marL="0" marR="0" rtl="0" algn="l">
              <a:lnSpc>
                <a:spcPct val="115000"/>
              </a:lnSpc>
              <a:spcBef>
                <a:spcPts val="400"/>
              </a:spcBef>
              <a:spcAft>
                <a:spcPts val="0"/>
              </a:spcAft>
              <a:buClr>
                <a:srgbClr val="000000"/>
              </a:buClr>
              <a:buSzPts val="1400"/>
              <a:buFont typeface="Arial"/>
              <a:buNone/>
            </a:pPr>
            <a:r>
              <a:rPr b="0" i="0" lang="en-US" sz="1400" u="none" cap="none" strike="noStrike">
                <a:solidFill>
                  <a:srgbClr val="1A1A1A"/>
                </a:solidFill>
                <a:latin typeface="Montserrat"/>
                <a:ea typeface="Montserrat"/>
                <a:cs typeface="Montserrat"/>
                <a:sym typeface="Montserrat"/>
              </a:rPr>
              <a:t>■  Align Technology, Risk, Legal, and Business leaders on clear accountability.</a:t>
            </a:r>
            <a:endParaRPr b="0" i="0" sz="1400" u="none" cap="none" strike="noStrike">
              <a:solidFill>
                <a:srgbClr val="000000"/>
              </a:solidFill>
              <a:latin typeface="Montserrat"/>
              <a:ea typeface="Montserrat"/>
              <a:cs typeface="Montserrat"/>
              <a:sym typeface="Montserrat"/>
            </a:endParaRPr>
          </a:p>
          <a:p>
            <a:pPr indent="0" lvl="0" marL="0" marR="0" rtl="0" algn="l">
              <a:lnSpc>
                <a:spcPct val="115000"/>
              </a:lnSpc>
              <a:spcBef>
                <a:spcPts val="400"/>
              </a:spcBef>
              <a:spcAft>
                <a:spcPts val="0"/>
              </a:spcAft>
              <a:buClr>
                <a:srgbClr val="000000"/>
              </a:buClr>
              <a:buSzPts val="1400"/>
              <a:buFont typeface="Arial"/>
              <a:buNone/>
            </a:pPr>
            <a:r>
              <a:rPr b="0" i="0" lang="en-US" sz="1400" u="none" cap="none" strike="noStrike">
                <a:solidFill>
                  <a:srgbClr val="1A1A1A"/>
                </a:solidFill>
                <a:latin typeface="Montserrat"/>
                <a:ea typeface="Montserrat"/>
                <a:cs typeface="Montserrat"/>
                <a:sym typeface="Montserrat"/>
              </a:rPr>
              <a:t>■  Scale innovation while maintaining operational control and institutional trust.</a:t>
            </a:r>
            <a:endParaRPr b="0" i="0" sz="1400" u="none" cap="none" strike="noStrike">
              <a:solidFill>
                <a:srgbClr val="000000"/>
              </a:solidFill>
              <a:latin typeface="Montserrat"/>
              <a:ea typeface="Montserrat"/>
              <a:cs typeface="Montserrat"/>
              <a:sym typeface="Montserrat"/>
            </a:endParaRPr>
          </a:p>
        </p:txBody>
      </p:sp>
      <p:sp>
        <p:nvSpPr>
          <p:cNvPr id="271" name="Google Shape;271;p2"/>
          <p:cNvSpPr txBox="1"/>
          <p:nvPr/>
        </p:nvSpPr>
        <p:spPr>
          <a:xfrm>
            <a:off x="502922" y="6446522"/>
            <a:ext cx="3108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3F3F3"/>
                </a:solidFill>
                <a:latin typeface="Calibri"/>
                <a:ea typeface="Calibri"/>
                <a:cs typeface="Calibri"/>
                <a:sym typeface="Calibri"/>
              </a:rPr>
              <a:t>Lead with Responsible AI  |  May 7, 2026</a:t>
            </a:r>
            <a:endParaRPr b="0" i="0" sz="1400" u="none" cap="none" strike="noStrike">
              <a:solidFill>
                <a:srgbClr val="F3F3F3"/>
              </a:solidFill>
              <a:latin typeface="Arial"/>
              <a:ea typeface="Arial"/>
              <a:cs typeface="Arial"/>
              <a:sym typeface="Arial"/>
            </a:endParaRPr>
          </a:p>
        </p:txBody>
      </p:sp>
      <p:sp>
        <p:nvSpPr>
          <p:cNvPr id="272" name="Google Shape;272;p2"/>
          <p:cNvSpPr txBox="1"/>
          <p:nvPr/>
        </p:nvSpPr>
        <p:spPr>
          <a:xfrm>
            <a:off x="10058400" y="6446520"/>
            <a:ext cx="18288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900"/>
              <a:buFont typeface="Arial"/>
              <a:buNone/>
            </a:pPr>
            <a:r>
              <a:rPr b="0" i="0" lang="en-US" sz="900" u="none" cap="none" strike="noStrike">
                <a:solidFill>
                  <a:srgbClr val="555555"/>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pic>
        <p:nvPicPr>
          <p:cNvPr descr="Logo&#10;&#10;Description automatically generated" id="273" name="Google Shape;273;p2"/>
          <p:cNvPicPr preferRelativeResize="0"/>
          <p:nvPr/>
        </p:nvPicPr>
        <p:blipFill rotWithShape="1">
          <a:blip r:embed="rId3">
            <a:alphaModFix/>
          </a:blip>
          <a:srcRect b="0" l="0" r="0" t="0"/>
          <a:stretch/>
        </p:blipFill>
        <p:spPr>
          <a:xfrm>
            <a:off x="11105367" y="0"/>
            <a:ext cx="1073201" cy="1087137"/>
          </a:xfrm>
          <a:prstGeom prst="rect">
            <a:avLst/>
          </a:prstGeom>
          <a:noFill/>
          <a:ln>
            <a:noFill/>
          </a:ln>
        </p:spPr>
      </p:pic>
      <p:sp>
        <p:nvSpPr>
          <p:cNvPr id="274" name="Google Shape;274;p2"/>
          <p:cNvSpPr/>
          <p:nvPr/>
        </p:nvSpPr>
        <p:spPr>
          <a:xfrm>
            <a:off x="0" y="6368133"/>
            <a:ext cx="12216300" cy="489900"/>
          </a:xfrm>
          <a:prstGeom prst="round2SameRect">
            <a:avLst>
              <a:gd fmla="val 47728" name="adj1"/>
              <a:gd fmla="val 0" name="adj2"/>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cap="none" strike="noStrike">
                <a:solidFill>
                  <a:schemeClr val="lt1"/>
                </a:solidFill>
                <a:latin typeface="Montserrat"/>
                <a:ea typeface="Montserrat"/>
                <a:cs typeface="Montserrat"/>
                <a:sym typeface="Montserrat"/>
              </a:rPr>
              <a:t>T200 AI Leadership &amp; Governance Series  |  2026		</a:t>
            </a:r>
            <a:r>
              <a:rPr b="1" i="0" lang="en-US" sz="1000" u="none" cap="none" strike="noStrike">
                <a:solidFill>
                  <a:schemeClr val="lt1"/>
                </a:solidFill>
                <a:latin typeface="Montserrat"/>
                <a:ea typeface="Montserrat"/>
                <a:cs typeface="Montserrat"/>
                <a:sym typeface="Montserrat"/>
              </a:rPr>
              <a:t>	</a:t>
            </a:r>
            <a:r>
              <a:rPr b="1" i="0" lang="en-US" sz="1000" u="none" cap="none" strike="noStrike">
                <a:solidFill>
                  <a:schemeClr val="lt1"/>
                </a:solidFill>
                <a:latin typeface="Montserrat"/>
                <a:ea typeface="Montserrat"/>
                <a:cs typeface="Montserrat"/>
                <a:sym typeface="Montserrat"/>
              </a:rPr>
              <a:t>					www.t200.org</a:t>
            </a:r>
            <a:endParaRPr b="1" i="0" sz="1000" u="none" cap="none" strike="noStrike">
              <a:solidFill>
                <a:schemeClr val="lt1"/>
              </a:solidFill>
              <a:latin typeface="Montserrat"/>
              <a:ea typeface="Montserrat"/>
              <a:cs typeface="Montserrat"/>
              <a:sym typeface="Montserrat"/>
            </a:endParaRPr>
          </a:p>
        </p:txBody>
      </p:sp>
      <p:sp>
        <p:nvSpPr>
          <p:cNvPr id="275" name="Google Shape;275;p2"/>
          <p:cNvSpPr txBox="1"/>
          <p:nvPr/>
        </p:nvSpPr>
        <p:spPr>
          <a:xfrm>
            <a:off x="3957085" y="5199291"/>
            <a:ext cx="7772400" cy="813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1A1A1A"/>
                </a:solidFill>
                <a:latin typeface="Montserrat"/>
                <a:ea typeface="Montserrat"/>
                <a:cs typeface="Montserrat"/>
                <a:sym typeface="Montserrat"/>
              </a:rPr>
              <a:t>■  </a:t>
            </a:r>
            <a:r>
              <a:rPr lang="en-US">
                <a:solidFill>
                  <a:srgbClr val="1A1A1A"/>
                </a:solidFill>
                <a:latin typeface="Montserrat"/>
                <a:ea typeface="Montserrat"/>
                <a:cs typeface="Montserrat"/>
                <a:sym typeface="Montserrat"/>
              </a:rPr>
              <a:t>The risk and regulatory drivers making governance non-optional</a:t>
            </a:r>
            <a:endParaRPr b="0" i="0" sz="1400" u="none" cap="none" strike="noStrike">
              <a:solidFill>
                <a:srgbClr val="000000"/>
              </a:solidFill>
              <a:latin typeface="Montserrat"/>
              <a:ea typeface="Montserrat"/>
              <a:cs typeface="Montserrat"/>
              <a:sym typeface="Montserrat"/>
            </a:endParaRPr>
          </a:p>
          <a:p>
            <a:pPr indent="0" lvl="0" marL="0" marR="0" rtl="0" algn="l">
              <a:lnSpc>
                <a:spcPct val="115000"/>
              </a:lnSpc>
              <a:spcBef>
                <a:spcPts val="400"/>
              </a:spcBef>
              <a:spcAft>
                <a:spcPts val="0"/>
              </a:spcAft>
              <a:buClr>
                <a:srgbClr val="000000"/>
              </a:buClr>
              <a:buSzPts val="1400"/>
              <a:buFont typeface="Arial"/>
              <a:buNone/>
            </a:pPr>
            <a:r>
              <a:rPr b="0" i="0" lang="en-US" sz="1400" u="none" cap="none" strike="noStrike">
                <a:solidFill>
                  <a:srgbClr val="1A1A1A"/>
                </a:solidFill>
                <a:latin typeface="Montserrat"/>
                <a:ea typeface="Montserrat"/>
                <a:cs typeface="Montserrat"/>
                <a:sym typeface="Montserrat"/>
              </a:rPr>
              <a:t>■  </a:t>
            </a:r>
            <a:r>
              <a:rPr lang="en-US">
                <a:solidFill>
                  <a:srgbClr val="1A1A1A"/>
                </a:solidFill>
                <a:latin typeface="Montserrat"/>
                <a:ea typeface="Montserrat"/>
                <a:cs typeface="Montserrat"/>
                <a:sym typeface="Montserrat"/>
              </a:rPr>
              <a:t>Where AI technology risk originates across modern architectures</a:t>
            </a:r>
            <a:endParaRPr b="0" i="0" sz="1400" u="none" cap="none" strike="noStrike">
              <a:solidFill>
                <a:srgbClr val="000000"/>
              </a:solidFill>
              <a:latin typeface="Montserrat"/>
              <a:ea typeface="Montserrat"/>
              <a:cs typeface="Montserrat"/>
              <a:sym typeface="Montserrat"/>
            </a:endParaRPr>
          </a:p>
          <a:p>
            <a:pPr indent="0" lvl="0" marL="0" marR="0" rtl="0" algn="l">
              <a:lnSpc>
                <a:spcPct val="115000"/>
              </a:lnSpc>
              <a:spcBef>
                <a:spcPts val="400"/>
              </a:spcBef>
              <a:spcAft>
                <a:spcPts val="0"/>
              </a:spcAft>
              <a:buClr>
                <a:srgbClr val="000000"/>
              </a:buClr>
              <a:buSzPts val="1400"/>
              <a:buFont typeface="Arial"/>
              <a:buNone/>
            </a:pPr>
            <a:r>
              <a:rPr b="0" i="0" lang="en-US" sz="1400" u="none" cap="none" strike="noStrike">
                <a:solidFill>
                  <a:srgbClr val="1A1A1A"/>
                </a:solidFill>
                <a:latin typeface="Montserrat"/>
                <a:ea typeface="Montserrat"/>
                <a:cs typeface="Montserrat"/>
                <a:sym typeface="Montserrat"/>
              </a:rPr>
              <a:t>■  </a:t>
            </a:r>
            <a:r>
              <a:rPr lang="en-US">
                <a:solidFill>
                  <a:srgbClr val="1A1A1A"/>
                </a:solidFill>
                <a:latin typeface="Montserrat"/>
                <a:ea typeface="Montserrat"/>
                <a:cs typeface="Montserrat"/>
                <a:sym typeface="Montserrat"/>
              </a:rPr>
              <a:t>A practical four-step governance implementation model</a:t>
            </a:r>
            <a:endParaRPr b="0" i="0" sz="1400" u="none" cap="none" strike="noStrike">
              <a:solidFill>
                <a:srgbClr val="000000"/>
              </a:solidFill>
              <a:latin typeface="Montserrat"/>
              <a:ea typeface="Montserrat"/>
              <a:cs typeface="Montserrat"/>
              <a:sym typeface="Montserrat"/>
            </a:endParaRPr>
          </a:p>
        </p:txBody>
      </p:sp>
      <p:sp>
        <p:nvSpPr>
          <p:cNvPr id="276" name="Google Shape;276;p2"/>
          <p:cNvSpPr txBox="1"/>
          <p:nvPr/>
        </p:nvSpPr>
        <p:spPr>
          <a:xfrm>
            <a:off x="4023340" y="4983891"/>
            <a:ext cx="77724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lang="en-US">
                <a:solidFill>
                  <a:srgbClr val="E97132"/>
                </a:solidFill>
                <a:latin typeface="Montserrat"/>
                <a:ea typeface="Montserrat"/>
                <a:cs typeface="Montserrat"/>
                <a:sym typeface="Montserrat"/>
              </a:rPr>
              <a:t>PRACTICAL  TAKEAWAYS</a:t>
            </a:r>
            <a:endParaRPr b="0" i="0" sz="14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eae049a994_1_9"/>
          <p:cNvSpPr txBox="1"/>
          <p:nvPr/>
        </p:nvSpPr>
        <p:spPr>
          <a:xfrm>
            <a:off x="1922850" y="2988450"/>
            <a:ext cx="8346300" cy="88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3200">
                <a:solidFill>
                  <a:schemeClr val="dk1"/>
                </a:solidFill>
                <a:latin typeface="Calibri"/>
                <a:ea typeface="Calibri"/>
                <a:cs typeface="Calibri"/>
                <a:sym typeface="Calibri"/>
              </a:rPr>
              <a:t>Poll: How familiar are you with AI Governance?</a:t>
            </a:r>
            <a:endParaRPr sz="3200">
              <a:solidFill>
                <a:schemeClr val="dk1"/>
              </a:solidFill>
              <a:latin typeface="Calibri"/>
              <a:ea typeface="Calibri"/>
              <a:cs typeface="Calibri"/>
              <a:sym typeface="Calibri"/>
            </a:endParaRPr>
          </a:p>
        </p:txBody>
      </p:sp>
      <p:pic>
        <p:nvPicPr>
          <p:cNvPr descr="Logo&#10;&#10;Description automatically generated" id="282" name="Google Shape;282;g3eae049a994_1_9"/>
          <p:cNvPicPr preferRelativeResize="0"/>
          <p:nvPr/>
        </p:nvPicPr>
        <p:blipFill rotWithShape="1">
          <a:blip r:embed="rId3">
            <a:alphaModFix/>
          </a:blip>
          <a:srcRect b="0" l="0" r="0" t="0"/>
          <a:stretch/>
        </p:blipFill>
        <p:spPr>
          <a:xfrm>
            <a:off x="11105367" y="0"/>
            <a:ext cx="1073201" cy="10871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pic>
        <p:nvPicPr>
          <p:cNvPr descr="preencoded.png" id="288" name="Google Shape;288;g3eae049a994_4_26"/>
          <p:cNvPicPr preferRelativeResize="0"/>
          <p:nvPr/>
        </p:nvPicPr>
        <p:blipFill rotWithShape="1">
          <a:blip r:embed="rId3">
            <a:alphaModFix/>
          </a:blip>
          <a:srcRect b="0" l="0" r="0" t="0"/>
          <a:stretch/>
        </p:blipFill>
        <p:spPr>
          <a:xfrm>
            <a:off x="11033760" y="0"/>
            <a:ext cx="1036320" cy="1036320"/>
          </a:xfrm>
          <a:prstGeom prst="rect">
            <a:avLst/>
          </a:prstGeom>
          <a:noFill/>
          <a:ln>
            <a:noFill/>
          </a:ln>
        </p:spPr>
      </p:pic>
      <p:sp>
        <p:nvSpPr>
          <p:cNvPr id="289" name="Google Shape;289;g3eae049a994_4_26"/>
          <p:cNvSpPr/>
          <p:nvPr/>
        </p:nvSpPr>
        <p:spPr>
          <a:xfrm>
            <a:off x="243840" y="6449568"/>
            <a:ext cx="7924800" cy="3413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Montserrat"/>
              <a:buNone/>
            </a:pPr>
            <a:r>
              <a:rPr b="1" lang="en-US" sz="1100">
                <a:solidFill>
                  <a:srgbClr val="FFFFFF"/>
                </a:solidFill>
                <a:latin typeface="Montserrat"/>
                <a:ea typeface="Montserrat"/>
                <a:cs typeface="Montserrat"/>
                <a:sym typeface="Montserrat"/>
              </a:rPr>
              <a:t>T200 AI Leadership &amp; Governance Series  |  2026</a:t>
            </a:r>
            <a:endParaRPr sz="1100">
              <a:solidFill>
                <a:schemeClr val="dk1"/>
              </a:solidFill>
              <a:latin typeface="Calibri"/>
              <a:ea typeface="Calibri"/>
              <a:cs typeface="Calibri"/>
              <a:sym typeface="Calibri"/>
            </a:endParaRPr>
          </a:p>
        </p:txBody>
      </p:sp>
      <p:sp>
        <p:nvSpPr>
          <p:cNvPr id="290" name="Google Shape;290;g3eae049a994_4_26"/>
          <p:cNvSpPr/>
          <p:nvPr/>
        </p:nvSpPr>
        <p:spPr>
          <a:xfrm>
            <a:off x="9144000" y="6449568"/>
            <a:ext cx="2804160" cy="3413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Montserrat"/>
              <a:buNone/>
            </a:pPr>
            <a:r>
              <a:rPr b="1" lang="en-US" sz="1100">
                <a:solidFill>
                  <a:srgbClr val="FFFFFF"/>
                </a:solidFill>
                <a:latin typeface="Montserrat"/>
                <a:ea typeface="Montserrat"/>
                <a:cs typeface="Montserrat"/>
                <a:sym typeface="Montserrat"/>
              </a:rPr>
              <a:t>www.t200.org</a:t>
            </a:r>
            <a:endParaRPr sz="1100">
              <a:solidFill>
                <a:schemeClr val="dk1"/>
              </a:solidFill>
              <a:latin typeface="Calibri"/>
              <a:ea typeface="Calibri"/>
              <a:cs typeface="Calibri"/>
              <a:sym typeface="Calibri"/>
            </a:endParaRPr>
          </a:p>
        </p:txBody>
      </p:sp>
      <p:sp>
        <p:nvSpPr>
          <p:cNvPr id="291" name="Google Shape;291;g3eae049a994_4_26"/>
          <p:cNvSpPr/>
          <p:nvPr/>
        </p:nvSpPr>
        <p:spPr>
          <a:xfrm>
            <a:off x="365760" y="85344"/>
            <a:ext cx="10485120" cy="2682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1300"/>
              <a:buFont typeface="Montserrat"/>
              <a:buNone/>
            </a:pPr>
            <a:r>
              <a:rPr b="1" lang="en-US" sz="1300">
                <a:solidFill>
                  <a:srgbClr val="E97132"/>
                </a:solidFill>
                <a:latin typeface="Montserrat"/>
                <a:ea typeface="Montserrat"/>
                <a:cs typeface="Montserrat"/>
                <a:sym typeface="Montserrat"/>
              </a:rPr>
              <a:t> JUNE 11, 2026  |  LEAD WITH RESPONSIBLE AI: THE AI TRUST IMPERATIVE</a:t>
            </a:r>
            <a:endParaRPr sz="1300">
              <a:solidFill>
                <a:schemeClr val="dk1"/>
              </a:solidFill>
              <a:latin typeface="Calibri"/>
              <a:ea typeface="Calibri"/>
              <a:cs typeface="Calibri"/>
              <a:sym typeface="Calibri"/>
            </a:endParaRPr>
          </a:p>
        </p:txBody>
      </p:sp>
      <p:sp>
        <p:nvSpPr>
          <p:cNvPr id="292" name="Google Shape;292;g3eae049a994_4_26"/>
          <p:cNvSpPr/>
          <p:nvPr/>
        </p:nvSpPr>
        <p:spPr>
          <a:xfrm>
            <a:off x="365760" y="341376"/>
            <a:ext cx="1048512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900"/>
              <a:buFont typeface="Montserrat"/>
              <a:buNone/>
            </a:pPr>
            <a:r>
              <a:rPr b="1" lang="en-US" sz="2900">
                <a:solidFill>
                  <a:srgbClr val="1A1A1A"/>
                </a:solidFill>
                <a:latin typeface="Montserrat"/>
                <a:ea typeface="Montserrat"/>
                <a:cs typeface="Montserrat"/>
                <a:sym typeface="Montserrat"/>
              </a:rPr>
              <a:t>Four Topics Frame the Session</a:t>
            </a:r>
            <a:endParaRPr sz="2900">
              <a:solidFill>
                <a:schemeClr val="dk1"/>
              </a:solidFill>
              <a:latin typeface="Calibri"/>
              <a:ea typeface="Calibri"/>
              <a:cs typeface="Calibri"/>
              <a:sym typeface="Calibri"/>
            </a:endParaRPr>
          </a:p>
        </p:txBody>
      </p:sp>
      <p:sp>
        <p:nvSpPr>
          <p:cNvPr id="293" name="Google Shape;293;g3eae049a994_4_26"/>
          <p:cNvSpPr/>
          <p:nvPr/>
        </p:nvSpPr>
        <p:spPr>
          <a:xfrm>
            <a:off x="365760" y="975360"/>
            <a:ext cx="11460480" cy="426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400"/>
              <a:buFont typeface="Calibri"/>
              <a:buNone/>
            </a:pPr>
            <a:r>
              <a:rPr i="1" lang="en-US" sz="1400">
                <a:solidFill>
                  <a:srgbClr val="555555"/>
                </a:solidFill>
                <a:latin typeface="Montserrat"/>
                <a:ea typeface="Montserrat"/>
                <a:cs typeface="Montserrat"/>
                <a:sym typeface="Montserrat"/>
              </a:rPr>
              <a:t>A practical walkthrough of responsible AI and governance: from principles, to risk, to controls, to implementation.</a:t>
            </a:r>
            <a:endParaRPr sz="1400">
              <a:solidFill>
                <a:schemeClr val="dk1"/>
              </a:solidFill>
              <a:latin typeface="Montserrat"/>
              <a:ea typeface="Montserrat"/>
              <a:cs typeface="Montserrat"/>
              <a:sym typeface="Montserrat"/>
            </a:endParaRPr>
          </a:p>
        </p:txBody>
      </p:sp>
      <p:sp>
        <p:nvSpPr>
          <p:cNvPr id="294" name="Google Shape;294;g3eae049a994_4_26"/>
          <p:cNvSpPr/>
          <p:nvPr/>
        </p:nvSpPr>
        <p:spPr>
          <a:xfrm>
            <a:off x="182880" y="1524000"/>
            <a:ext cx="5852160" cy="2218944"/>
          </a:xfrm>
          <a:prstGeom prst="rect">
            <a:avLst/>
          </a:prstGeom>
          <a:solidFill>
            <a:srgbClr val="FFFFFF"/>
          </a:solidFill>
          <a:ln cap="flat" cmpd="sng" w="9525">
            <a:solidFill>
              <a:srgbClr val="D9D9D9"/>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5" name="Google Shape;295;g3eae049a994_4_26"/>
          <p:cNvSpPr/>
          <p:nvPr/>
        </p:nvSpPr>
        <p:spPr>
          <a:xfrm>
            <a:off x="182880" y="1524000"/>
            <a:ext cx="146304" cy="2218944"/>
          </a:xfrm>
          <a:prstGeom prst="rect">
            <a:avLst/>
          </a:prstGeom>
          <a:solidFill>
            <a:srgbClr val="E97132"/>
          </a:solidFill>
          <a:ln cap="flat" cmpd="sng" w="12700">
            <a:solidFill>
              <a:srgbClr val="E9713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6" name="Google Shape;296;g3eae049a994_4_26"/>
          <p:cNvSpPr/>
          <p:nvPr/>
        </p:nvSpPr>
        <p:spPr>
          <a:xfrm>
            <a:off x="451104" y="1645920"/>
            <a:ext cx="609600" cy="3901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2100"/>
              <a:buFont typeface="Montserrat"/>
              <a:buNone/>
            </a:pPr>
            <a:r>
              <a:rPr b="1" lang="en-US" sz="2100">
                <a:solidFill>
                  <a:srgbClr val="E97132"/>
                </a:solidFill>
                <a:latin typeface="Montserrat"/>
                <a:ea typeface="Montserrat"/>
                <a:cs typeface="Montserrat"/>
                <a:sym typeface="Montserrat"/>
              </a:rPr>
              <a:t>01</a:t>
            </a:r>
            <a:endParaRPr sz="2100">
              <a:solidFill>
                <a:schemeClr val="dk1"/>
              </a:solidFill>
              <a:latin typeface="Montserrat"/>
              <a:ea typeface="Montserrat"/>
              <a:cs typeface="Montserrat"/>
              <a:sym typeface="Montserrat"/>
            </a:endParaRPr>
          </a:p>
        </p:txBody>
      </p:sp>
      <p:sp>
        <p:nvSpPr>
          <p:cNvPr id="297" name="Google Shape;297;g3eae049a994_4_26"/>
          <p:cNvSpPr/>
          <p:nvPr/>
        </p:nvSpPr>
        <p:spPr>
          <a:xfrm>
            <a:off x="1060704" y="1670304"/>
            <a:ext cx="4754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Montserrat"/>
              <a:buNone/>
            </a:pPr>
            <a:r>
              <a:rPr b="1" lang="en-US" sz="1000">
                <a:solidFill>
                  <a:srgbClr val="555555"/>
                </a:solidFill>
                <a:latin typeface="Montserrat"/>
                <a:ea typeface="Montserrat"/>
                <a:cs typeface="Montserrat"/>
                <a:sym typeface="Montserrat"/>
              </a:rPr>
              <a:t>FOUNDATIONS &amp; PRINCIPLES</a:t>
            </a:r>
            <a:endParaRPr sz="1000">
              <a:solidFill>
                <a:schemeClr val="dk1"/>
              </a:solidFill>
              <a:latin typeface="Montserrat"/>
              <a:ea typeface="Montserrat"/>
              <a:cs typeface="Montserrat"/>
              <a:sym typeface="Montserrat"/>
            </a:endParaRPr>
          </a:p>
        </p:txBody>
      </p:sp>
      <p:sp>
        <p:nvSpPr>
          <p:cNvPr id="298" name="Google Shape;298;g3eae049a994_4_26"/>
          <p:cNvSpPr/>
          <p:nvPr/>
        </p:nvSpPr>
        <p:spPr>
          <a:xfrm>
            <a:off x="451104" y="2036064"/>
            <a:ext cx="53644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700"/>
              <a:buFont typeface="Montserrat"/>
              <a:buNone/>
            </a:pPr>
            <a:r>
              <a:rPr b="1" lang="en-US" sz="1700">
                <a:solidFill>
                  <a:srgbClr val="1A1A1A"/>
                </a:solidFill>
                <a:latin typeface="Montserrat"/>
                <a:ea typeface="Montserrat"/>
                <a:cs typeface="Montserrat"/>
                <a:sym typeface="Montserrat"/>
              </a:rPr>
              <a:t>What Are Responsible AI</a:t>
            </a:r>
            <a:endParaRPr sz="1700">
              <a:solidFill>
                <a:schemeClr val="dk1"/>
              </a:solidFill>
              <a:latin typeface="Calibri"/>
              <a:ea typeface="Calibri"/>
              <a:cs typeface="Calibri"/>
              <a:sym typeface="Calibri"/>
            </a:endParaRPr>
          </a:p>
          <a:p>
            <a:pPr indent="0" lvl="0" marL="0" marR="0" rtl="0" algn="l">
              <a:spcBef>
                <a:spcPts val="0"/>
              </a:spcBef>
              <a:spcAft>
                <a:spcPts val="0"/>
              </a:spcAft>
              <a:buClr>
                <a:srgbClr val="1A1A1A"/>
              </a:buClr>
              <a:buSzPts val="1700"/>
              <a:buFont typeface="Montserrat"/>
              <a:buNone/>
            </a:pPr>
            <a:r>
              <a:rPr b="1" lang="en-US" sz="1700">
                <a:solidFill>
                  <a:srgbClr val="1A1A1A"/>
                </a:solidFill>
                <a:latin typeface="Montserrat"/>
                <a:ea typeface="Montserrat"/>
                <a:cs typeface="Montserrat"/>
                <a:sym typeface="Montserrat"/>
              </a:rPr>
              <a:t>and AI Governance?</a:t>
            </a:r>
            <a:endParaRPr sz="1700">
              <a:solidFill>
                <a:schemeClr val="dk1"/>
              </a:solidFill>
              <a:latin typeface="Calibri"/>
              <a:ea typeface="Calibri"/>
              <a:cs typeface="Calibri"/>
              <a:sym typeface="Calibri"/>
            </a:endParaRPr>
          </a:p>
        </p:txBody>
      </p:sp>
      <p:sp>
        <p:nvSpPr>
          <p:cNvPr id="299" name="Google Shape;299;g3eae049a994_4_26"/>
          <p:cNvSpPr/>
          <p:nvPr/>
        </p:nvSpPr>
        <p:spPr>
          <a:xfrm>
            <a:off x="451104" y="2804160"/>
            <a:ext cx="5364480" cy="8168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300"/>
              <a:buFont typeface="Calibri"/>
              <a:buNone/>
            </a:pPr>
            <a:r>
              <a:rPr lang="en-US" sz="1300">
                <a:solidFill>
                  <a:srgbClr val="1A1A1A"/>
                </a:solidFill>
                <a:latin typeface="Montserrat"/>
                <a:ea typeface="Montserrat"/>
                <a:cs typeface="Montserrat"/>
                <a:sym typeface="Montserrat"/>
              </a:rPr>
              <a:t>Understanding the distinction between responsible AI outcomes and the governance mechanisms used to achieve them.</a:t>
            </a:r>
            <a:endParaRPr sz="1300">
              <a:solidFill>
                <a:schemeClr val="dk1"/>
              </a:solidFill>
              <a:latin typeface="Montserrat"/>
              <a:ea typeface="Montserrat"/>
              <a:cs typeface="Montserrat"/>
              <a:sym typeface="Montserrat"/>
            </a:endParaRPr>
          </a:p>
        </p:txBody>
      </p:sp>
      <p:sp>
        <p:nvSpPr>
          <p:cNvPr id="300" name="Google Shape;300;g3eae049a994_4_26"/>
          <p:cNvSpPr/>
          <p:nvPr/>
        </p:nvSpPr>
        <p:spPr>
          <a:xfrm>
            <a:off x="6217920" y="1524000"/>
            <a:ext cx="5852160" cy="2218944"/>
          </a:xfrm>
          <a:prstGeom prst="rect">
            <a:avLst/>
          </a:prstGeom>
          <a:solidFill>
            <a:srgbClr val="FFFFFF"/>
          </a:solidFill>
          <a:ln cap="flat" cmpd="sng" w="9525">
            <a:solidFill>
              <a:srgbClr val="D9D9D9"/>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1" name="Google Shape;301;g3eae049a994_4_26"/>
          <p:cNvSpPr/>
          <p:nvPr/>
        </p:nvSpPr>
        <p:spPr>
          <a:xfrm>
            <a:off x="6217920" y="1524000"/>
            <a:ext cx="146304" cy="2218944"/>
          </a:xfrm>
          <a:prstGeom prst="rect">
            <a:avLst/>
          </a:prstGeom>
          <a:solidFill>
            <a:srgbClr val="156082"/>
          </a:solidFill>
          <a:ln cap="flat" cmpd="sng" w="12700">
            <a:solidFill>
              <a:srgbClr val="15608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2" name="Google Shape;302;g3eae049a994_4_26"/>
          <p:cNvSpPr/>
          <p:nvPr/>
        </p:nvSpPr>
        <p:spPr>
          <a:xfrm>
            <a:off x="6486144" y="1645920"/>
            <a:ext cx="609600" cy="3901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082"/>
              </a:buClr>
              <a:buSzPts val="2100"/>
              <a:buFont typeface="Montserrat"/>
              <a:buNone/>
            </a:pPr>
            <a:r>
              <a:rPr b="1" lang="en-US" sz="2100">
                <a:solidFill>
                  <a:srgbClr val="156082"/>
                </a:solidFill>
                <a:latin typeface="Montserrat"/>
                <a:ea typeface="Montserrat"/>
                <a:cs typeface="Montserrat"/>
                <a:sym typeface="Montserrat"/>
              </a:rPr>
              <a:t>02</a:t>
            </a:r>
            <a:endParaRPr sz="2100">
              <a:solidFill>
                <a:schemeClr val="dk1"/>
              </a:solidFill>
              <a:latin typeface="Montserrat"/>
              <a:ea typeface="Montserrat"/>
              <a:cs typeface="Montserrat"/>
              <a:sym typeface="Montserrat"/>
            </a:endParaRPr>
          </a:p>
        </p:txBody>
      </p:sp>
      <p:sp>
        <p:nvSpPr>
          <p:cNvPr id="303" name="Google Shape;303;g3eae049a994_4_26"/>
          <p:cNvSpPr/>
          <p:nvPr/>
        </p:nvSpPr>
        <p:spPr>
          <a:xfrm>
            <a:off x="7095744" y="1670304"/>
            <a:ext cx="4754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Montserrat"/>
              <a:buNone/>
            </a:pPr>
            <a:r>
              <a:rPr b="1" lang="en-US" sz="1000">
                <a:solidFill>
                  <a:srgbClr val="555555"/>
                </a:solidFill>
                <a:latin typeface="Montserrat"/>
                <a:ea typeface="Montserrat"/>
                <a:cs typeface="Montserrat"/>
                <a:sym typeface="Montserrat"/>
              </a:rPr>
              <a:t>RISK &amp; REGULATORY LANDSCAPE</a:t>
            </a:r>
            <a:endParaRPr sz="1000">
              <a:solidFill>
                <a:schemeClr val="dk1"/>
              </a:solidFill>
              <a:latin typeface="Montserrat"/>
              <a:ea typeface="Montserrat"/>
              <a:cs typeface="Montserrat"/>
              <a:sym typeface="Montserrat"/>
            </a:endParaRPr>
          </a:p>
        </p:txBody>
      </p:sp>
      <p:sp>
        <p:nvSpPr>
          <p:cNvPr id="304" name="Google Shape;304;g3eae049a994_4_26"/>
          <p:cNvSpPr/>
          <p:nvPr/>
        </p:nvSpPr>
        <p:spPr>
          <a:xfrm>
            <a:off x="6486144" y="2036064"/>
            <a:ext cx="53644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700"/>
              <a:buFont typeface="Montserrat"/>
              <a:buNone/>
            </a:pPr>
            <a:r>
              <a:rPr b="1" lang="en-US" sz="1700">
                <a:solidFill>
                  <a:srgbClr val="1A1A1A"/>
                </a:solidFill>
                <a:latin typeface="Montserrat"/>
                <a:ea typeface="Montserrat"/>
                <a:cs typeface="Montserrat"/>
                <a:sym typeface="Montserrat"/>
              </a:rPr>
              <a:t>What is Driving AI</a:t>
            </a:r>
            <a:endParaRPr sz="1700">
              <a:solidFill>
                <a:schemeClr val="dk1"/>
              </a:solidFill>
              <a:latin typeface="Montserrat"/>
              <a:ea typeface="Montserrat"/>
              <a:cs typeface="Montserrat"/>
              <a:sym typeface="Montserrat"/>
            </a:endParaRPr>
          </a:p>
          <a:p>
            <a:pPr indent="0" lvl="0" marL="0" marR="0" rtl="0" algn="l">
              <a:spcBef>
                <a:spcPts val="0"/>
              </a:spcBef>
              <a:spcAft>
                <a:spcPts val="0"/>
              </a:spcAft>
              <a:buClr>
                <a:srgbClr val="1A1A1A"/>
              </a:buClr>
              <a:buSzPts val="1700"/>
              <a:buFont typeface="Montserrat"/>
              <a:buNone/>
            </a:pPr>
            <a:r>
              <a:rPr b="1" lang="en-US" sz="1700">
                <a:solidFill>
                  <a:srgbClr val="1A1A1A"/>
                </a:solidFill>
                <a:latin typeface="Montserrat"/>
                <a:ea typeface="Montserrat"/>
                <a:cs typeface="Montserrat"/>
                <a:sym typeface="Montserrat"/>
              </a:rPr>
              <a:t>Governance</a:t>
            </a:r>
            <a:endParaRPr sz="1700">
              <a:solidFill>
                <a:schemeClr val="dk1"/>
              </a:solidFill>
              <a:latin typeface="Montserrat"/>
              <a:ea typeface="Montserrat"/>
              <a:cs typeface="Montserrat"/>
              <a:sym typeface="Montserrat"/>
            </a:endParaRPr>
          </a:p>
        </p:txBody>
      </p:sp>
      <p:sp>
        <p:nvSpPr>
          <p:cNvPr id="305" name="Google Shape;305;g3eae049a994_4_26"/>
          <p:cNvSpPr/>
          <p:nvPr/>
        </p:nvSpPr>
        <p:spPr>
          <a:xfrm>
            <a:off x="6486144" y="2804160"/>
            <a:ext cx="5364480" cy="8168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300"/>
              <a:buFont typeface="Calibri"/>
              <a:buNone/>
            </a:pPr>
            <a:r>
              <a:rPr lang="en-US" sz="1300">
                <a:solidFill>
                  <a:srgbClr val="1A1A1A"/>
                </a:solidFill>
                <a:latin typeface="Montserrat"/>
                <a:ea typeface="Montserrat"/>
                <a:cs typeface="Montserrat"/>
                <a:sym typeface="Montserrat"/>
              </a:rPr>
              <a:t>Understanding the business, regulatory, and technology risks driving governance requirements.</a:t>
            </a:r>
            <a:endParaRPr sz="1300">
              <a:solidFill>
                <a:schemeClr val="dk1"/>
              </a:solidFill>
              <a:latin typeface="Montserrat"/>
              <a:ea typeface="Montserrat"/>
              <a:cs typeface="Montserrat"/>
              <a:sym typeface="Montserrat"/>
            </a:endParaRPr>
          </a:p>
        </p:txBody>
      </p:sp>
      <p:sp>
        <p:nvSpPr>
          <p:cNvPr id="306" name="Google Shape;306;g3eae049a994_4_26"/>
          <p:cNvSpPr/>
          <p:nvPr/>
        </p:nvSpPr>
        <p:spPr>
          <a:xfrm>
            <a:off x="182880" y="3901440"/>
            <a:ext cx="5852160" cy="2218944"/>
          </a:xfrm>
          <a:prstGeom prst="rect">
            <a:avLst/>
          </a:prstGeom>
          <a:solidFill>
            <a:srgbClr val="FFFFFF"/>
          </a:solidFill>
          <a:ln cap="flat" cmpd="sng" w="9525">
            <a:solidFill>
              <a:srgbClr val="D9D9D9"/>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7" name="Google Shape;307;g3eae049a994_4_26"/>
          <p:cNvSpPr/>
          <p:nvPr/>
        </p:nvSpPr>
        <p:spPr>
          <a:xfrm>
            <a:off x="182880" y="3901440"/>
            <a:ext cx="146304" cy="2218944"/>
          </a:xfrm>
          <a:prstGeom prst="rect">
            <a:avLst/>
          </a:prstGeom>
          <a:solidFill>
            <a:srgbClr val="0E2841"/>
          </a:solidFill>
          <a:ln cap="flat" cmpd="sng" w="12700">
            <a:solidFill>
              <a:srgbClr val="0E2841"/>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8" name="Google Shape;308;g3eae049a994_4_26"/>
          <p:cNvSpPr/>
          <p:nvPr/>
        </p:nvSpPr>
        <p:spPr>
          <a:xfrm>
            <a:off x="451104" y="4023360"/>
            <a:ext cx="609600" cy="3901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2841"/>
              </a:buClr>
              <a:buSzPts val="2100"/>
              <a:buFont typeface="Montserrat"/>
              <a:buNone/>
            </a:pPr>
            <a:r>
              <a:rPr b="1" lang="en-US" sz="2100">
                <a:solidFill>
                  <a:srgbClr val="0E2841"/>
                </a:solidFill>
                <a:latin typeface="Montserrat"/>
                <a:ea typeface="Montserrat"/>
                <a:cs typeface="Montserrat"/>
                <a:sym typeface="Montserrat"/>
              </a:rPr>
              <a:t>03</a:t>
            </a:r>
            <a:endParaRPr sz="2100">
              <a:solidFill>
                <a:schemeClr val="dk1"/>
              </a:solidFill>
              <a:latin typeface="Montserrat"/>
              <a:ea typeface="Montserrat"/>
              <a:cs typeface="Montserrat"/>
              <a:sym typeface="Montserrat"/>
            </a:endParaRPr>
          </a:p>
        </p:txBody>
      </p:sp>
      <p:sp>
        <p:nvSpPr>
          <p:cNvPr id="309" name="Google Shape;309;g3eae049a994_4_26"/>
          <p:cNvSpPr/>
          <p:nvPr/>
        </p:nvSpPr>
        <p:spPr>
          <a:xfrm>
            <a:off x="1060704" y="4047744"/>
            <a:ext cx="4754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Montserrat"/>
              <a:buNone/>
            </a:pPr>
            <a:r>
              <a:rPr b="1" lang="en-US" sz="1000">
                <a:solidFill>
                  <a:srgbClr val="555555"/>
                </a:solidFill>
                <a:latin typeface="Montserrat"/>
                <a:ea typeface="Montserrat"/>
                <a:cs typeface="Montserrat"/>
                <a:sym typeface="Montserrat"/>
              </a:rPr>
              <a:t>AI RISK IN PRACTICE</a:t>
            </a:r>
            <a:endParaRPr sz="1000">
              <a:solidFill>
                <a:schemeClr val="dk1"/>
              </a:solidFill>
              <a:latin typeface="Montserrat"/>
              <a:ea typeface="Montserrat"/>
              <a:cs typeface="Montserrat"/>
              <a:sym typeface="Montserrat"/>
            </a:endParaRPr>
          </a:p>
        </p:txBody>
      </p:sp>
      <p:sp>
        <p:nvSpPr>
          <p:cNvPr id="310" name="Google Shape;310;g3eae049a994_4_26"/>
          <p:cNvSpPr/>
          <p:nvPr/>
        </p:nvSpPr>
        <p:spPr>
          <a:xfrm>
            <a:off x="451104" y="4413504"/>
            <a:ext cx="53644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700"/>
              <a:buFont typeface="Montserrat"/>
              <a:buNone/>
            </a:pPr>
            <a:r>
              <a:rPr b="1" lang="en-US" sz="1700">
                <a:solidFill>
                  <a:srgbClr val="1A1A1A"/>
                </a:solidFill>
                <a:latin typeface="Montserrat"/>
                <a:ea typeface="Montserrat"/>
                <a:cs typeface="Montserrat"/>
                <a:sym typeface="Montserrat"/>
              </a:rPr>
              <a:t>Where AI Risk</a:t>
            </a:r>
            <a:endParaRPr sz="1700">
              <a:solidFill>
                <a:schemeClr val="dk1"/>
              </a:solidFill>
              <a:latin typeface="Montserrat"/>
              <a:ea typeface="Montserrat"/>
              <a:cs typeface="Montserrat"/>
              <a:sym typeface="Montserrat"/>
            </a:endParaRPr>
          </a:p>
          <a:p>
            <a:pPr indent="0" lvl="0" marL="0" marR="0" rtl="0" algn="l">
              <a:spcBef>
                <a:spcPts val="0"/>
              </a:spcBef>
              <a:spcAft>
                <a:spcPts val="0"/>
              </a:spcAft>
              <a:buClr>
                <a:srgbClr val="1A1A1A"/>
              </a:buClr>
              <a:buSzPts val="1700"/>
              <a:buFont typeface="Montserrat"/>
              <a:buNone/>
            </a:pPr>
            <a:r>
              <a:rPr b="1" lang="en-US" sz="1700">
                <a:solidFill>
                  <a:srgbClr val="1A1A1A"/>
                </a:solidFill>
                <a:latin typeface="Montserrat"/>
                <a:ea typeface="Montserrat"/>
                <a:cs typeface="Montserrat"/>
                <a:sym typeface="Montserrat"/>
              </a:rPr>
              <a:t>Comes From</a:t>
            </a:r>
            <a:endParaRPr sz="1700">
              <a:solidFill>
                <a:schemeClr val="dk1"/>
              </a:solidFill>
              <a:latin typeface="Montserrat"/>
              <a:ea typeface="Montserrat"/>
              <a:cs typeface="Montserrat"/>
              <a:sym typeface="Montserrat"/>
            </a:endParaRPr>
          </a:p>
        </p:txBody>
      </p:sp>
      <p:sp>
        <p:nvSpPr>
          <p:cNvPr id="311" name="Google Shape;311;g3eae049a994_4_26"/>
          <p:cNvSpPr/>
          <p:nvPr/>
        </p:nvSpPr>
        <p:spPr>
          <a:xfrm>
            <a:off x="451104" y="5181600"/>
            <a:ext cx="5364480" cy="8168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300"/>
              <a:buFont typeface="Calibri"/>
              <a:buNone/>
            </a:pPr>
            <a:r>
              <a:rPr lang="en-US" sz="1300">
                <a:solidFill>
                  <a:srgbClr val="1A1A1A"/>
                </a:solidFill>
                <a:latin typeface="Montserrat"/>
                <a:ea typeface="Montserrat"/>
                <a:cs typeface="Montserrat"/>
                <a:sym typeface="Montserrat"/>
              </a:rPr>
              <a:t>Exploring modern AI architectures and where data, model, runtime, agentic, and decision risks emerge.</a:t>
            </a:r>
            <a:endParaRPr sz="1300">
              <a:solidFill>
                <a:schemeClr val="dk1"/>
              </a:solidFill>
              <a:latin typeface="Montserrat"/>
              <a:ea typeface="Montserrat"/>
              <a:cs typeface="Montserrat"/>
              <a:sym typeface="Montserrat"/>
            </a:endParaRPr>
          </a:p>
        </p:txBody>
      </p:sp>
      <p:sp>
        <p:nvSpPr>
          <p:cNvPr id="312" name="Google Shape;312;g3eae049a994_4_26"/>
          <p:cNvSpPr/>
          <p:nvPr/>
        </p:nvSpPr>
        <p:spPr>
          <a:xfrm>
            <a:off x="6217920" y="3901440"/>
            <a:ext cx="5852160" cy="2218944"/>
          </a:xfrm>
          <a:prstGeom prst="rect">
            <a:avLst/>
          </a:prstGeom>
          <a:solidFill>
            <a:srgbClr val="FFFFFF"/>
          </a:solidFill>
          <a:ln cap="flat" cmpd="sng" w="9525">
            <a:solidFill>
              <a:srgbClr val="D9D9D9"/>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3" name="Google Shape;313;g3eae049a994_4_26"/>
          <p:cNvSpPr/>
          <p:nvPr/>
        </p:nvSpPr>
        <p:spPr>
          <a:xfrm>
            <a:off x="6217920" y="3901440"/>
            <a:ext cx="146304" cy="2218944"/>
          </a:xfrm>
          <a:prstGeom prst="rect">
            <a:avLst/>
          </a:prstGeom>
          <a:solidFill>
            <a:srgbClr val="6D2E46"/>
          </a:solidFill>
          <a:ln cap="flat" cmpd="sng" w="12700">
            <a:solidFill>
              <a:srgbClr val="6D2E46"/>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4" name="Google Shape;314;g3eae049a994_4_26"/>
          <p:cNvSpPr/>
          <p:nvPr/>
        </p:nvSpPr>
        <p:spPr>
          <a:xfrm>
            <a:off x="6486144" y="4023360"/>
            <a:ext cx="609600" cy="3901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2100"/>
              <a:buFont typeface="Montserrat"/>
              <a:buNone/>
            </a:pPr>
            <a:r>
              <a:rPr b="1" lang="en-US" sz="2100">
                <a:solidFill>
                  <a:srgbClr val="6D2E46"/>
                </a:solidFill>
                <a:latin typeface="Montserrat"/>
                <a:ea typeface="Montserrat"/>
                <a:cs typeface="Montserrat"/>
                <a:sym typeface="Montserrat"/>
              </a:rPr>
              <a:t>04</a:t>
            </a:r>
            <a:endParaRPr sz="2100">
              <a:solidFill>
                <a:schemeClr val="dk1"/>
              </a:solidFill>
              <a:latin typeface="Montserrat"/>
              <a:ea typeface="Montserrat"/>
              <a:cs typeface="Montserrat"/>
              <a:sym typeface="Montserrat"/>
            </a:endParaRPr>
          </a:p>
        </p:txBody>
      </p:sp>
      <p:sp>
        <p:nvSpPr>
          <p:cNvPr id="315" name="Google Shape;315;g3eae049a994_4_26"/>
          <p:cNvSpPr/>
          <p:nvPr/>
        </p:nvSpPr>
        <p:spPr>
          <a:xfrm>
            <a:off x="7095744" y="4047744"/>
            <a:ext cx="4754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Montserrat"/>
              <a:buNone/>
            </a:pPr>
            <a:r>
              <a:rPr b="1" lang="en-US" sz="1000">
                <a:solidFill>
                  <a:srgbClr val="555555"/>
                </a:solidFill>
                <a:latin typeface="Montserrat"/>
                <a:ea typeface="Montserrat"/>
                <a:cs typeface="Montserrat"/>
                <a:sym typeface="Montserrat"/>
              </a:rPr>
              <a:t>IMPLEMENTATION &amp; OVERSIGHT</a:t>
            </a:r>
            <a:endParaRPr sz="1000">
              <a:solidFill>
                <a:schemeClr val="dk1"/>
              </a:solidFill>
              <a:latin typeface="Montserrat"/>
              <a:ea typeface="Montserrat"/>
              <a:cs typeface="Montserrat"/>
              <a:sym typeface="Montserrat"/>
            </a:endParaRPr>
          </a:p>
        </p:txBody>
      </p:sp>
      <p:sp>
        <p:nvSpPr>
          <p:cNvPr id="316" name="Google Shape;316;g3eae049a994_4_26"/>
          <p:cNvSpPr/>
          <p:nvPr/>
        </p:nvSpPr>
        <p:spPr>
          <a:xfrm>
            <a:off x="6486144" y="4413504"/>
            <a:ext cx="53644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700"/>
              <a:buFont typeface="Montserrat"/>
              <a:buNone/>
            </a:pPr>
            <a:r>
              <a:rPr b="1" lang="en-US" sz="1700">
                <a:solidFill>
                  <a:srgbClr val="1A1A1A"/>
                </a:solidFill>
                <a:latin typeface="Montserrat"/>
                <a:ea typeface="Montserrat"/>
                <a:cs typeface="Montserrat"/>
                <a:sym typeface="Montserrat"/>
              </a:rPr>
              <a:t>A Practical</a:t>
            </a:r>
            <a:endParaRPr sz="1700">
              <a:solidFill>
                <a:schemeClr val="dk1"/>
              </a:solidFill>
              <a:latin typeface="Montserrat"/>
              <a:ea typeface="Montserrat"/>
              <a:cs typeface="Montserrat"/>
              <a:sym typeface="Montserrat"/>
            </a:endParaRPr>
          </a:p>
          <a:p>
            <a:pPr indent="0" lvl="0" marL="0" marR="0" rtl="0" algn="l">
              <a:spcBef>
                <a:spcPts val="0"/>
              </a:spcBef>
              <a:spcAft>
                <a:spcPts val="0"/>
              </a:spcAft>
              <a:buClr>
                <a:srgbClr val="1A1A1A"/>
              </a:buClr>
              <a:buSzPts val="1700"/>
              <a:buFont typeface="Montserrat"/>
              <a:buNone/>
            </a:pPr>
            <a:r>
              <a:rPr b="1" lang="en-US" sz="1700">
                <a:solidFill>
                  <a:srgbClr val="1A1A1A"/>
                </a:solidFill>
                <a:latin typeface="Montserrat"/>
                <a:ea typeface="Montserrat"/>
                <a:cs typeface="Montserrat"/>
                <a:sym typeface="Montserrat"/>
              </a:rPr>
              <a:t>Governance Approach</a:t>
            </a:r>
            <a:endParaRPr sz="1700">
              <a:solidFill>
                <a:schemeClr val="dk1"/>
              </a:solidFill>
              <a:latin typeface="Montserrat"/>
              <a:ea typeface="Montserrat"/>
              <a:cs typeface="Montserrat"/>
              <a:sym typeface="Montserrat"/>
            </a:endParaRPr>
          </a:p>
        </p:txBody>
      </p:sp>
      <p:sp>
        <p:nvSpPr>
          <p:cNvPr id="317" name="Google Shape;317;g3eae049a994_4_26"/>
          <p:cNvSpPr/>
          <p:nvPr/>
        </p:nvSpPr>
        <p:spPr>
          <a:xfrm>
            <a:off x="6486144" y="5181600"/>
            <a:ext cx="5364480" cy="8168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300"/>
              <a:buFont typeface="Calibri"/>
              <a:buNone/>
            </a:pPr>
            <a:r>
              <a:rPr lang="en-US" sz="1300">
                <a:solidFill>
                  <a:srgbClr val="1A1A1A"/>
                </a:solidFill>
                <a:latin typeface="Montserrat"/>
                <a:ea typeface="Montserrat"/>
                <a:cs typeface="Montserrat"/>
                <a:sym typeface="Montserrat"/>
              </a:rPr>
              <a:t>Applying discovery, governance, controls, and monitoring to establish trusted AI operations.</a:t>
            </a:r>
            <a:endParaRPr sz="1300">
              <a:solidFill>
                <a:srgbClr val="1A1A1A"/>
              </a:solidFill>
              <a:latin typeface="Montserrat"/>
              <a:ea typeface="Montserrat"/>
              <a:cs typeface="Montserrat"/>
              <a:sym typeface="Montserrat"/>
            </a:endParaRPr>
          </a:p>
          <a:p>
            <a:pPr indent="0" lvl="0" marL="0" marR="0" rtl="0" algn="l">
              <a:spcBef>
                <a:spcPts val="0"/>
              </a:spcBef>
              <a:spcAft>
                <a:spcPts val="0"/>
              </a:spcAft>
              <a:buClr>
                <a:srgbClr val="1A1A1A"/>
              </a:buClr>
              <a:buSzPts val="1300"/>
              <a:buFont typeface="Calibri"/>
              <a:buNone/>
            </a:pPr>
            <a:r>
              <a:t/>
            </a:r>
            <a:endParaRPr sz="1300">
              <a:solidFill>
                <a:srgbClr val="1A1A1A"/>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300">
                <a:solidFill>
                  <a:srgbClr val="1A1A1A"/>
                </a:solidFill>
                <a:latin typeface="Montserrat"/>
                <a:ea typeface="Montserrat"/>
                <a:cs typeface="Montserrat"/>
                <a:sym typeface="Montserrat"/>
              </a:rPr>
              <a:t>The four-step model: Discover → Govern → Control → Monitor</a:t>
            </a:r>
            <a:endParaRPr sz="1300">
              <a:solidFill>
                <a:srgbClr val="1A1A1A"/>
              </a:solidFill>
              <a:latin typeface="Montserrat"/>
              <a:ea typeface="Montserrat"/>
              <a:cs typeface="Montserrat"/>
              <a:sym typeface="Montserrat"/>
            </a:endParaRPr>
          </a:p>
          <a:p>
            <a:pPr indent="0" lvl="0" marL="0" marR="0" rtl="0" algn="l">
              <a:spcBef>
                <a:spcPts val="0"/>
              </a:spcBef>
              <a:spcAft>
                <a:spcPts val="0"/>
              </a:spcAft>
              <a:buClr>
                <a:srgbClr val="1A1A1A"/>
              </a:buClr>
              <a:buSzPts val="1300"/>
              <a:buFont typeface="Calibri"/>
              <a:buNone/>
            </a:pPr>
            <a:r>
              <a:t/>
            </a:r>
            <a:endParaRPr sz="1300">
              <a:solidFill>
                <a:srgbClr val="1A1A1A"/>
              </a:solidFill>
              <a:latin typeface="Montserrat"/>
              <a:ea typeface="Montserrat"/>
              <a:cs typeface="Montserrat"/>
              <a:sym typeface="Montserrat"/>
            </a:endParaRPr>
          </a:p>
        </p:txBody>
      </p:sp>
      <p:sp>
        <p:nvSpPr>
          <p:cNvPr id="318" name="Google Shape;318;g3eae049a994_4_26"/>
          <p:cNvSpPr txBox="1"/>
          <p:nvPr/>
        </p:nvSpPr>
        <p:spPr>
          <a:xfrm>
            <a:off x="3042700" y="3188741"/>
            <a:ext cx="6106600" cy="492443"/>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0" lang="en-U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319" name="Google Shape;319;g3eae049a994_4_26"/>
          <p:cNvSpPr/>
          <p:nvPr/>
        </p:nvSpPr>
        <p:spPr>
          <a:xfrm>
            <a:off x="0" y="6368133"/>
            <a:ext cx="12216300" cy="489900"/>
          </a:xfrm>
          <a:prstGeom prst="round2SameRect">
            <a:avLst>
              <a:gd fmla="val 47728" name="adj1"/>
              <a:gd fmla="val 0" name="adj2"/>
            </a:avLst>
          </a:prstGeom>
          <a:solidFill>
            <a:srgbClr val="9BBB59"/>
          </a:solidFill>
          <a:ln cap="flat" cmpd="sng" w="9525">
            <a:solidFill>
              <a:srgbClr val="9BBB5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cap="none" strike="noStrike">
                <a:solidFill>
                  <a:schemeClr val="lt1"/>
                </a:solidFill>
                <a:latin typeface="Montserrat"/>
                <a:ea typeface="Montserrat"/>
                <a:cs typeface="Montserrat"/>
                <a:sym typeface="Montserrat"/>
              </a:rPr>
              <a:t>T200 AI Leadership &amp; Governance Series  |  2026								www.t200.org</a:t>
            </a:r>
            <a:endParaRPr b="1" i="0" sz="10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8F8"/>
        </a:solidFill>
      </p:bgPr>
    </p:bg>
    <p:spTree>
      <p:nvGrpSpPr>
        <p:cNvPr id="324" name="Shape 324"/>
        <p:cNvGrpSpPr/>
        <p:nvPr/>
      </p:nvGrpSpPr>
      <p:grpSpPr>
        <a:xfrm>
          <a:off x="0" y="0"/>
          <a:ext cx="0" cy="0"/>
          <a:chOff x="0" y="0"/>
          <a:chExt cx="0" cy="0"/>
        </a:xfrm>
      </p:grpSpPr>
      <p:sp>
        <p:nvSpPr>
          <p:cNvPr id="325" name="Google Shape;325;g3eaf5b54de6_5_0"/>
          <p:cNvSpPr/>
          <p:nvPr/>
        </p:nvSpPr>
        <p:spPr>
          <a:xfrm>
            <a:off x="-21193" y="6375321"/>
            <a:ext cx="12216300" cy="489900"/>
          </a:xfrm>
          <a:prstGeom prst="round2SameRect">
            <a:avLst>
              <a:gd fmla="val 47728" name="adj1"/>
              <a:gd fmla="val 0" name="adj2"/>
            </a:avLst>
          </a:prstGeom>
          <a:solidFill>
            <a:srgbClr val="9BBB59"/>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cap="none" strike="noStrike">
                <a:solidFill>
                  <a:schemeClr val="lt1"/>
                </a:solidFill>
                <a:latin typeface="Montserrat"/>
                <a:ea typeface="Montserrat"/>
                <a:cs typeface="Montserrat"/>
                <a:sym typeface="Montserrat"/>
              </a:rPr>
              <a:t>T200 AI Leadership &amp; Governance Series  |  2026								www.t200.org</a:t>
            </a:r>
            <a:endParaRPr b="1" i="0" sz="1000" u="none" cap="none" strike="noStrike">
              <a:solidFill>
                <a:schemeClr val="lt1"/>
              </a:solidFill>
              <a:latin typeface="Montserrat"/>
              <a:ea typeface="Montserrat"/>
              <a:cs typeface="Montserrat"/>
              <a:sym typeface="Montserrat"/>
            </a:endParaRPr>
          </a:p>
        </p:txBody>
      </p:sp>
      <p:sp>
        <p:nvSpPr>
          <p:cNvPr id="326" name="Google Shape;326;g3eaf5b54de6_5_0"/>
          <p:cNvSpPr/>
          <p:nvPr/>
        </p:nvSpPr>
        <p:spPr>
          <a:xfrm>
            <a:off x="365760" y="85344"/>
            <a:ext cx="10363200" cy="26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1300"/>
              <a:buFont typeface="Montserrat"/>
              <a:buNone/>
            </a:pPr>
            <a:r>
              <a:rPr b="1" lang="en-US" sz="1300">
                <a:solidFill>
                  <a:srgbClr val="E97132"/>
                </a:solidFill>
                <a:latin typeface="Montserrat"/>
                <a:ea typeface="Montserrat"/>
                <a:cs typeface="Montserrat"/>
                <a:sym typeface="Montserrat"/>
              </a:rPr>
              <a:t>TOPIC 1 OF 4  |  FOUNDATIONS &amp; PRINCIPLES</a:t>
            </a:r>
            <a:endParaRPr sz="1300">
              <a:solidFill>
                <a:schemeClr val="dk1"/>
              </a:solidFill>
              <a:latin typeface="Calibri"/>
              <a:ea typeface="Calibri"/>
              <a:cs typeface="Calibri"/>
              <a:sym typeface="Calibri"/>
            </a:endParaRPr>
          </a:p>
        </p:txBody>
      </p:sp>
      <p:sp>
        <p:nvSpPr>
          <p:cNvPr id="327" name="Google Shape;327;g3eaf5b54de6_5_0"/>
          <p:cNvSpPr/>
          <p:nvPr/>
        </p:nvSpPr>
        <p:spPr>
          <a:xfrm>
            <a:off x="365760" y="329184"/>
            <a:ext cx="104850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900"/>
              <a:buFont typeface="Montserrat"/>
              <a:buNone/>
            </a:pPr>
            <a:r>
              <a:rPr b="1" lang="en-US" sz="2900">
                <a:solidFill>
                  <a:srgbClr val="1A1A1A"/>
                </a:solidFill>
                <a:latin typeface="Montserrat"/>
                <a:ea typeface="Montserrat"/>
                <a:cs typeface="Montserrat"/>
                <a:sym typeface="Montserrat"/>
              </a:rPr>
              <a:t>What Are Responsible AI and AI Governance?</a:t>
            </a:r>
            <a:endParaRPr sz="2900">
              <a:solidFill>
                <a:schemeClr val="dk1"/>
              </a:solidFill>
              <a:latin typeface="Calibri"/>
              <a:ea typeface="Calibri"/>
              <a:cs typeface="Calibri"/>
              <a:sym typeface="Calibri"/>
            </a:endParaRPr>
          </a:p>
        </p:txBody>
      </p:sp>
      <p:sp>
        <p:nvSpPr>
          <p:cNvPr id="328" name="Google Shape;328;g3eaf5b54de6_5_0"/>
          <p:cNvSpPr/>
          <p:nvPr/>
        </p:nvSpPr>
        <p:spPr>
          <a:xfrm>
            <a:off x="365760" y="801912"/>
            <a:ext cx="11216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400"/>
              <a:buFont typeface="Calibri"/>
              <a:buNone/>
            </a:pPr>
            <a:r>
              <a:rPr i="1" lang="en-US" sz="1400">
                <a:solidFill>
                  <a:srgbClr val="555555"/>
                </a:solidFill>
                <a:latin typeface="Montserrat"/>
                <a:ea typeface="Montserrat"/>
                <a:cs typeface="Montserrat"/>
                <a:sym typeface="Montserrat"/>
              </a:rPr>
              <a:t>Responsible AI defines the outcomes. AI Governance establishes the operating model to achieve them.</a:t>
            </a:r>
            <a:endParaRPr sz="1400">
              <a:solidFill>
                <a:schemeClr val="dk1"/>
              </a:solidFill>
              <a:latin typeface="Montserrat"/>
              <a:ea typeface="Montserrat"/>
              <a:cs typeface="Montserrat"/>
              <a:sym typeface="Montserrat"/>
            </a:endParaRPr>
          </a:p>
        </p:txBody>
      </p:sp>
      <p:pic>
        <p:nvPicPr>
          <p:cNvPr descr="preencoded.png" id="329" name="Google Shape;329;g3eaf5b54de6_5_0"/>
          <p:cNvPicPr preferRelativeResize="0"/>
          <p:nvPr/>
        </p:nvPicPr>
        <p:blipFill rotWithShape="1">
          <a:blip r:embed="rId3">
            <a:alphaModFix/>
          </a:blip>
          <a:srcRect b="0" l="0" r="0" t="0"/>
          <a:stretch/>
        </p:blipFill>
        <p:spPr>
          <a:xfrm>
            <a:off x="11033760" y="0"/>
            <a:ext cx="1036319" cy="1036321"/>
          </a:xfrm>
          <a:prstGeom prst="rect">
            <a:avLst/>
          </a:prstGeom>
          <a:noFill/>
          <a:ln>
            <a:noFill/>
          </a:ln>
        </p:spPr>
      </p:pic>
      <p:grpSp>
        <p:nvGrpSpPr>
          <p:cNvPr id="330" name="Google Shape;330;g3eaf5b54de6_5_0"/>
          <p:cNvGrpSpPr/>
          <p:nvPr/>
        </p:nvGrpSpPr>
        <p:grpSpPr>
          <a:xfrm>
            <a:off x="27980" y="1384850"/>
            <a:ext cx="12070199" cy="4741650"/>
            <a:chOff x="27980" y="1384850"/>
            <a:chExt cx="12070199" cy="4741650"/>
          </a:xfrm>
        </p:grpSpPr>
        <p:sp>
          <p:nvSpPr>
            <p:cNvPr id="331" name="Google Shape;331;g3eaf5b54de6_5_0"/>
            <p:cNvSpPr/>
            <p:nvPr/>
          </p:nvSpPr>
          <p:spPr>
            <a:xfrm>
              <a:off x="27986" y="1384850"/>
              <a:ext cx="14631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E97132"/>
                </a:buClr>
                <a:buSzPts val="1500"/>
                <a:buFont typeface="Arial"/>
                <a:buNone/>
              </a:pPr>
              <a:r>
                <a:rPr b="1" lang="en-US" sz="1500">
                  <a:solidFill>
                    <a:srgbClr val="E97132"/>
                  </a:solidFill>
                  <a:latin typeface="Montserrat"/>
                  <a:ea typeface="Montserrat"/>
                  <a:cs typeface="Montserrat"/>
                  <a:sym typeface="Montserrat"/>
                </a:rPr>
                <a:t>Defines</a:t>
              </a:r>
              <a:endParaRPr i="0" sz="1500" u="none" cap="none" strike="noStrike">
                <a:solidFill>
                  <a:schemeClr val="dk1"/>
                </a:solidFill>
                <a:latin typeface="Montserrat"/>
                <a:ea typeface="Montserrat"/>
                <a:cs typeface="Montserrat"/>
                <a:sym typeface="Montserrat"/>
              </a:endParaRPr>
            </a:p>
          </p:txBody>
        </p:sp>
        <p:sp>
          <p:nvSpPr>
            <p:cNvPr id="332" name="Google Shape;332;g3eaf5b54de6_5_0"/>
            <p:cNvSpPr/>
            <p:nvPr/>
          </p:nvSpPr>
          <p:spPr>
            <a:xfrm>
              <a:off x="27986" y="1701842"/>
              <a:ext cx="2560200" cy="4890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3" name="Google Shape;333;g3eaf5b54de6_5_0"/>
            <p:cNvSpPr/>
            <p:nvPr/>
          </p:nvSpPr>
          <p:spPr>
            <a:xfrm rot="5400000">
              <a:off x="2490860" y="1579940"/>
              <a:ext cx="195000" cy="292500"/>
            </a:xfrm>
            <a:prstGeom prst="triangle">
              <a:avLst>
                <a:gd fmla="val 50000" name="adj"/>
              </a:avLst>
            </a:prstGeom>
            <a:solidFill>
              <a:srgbClr val="E97132"/>
            </a:solidFill>
            <a:ln cap="flat" cmpd="sng" w="12700">
              <a:solidFill>
                <a:srgbClr val="E9713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4" name="Google Shape;334;g3eaf5b54de6_5_0"/>
            <p:cNvSpPr/>
            <p:nvPr/>
          </p:nvSpPr>
          <p:spPr>
            <a:xfrm>
              <a:off x="10391305" y="1395875"/>
              <a:ext cx="1584900" cy="268200"/>
            </a:xfrm>
            <a:prstGeom prst="rect">
              <a:avLst/>
            </a:prstGeom>
            <a:noFill/>
            <a:ln>
              <a:noFill/>
            </a:ln>
          </p:spPr>
          <p:txBody>
            <a:bodyPr anchorCtr="0" anchor="ctr" bIns="60925" lIns="121900" spcFirstLastPara="1" rIns="121900" wrap="square" tIns="60925">
              <a:noAutofit/>
            </a:bodyPr>
            <a:lstStyle/>
            <a:p>
              <a:pPr indent="0" lvl="0" marL="0" marR="0" rtl="0" algn="r">
                <a:spcBef>
                  <a:spcPts val="0"/>
                </a:spcBef>
                <a:spcAft>
                  <a:spcPts val="0"/>
                </a:spcAft>
                <a:buClr>
                  <a:srgbClr val="156082"/>
                </a:buClr>
                <a:buSzPts val="1500"/>
                <a:buFont typeface="Arial"/>
                <a:buNone/>
              </a:pPr>
              <a:r>
                <a:rPr b="1" i="0" lang="en-US" sz="1500" u="none" cap="none" strike="noStrike">
                  <a:solidFill>
                    <a:srgbClr val="156082"/>
                  </a:solidFill>
                  <a:latin typeface="Montserrat"/>
                  <a:ea typeface="Montserrat"/>
                  <a:cs typeface="Montserrat"/>
                  <a:sym typeface="Montserrat"/>
                </a:rPr>
                <a:t>Operates</a:t>
              </a:r>
              <a:endParaRPr i="0" sz="1500" u="none" cap="none" strike="noStrike">
                <a:solidFill>
                  <a:schemeClr val="dk1"/>
                </a:solidFill>
                <a:latin typeface="Montserrat"/>
                <a:ea typeface="Montserrat"/>
                <a:cs typeface="Montserrat"/>
                <a:sym typeface="Montserrat"/>
              </a:endParaRPr>
            </a:p>
          </p:txBody>
        </p:sp>
        <p:sp>
          <p:nvSpPr>
            <p:cNvPr id="335" name="Google Shape;335;g3eaf5b54de6_5_0"/>
            <p:cNvSpPr/>
            <p:nvPr/>
          </p:nvSpPr>
          <p:spPr>
            <a:xfrm>
              <a:off x="9415945" y="1712867"/>
              <a:ext cx="2560200" cy="48900"/>
            </a:xfrm>
            <a:prstGeom prst="rect">
              <a:avLst/>
            </a:prstGeom>
            <a:solidFill>
              <a:srgbClr val="156082"/>
            </a:solidFill>
            <a:ln cap="flat" cmpd="sng" w="12700">
              <a:solidFill>
                <a:srgbClr val="15608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6" name="Google Shape;336;g3eaf5b54de6_5_0"/>
            <p:cNvSpPr/>
            <p:nvPr/>
          </p:nvSpPr>
          <p:spPr>
            <a:xfrm rot="-5400000">
              <a:off x="9245239" y="1591037"/>
              <a:ext cx="195000" cy="292500"/>
            </a:xfrm>
            <a:prstGeom prst="triangle">
              <a:avLst>
                <a:gd fmla="val 50000" name="adj"/>
              </a:avLst>
            </a:prstGeom>
            <a:solidFill>
              <a:srgbClr val="156082"/>
            </a:solidFill>
            <a:ln cap="flat" cmpd="sng" w="12700">
              <a:solidFill>
                <a:srgbClr val="15608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7" name="Google Shape;337;g3eaf5b54de6_5_0"/>
            <p:cNvSpPr/>
            <p:nvPr/>
          </p:nvSpPr>
          <p:spPr>
            <a:xfrm>
              <a:off x="27980" y="1834822"/>
              <a:ext cx="1975200" cy="3995400"/>
            </a:xfrm>
            <a:prstGeom prst="rect">
              <a:avLst/>
            </a:prstGeom>
            <a:solidFill>
              <a:srgbClr val="FFFFFF"/>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8" name="Google Shape;338;g3eaf5b54de6_5_0"/>
            <p:cNvSpPr/>
            <p:nvPr/>
          </p:nvSpPr>
          <p:spPr>
            <a:xfrm>
              <a:off x="88920" y="2235892"/>
              <a:ext cx="1792200" cy="292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E97132"/>
                </a:buClr>
                <a:buSzPts val="1300"/>
                <a:buFont typeface="Arial"/>
                <a:buNone/>
              </a:pPr>
              <a:r>
                <a:rPr b="1" i="0" lang="en-US" sz="1300" u="none" cap="none" strike="noStrike">
                  <a:solidFill>
                    <a:srgbClr val="E97132"/>
                  </a:solidFill>
                  <a:latin typeface="Montserrat"/>
                  <a:ea typeface="Montserrat"/>
                  <a:cs typeface="Montserrat"/>
                  <a:sym typeface="Montserrat"/>
                </a:rPr>
                <a:t>RESPONSIBLE AI</a:t>
              </a:r>
              <a:endParaRPr i="0" sz="1300" u="none" cap="none" strike="noStrike">
                <a:solidFill>
                  <a:schemeClr val="dk1"/>
                </a:solidFill>
                <a:latin typeface="Montserrat"/>
                <a:ea typeface="Montserrat"/>
                <a:cs typeface="Montserrat"/>
                <a:sym typeface="Montserrat"/>
              </a:endParaRPr>
            </a:p>
          </p:txBody>
        </p:sp>
        <p:sp>
          <p:nvSpPr>
            <p:cNvPr id="339" name="Google Shape;339;g3eaf5b54de6_5_0"/>
            <p:cNvSpPr/>
            <p:nvPr/>
          </p:nvSpPr>
          <p:spPr>
            <a:xfrm>
              <a:off x="88920" y="2476358"/>
              <a:ext cx="1792200" cy="46320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Clr>
                  <a:srgbClr val="555555"/>
                </a:buClr>
                <a:buSzPts val="1100"/>
                <a:buFont typeface="Calibri"/>
                <a:buNone/>
              </a:pPr>
              <a:r>
                <a:rPr i="1" lang="en-US" sz="1100" u="none" cap="none" strike="noStrike">
                  <a:solidFill>
                    <a:srgbClr val="555555"/>
                  </a:solidFill>
                  <a:latin typeface="Montserrat"/>
                  <a:ea typeface="Montserrat"/>
                  <a:cs typeface="Montserrat"/>
                  <a:sym typeface="Montserrat"/>
                </a:rPr>
                <a:t>The outcomes we want AI systems to achieve</a:t>
              </a:r>
              <a:endParaRPr i="0" sz="1100" u="none" cap="none" strike="noStrike">
                <a:solidFill>
                  <a:schemeClr val="dk1"/>
                </a:solidFill>
                <a:latin typeface="Montserrat"/>
                <a:ea typeface="Montserrat"/>
                <a:cs typeface="Montserrat"/>
                <a:sym typeface="Montserrat"/>
              </a:endParaRPr>
            </a:p>
          </p:txBody>
        </p:sp>
        <p:sp>
          <p:nvSpPr>
            <p:cNvPr id="340" name="Google Shape;340;g3eaf5b54de6_5_0"/>
            <p:cNvSpPr/>
            <p:nvPr/>
          </p:nvSpPr>
          <p:spPr>
            <a:xfrm>
              <a:off x="88920" y="3219218"/>
              <a:ext cx="1792200" cy="4146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200"/>
                <a:buFont typeface="Calibri"/>
                <a:buNone/>
              </a:pPr>
              <a:r>
                <a:rPr i="0" lang="en-US" sz="1200" u="none" cap="none" strike="noStrike">
                  <a:solidFill>
                    <a:srgbClr val="1A1A1A"/>
                  </a:solidFill>
                  <a:latin typeface="Montserrat"/>
                  <a:ea typeface="Montserrat"/>
                  <a:cs typeface="Montserrat"/>
                  <a:sym typeface="Montserrat"/>
                </a:rPr>
                <a:t>•  Fair and unbiased</a:t>
              </a:r>
              <a:endParaRPr i="0" sz="1200" u="none" cap="none" strike="noStrike">
                <a:solidFill>
                  <a:schemeClr val="dk1"/>
                </a:solidFill>
                <a:latin typeface="Montserrat"/>
                <a:ea typeface="Montserrat"/>
                <a:cs typeface="Montserrat"/>
                <a:sym typeface="Montserrat"/>
              </a:endParaRPr>
            </a:p>
          </p:txBody>
        </p:sp>
        <p:sp>
          <p:nvSpPr>
            <p:cNvPr id="341" name="Google Shape;341;g3eaf5b54de6_5_0"/>
            <p:cNvSpPr/>
            <p:nvPr/>
          </p:nvSpPr>
          <p:spPr>
            <a:xfrm>
              <a:off x="88920" y="3658130"/>
              <a:ext cx="1792200" cy="4146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200"/>
                <a:buFont typeface="Calibri"/>
                <a:buNone/>
              </a:pPr>
              <a:r>
                <a:rPr i="0" lang="en-US" sz="1200" u="none" cap="none" strike="noStrike">
                  <a:solidFill>
                    <a:srgbClr val="1A1A1A"/>
                  </a:solidFill>
                  <a:latin typeface="Montserrat"/>
                  <a:ea typeface="Montserrat"/>
                  <a:cs typeface="Montserrat"/>
                  <a:sym typeface="Montserrat"/>
                </a:rPr>
                <a:t>•  Transparent and explainable</a:t>
              </a:r>
              <a:endParaRPr i="0" sz="1200" u="none" cap="none" strike="noStrike">
                <a:solidFill>
                  <a:schemeClr val="dk1"/>
                </a:solidFill>
                <a:latin typeface="Montserrat"/>
                <a:ea typeface="Montserrat"/>
                <a:cs typeface="Montserrat"/>
                <a:sym typeface="Montserrat"/>
              </a:endParaRPr>
            </a:p>
          </p:txBody>
        </p:sp>
        <p:sp>
          <p:nvSpPr>
            <p:cNvPr id="342" name="Google Shape;342;g3eaf5b54de6_5_0"/>
            <p:cNvSpPr/>
            <p:nvPr/>
          </p:nvSpPr>
          <p:spPr>
            <a:xfrm>
              <a:off x="88920" y="4097042"/>
              <a:ext cx="1792200" cy="4146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200"/>
                <a:buFont typeface="Calibri"/>
                <a:buNone/>
              </a:pPr>
              <a:r>
                <a:rPr i="0" lang="en-US" sz="1200" u="none" cap="none" strike="noStrike">
                  <a:solidFill>
                    <a:srgbClr val="1A1A1A"/>
                  </a:solidFill>
                  <a:latin typeface="Montserrat"/>
                  <a:ea typeface="Montserrat"/>
                  <a:cs typeface="Montserrat"/>
                  <a:sym typeface="Montserrat"/>
                </a:rPr>
                <a:t>•  Accountable to stakeholders</a:t>
              </a:r>
              <a:endParaRPr i="0" sz="1200" u="none" cap="none" strike="noStrike">
                <a:solidFill>
                  <a:schemeClr val="dk1"/>
                </a:solidFill>
                <a:latin typeface="Montserrat"/>
                <a:ea typeface="Montserrat"/>
                <a:cs typeface="Montserrat"/>
                <a:sym typeface="Montserrat"/>
              </a:endParaRPr>
            </a:p>
          </p:txBody>
        </p:sp>
        <p:sp>
          <p:nvSpPr>
            <p:cNvPr id="343" name="Google Shape;343;g3eaf5b54de6_5_0"/>
            <p:cNvSpPr/>
            <p:nvPr/>
          </p:nvSpPr>
          <p:spPr>
            <a:xfrm>
              <a:off x="88920" y="4535954"/>
              <a:ext cx="1792200" cy="4146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200"/>
                <a:buFont typeface="Calibri"/>
                <a:buNone/>
              </a:pPr>
              <a:r>
                <a:rPr i="0" lang="en-US" sz="1200" u="none" cap="none" strike="noStrike">
                  <a:solidFill>
                    <a:srgbClr val="1A1A1A"/>
                  </a:solidFill>
                  <a:latin typeface="Montserrat"/>
                  <a:ea typeface="Montserrat"/>
                  <a:cs typeface="Montserrat"/>
                  <a:sym typeface="Montserrat"/>
                </a:rPr>
                <a:t>•  Privacy-preserving</a:t>
              </a:r>
              <a:endParaRPr i="0" sz="1200" u="none" cap="none" strike="noStrike">
                <a:solidFill>
                  <a:schemeClr val="dk1"/>
                </a:solidFill>
                <a:latin typeface="Montserrat"/>
                <a:ea typeface="Montserrat"/>
                <a:cs typeface="Montserrat"/>
                <a:sym typeface="Montserrat"/>
              </a:endParaRPr>
            </a:p>
          </p:txBody>
        </p:sp>
        <p:sp>
          <p:nvSpPr>
            <p:cNvPr id="344" name="Google Shape;344;g3eaf5b54de6_5_0"/>
            <p:cNvSpPr/>
            <p:nvPr/>
          </p:nvSpPr>
          <p:spPr>
            <a:xfrm>
              <a:off x="88920" y="4974866"/>
              <a:ext cx="1792200" cy="4146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200"/>
                <a:buFont typeface="Calibri"/>
                <a:buNone/>
              </a:pPr>
              <a:r>
                <a:rPr i="0" lang="en-US" sz="1200" u="none" cap="none" strike="noStrike">
                  <a:solidFill>
                    <a:srgbClr val="1A1A1A"/>
                  </a:solidFill>
                  <a:latin typeface="Montserrat"/>
                  <a:ea typeface="Montserrat"/>
                  <a:cs typeface="Montserrat"/>
                  <a:sym typeface="Montserrat"/>
                </a:rPr>
                <a:t>•  Safe and secure</a:t>
              </a:r>
              <a:endParaRPr i="0" sz="1200" u="none" cap="none" strike="noStrike">
                <a:solidFill>
                  <a:schemeClr val="dk1"/>
                </a:solidFill>
                <a:latin typeface="Montserrat"/>
                <a:ea typeface="Montserrat"/>
                <a:cs typeface="Montserrat"/>
                <a:sym typeface="Montserrat"/>
              </a:endParaRPr>
            </a:p>
          </p:txBody>
        </p:sp>
        <p:sp>
          <p:nvSpPr>
            <p:cNvPr id="345" name="Google Shape;345;g3eaf5b54de6_5_0"/>
            <p:cNvSpPr/>
            <p:nvPr/>
          </p:nvSpPr>
          <p:spPr>
            <a:xfrm>
              <a:off x="88920" y="5413778"/>
              <a:ext cx="1792200" cy="4146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200"/>
                <a:buFont typeface="Calibri"/>
                <a:buNone/>
              </a:pPr>
              <a:r>
                <a:rPr i="0" lang="en-US" sz="1200" u="none" cap="none" strike="noStrike">
                  <a:solidFill>
                    <a:srgbClr val="1A1A1A"/>
                  </a:solidFill>
                  <a:latin typeface="Montserrat"/>
                  <a:ea typeface="Montserrat"/>
                  <a:cs typeface="Montserrat"/>
                  <a:sym typeface="Montserrat"/>
                </a:rPr>
                <a:t>•  Reliable and robust</a:t>
              </a:r>
              <a:endParaRPr i="0" sz="1200" u="none" cap="none" strike="noStrike">
                <a:solidFill>
                  <a:schemeClr val="dk1"/>
                </a:solidFill>
                <a:latin typeface="Montserrat"/>
                <a:ea typeface="Montserrat"/>
                <a:cs typeface="Montserrat"/>
                <a:sym typeface="Montserrat"/>
              </a:endParaRPr>
            </a:p>
          </p:txBody>
        </p:sp>
        <p:sp>
          <p:nvSpPr>
            <p:cNvPr id="346" name="Google Shape;346;g3eaf5b54de6_5_0"/>
            <p:cNvSpPr/>
            <p:nvPr/>
          </p:nvSpPr>
          <p:spPr>
            <a:xfrm>
              <a:off x="9830355" y="1834847"/>
              <a:ext cx="2145900" cy="3995400"/>
            </a:xfrm>
            <a:prstGeom prst="rect">
              <a:avLst/>
            </a:prstGeom>
            <a:solidFill>
              <a:srgbClr val="FFFFFF"/>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7" name="Google Shape;347;g3eaf5b54de6_5_0"/>
            <p:cNvSpPr/>
            <p:nvPr/>
          </p:nvSpPr>
          <p:spPr>
            <a:xfrm>
              <a:off x="9952288" y="2159366"/>
              <a:ext cx="1962900" cy="292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56082"/>
                </a:buClr>
                <a:buSzPts val="1300"/>
                <a:buFont typeface="Arial"/>
                <a:buNone/>
              </a:pPr>
              <a:r>
                <a:rPr b="1" i="0" lang="en-US" sz="1300" u="none" cap="none" strike="noStrike">
                  <a:solidFill>
                    <a:srgbClr val="156082"/>
                  </a:solidFill>
                  <a:latin typeface="Montserrat"/>
                  <a:ea typeface="Montserrat"/>
                  <a:cs typeface="Montserrat"/>
                  <a:sym typeface="Montserrat"/>
                </a:rPr>
                <a:t>AI GOVERNANCE</a:t>
              </a:r>
              <a:endParaRPr i="0" sz="1300" u="none" cap="none" strike="noStrike">
                <a:solidFill>
                  <a:schemeClr val="dk1"/>
                </a:solidFill>
                <a:latin typeface="Montserrat"/>
                <a:ea typeface="Montserrat"/>
                <a:cs typeface="Montserrat"/>
                <a:sym typeface="Montserrat"/>
              </a:endParaRPr>
            </a:p>
          </p:txBody>
        </p:sp>
        <p:sp>
          <p:nvSpPr>
            <p:cNvPr id="348" name="Google Shape;348;g3eaf5b54de6_5_0"/>
            <p:cNvSpPr/>
            <p:nvPr/>
          </p:nvSpPr>
          <p:spPr>
            <a:xfrm>
              <a:off x="9952288" y="2476358"/>
              <a:ext cx="1962900" cy="53640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Clr>
                  <a:srgbClr val="555555"/>
                </a:buClr>
                <a:buSzPts val="1100"/>
                <a:buFont typeface="Calibri"/>
                <a:buNone/>
              </a:pPr>
              <a:r>
                <a:rPr i="1" lang="en-US" sz="1100" u="none" cap="none" strike="noStrike">
                  <a:solidFill>
                    <a:srgbClr val="555555"/>
                  </a:solidFill>
                  <a:latin typeface="Montserrat"/>
                  <a:ea typeface="Montserrat"/>
                  <a:cs typeface="Montserrat"/>
                  <a:sym typeface="Montserrat"/>
                </a:rPr>
                <a:t>The operating model used to achieve those outcomes</a:t>
              </a:r>
              <a:endParaRPr i="0" sz="1100" u="none" cap="none" strike="noStrike">
                <a:solidFill>
                  <a:schemeClr val="dk1"/>
                </a:solidFill>
                <a:latin typeface="Montserrat"/>
                <a:ea typeface="Montserrat"/>
                <a:cs typeface="Montserrat"/>
                <a:sym typeface="Montserrat"/>
              </a:endParaRPr>
            </a:p>
          </p:txBody>
        </p:sp>
        <p:sp>
          <p:nvSpPr>
            <p:cNvPr id="349" name="Google Shape;349;g3eaf5b54de6_5_0"/>
            <p:cNvSpPr/>
            <p:nvPr/>
          </p:nvSpPr>
          <p:spPr>
            <a:xfrm>
              <a:off x="9952288" y="3085958"/>
              <a:ext cx="1962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200"/>
                <a:buFont typeface="Calibri"/>
                <a:buNone/>
              </a:pPr>
              <a:r>
                <a:rPr i="0" lang="en-US" sz="1200" u="none" cap="none" strike="noStrike">
                  <a:solidFill>
                    <a:srgbClr val="1A1A1A"/>
                  </a:solidFill>
                  <a:latin typeface="Montserrat"/>
                  <a:ea typeface="Montserrat"/>
                  <a:cs typeface="Montserrat"/>
                  <a:sym typeface="Montserrat"/>
                </a:rPr>
                <a:t>•  Policies and decision rights</a:t>
              </a:r>
              <a:endParaRPr i="0" sz="1200" u="none" cap="none" strike="noStrike">
                <a:solidFill>
                  <a:schemeClr val="dk1"/>
                </a:solidFill>
                <a:latin typeface="Montserrat"/>
                <a:ea typeface="Montserrat"/>
                <a:cs typeface="Montserrat"/>
                <a:sym typeface="Montserrat"/>
              </a:endParaRPr>
            </a:p>
          </p:txBody>
        </p:sp>
        <p:sp>
          <p:nvSpPr>
            <p:cNvPr id="350" name="Google Shape;350;g3eaf5b54de6_5_0"/>
            <p:cNvSpPr/>
            <p:nvPr/>
          </p:nvSpPr>
          <p:spPr>
            <a:xfrm>
              <a:off x="9952279" y="3549250"/>
              <a:ext cx="2145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200"/>
                <a:buFont typeface="Calibri"/>
                <a:buNone/>
              </a:pPr>
              <a:r>
                <a:rPr i="0" lang="en-US" sz="1200" u="none" cap="none" strike="noStrike">
                  <a:solidFill>
                    <a:srgbClr val="1A1A1A"/>
                  </a:solidFill>
                  <a:latin typeface="Montserrat"/>
                  <a:ea typeface="Montserrat"/>
                  <a:cs typeface="Montserrat"/>
                  <a:sym typeface="Montserrat"/>
                </a:rPr>
                <a:t>•  Roles and accountability structures</a:t>
              </a:r>
              <a:endParaRPr i="0" sz="1200" u="none" cap="none" strike="noStrike">
                <a:solidFill>
                  <a:schemeClr val="dk1"/>
                </a:solidFill>
                <a:latin typeface="Montserrat"/>
                <a:ea typeface="Montserrat"/>
                <a:cs typeface="Montserrat"/>
                <a:sym typeface="Montserrat"/>
              </a:endParaRPr>
            </a:p>
          </p:txBody>
        </p:sp>
        <p:sp>
          <p:nvSpPr>
            <p:cNvPr id="351" name="Google Shape;351;g3eaf5b54de6_5_0"/>
            <p:cNvSpPr/>
            <p:nvPr/>
          </p:nvSpPr>
          <p:spPr>
            <a:xfrm>
              <a:off x="9952288" y="4012550"/>
              <a:ext cx="1962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200"/>
                <a:buFont typeface="Calibri"/>
                <a:buNone/>
              </a:pPr>
              <a:r>
                <a:rPr i="0" lang="en-US" sz="1200" u="none" cap="none" strike="noStrike">
                  <a:solidFill>
                    <a:srgbClr val="1A1A1A"/>
                  </a:solidFill>
                  <a:latin typeface="Montserrat"/>
                  <a:ea typeface="Montserrat"/>
                  <a:cs typeface="Montserrat"/>
                  <a:sym typeface="Montserrat"/>
                </a:rPr>
                <a:t>•  Risk management processes</a:t>
              </a:r>
              <a:endParaRPr i="0" sz="1200" u="none" cap="none" strike="noStrike">
                <a:solidFill>
                  <a:schemeClr val="dk1"/>
                </a:solidFill>
                <a:latin typeface="Montserrat"/>
                <a:ea typeface="Montserrat"/>
                <a:cs typeface="Montserrat"/>
                <a:sym typeface="Montserrat"/>
              </a:endParaRPr>
            </a:p>
          </p:txBody>
        </p:sp>
        <p:sp>
          <p:nvSpPr>
            <p:cNvPr id="352" name="Google Shape;352;g3eaf5b54de6_5_0"/>
            <p:cNvSpPr/>
            <p:nvPr/>
          </p:nvSpPr>
          <p:spPr>
            <a:xfrm>
              <a:off x="9952288" y="4475846"/>
              <a:ext cx="1962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200"/>
                <a:buFont typeface="Calibri"/>
                <a:buNone/>
              </a:pPr>
              <a:r>
                <a:rPr i="0" lang="en-US" sz="1200" u="none" cap="none" strike="noStrike">
                  <a:solidFill>
                    <a:srgbClr val="1A1A1A"/>
                  </a:solidFill>
                  <a:latin typeface="Montserrat"/>
                  <a:ea typeface="Montserrat"/>
                  <a:cs typeface="Montserrat"/>
                  <a:sym typeface="Montserrat"/>
                </a:rPr>
                <a:t>•  Lifecycle controls</a:t>
              </a:r>
              <a:endParaRPr i="0" sz="1200" u="none" cap="none" strike="noStrike">
                <a:solidFill>
                  <a:schemeClr val="dk1"/>
                </a:solidFill>
                <a:latin typeface="Montserrat"/>
                <a:ea typeface="Montserrat"/>
                <a:cs typeface="Montserrat"/>
                <a:sym typeface="Montserrat"/>
              </a:endParaRPr>
            </a:p>
          </p:txBody>
        </p:sp>
        <p:sp>
          <p:nvSpPr>
            <p:cNvPr id="353" name="Google Shape;353;g3eaf5b54de6_5_0"/>
            <p:cNvSpPr/>
            <p:nvPr/>
          </p:nvSpPr>
          <p:spPr>
            <a:xfrm>
              <a:off x="9952288" y="4939142"/>
              <a:ext cx="1962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200"/>
                <a:buFont typeface="Calibri"/>
                <a:buNone/>
              </a:pPr>
              <a:r>
                <a:rPr i="0" lang="en-US" sz="1200" u="none" cap="none" strike="noStrike">
                  <a:solidFill>
                    <a:srgbClr val="1A1A1A"/>
                  </a:solidFill>
                  <a:latin typeface="Montserrat"/>
                  <a:ea typeface="Montserrat"/>
                  <a:cs typeface="Montserrat"/>
                  <a:sym typeface="Montserrat"/>
                </a:rPr>
                <a:t>•  Monitoring and reporting</a:t>
              </a:r>
              <a:endParaRPr i="0" sz="1200" u="none" cap="none" strike="noStrike">
                <a:solidFill>
                  <a:schemeClr val="dk1"/>
                </a:solidFill>
                <a:latin typeface="Montserrat"/>
                <a:ea typeface="Montserrat"/>
                <a:cs typeface="Montserrat"/>
                <a:sym typeface="Montserrat"/>
              </a:endParaRPr>
            </a:p>
          </p:txBody>
        </p:sp>
        <p:sp>
          <p:nvSpPr>
            <p:cNvPr id="354" name="Google Shape;354;g3eaf5b54de6_5_0"/>
            <p:cNvSpPr/>
            <p:nvPr/>
          </p:nvSpPr>
          <p:spPr>
            <a:xfrm>
              <a:off x="9952288" y="5402438"/>
              <a:ext cx="1962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200"/>
                <a:buFont typeface="Calibri"/>
                <a:buNone/>
              </a:pPr>
              <a:r>
                <a:rPr i="0" lang="en-US" sz="1200" u="none" cap="none" strike="noStrike">
                  <a:solidFill>
                    <a:srgbClr val="1A1A1A"/>
                  </a:solidFill>
                  <a:latin typeface="Montserrat"/>
                  <a:ea typeface="Montserrat"/>
                  <a:cs typeface="Montserrat"/>
                  <a:sym typeface="Montserrat"/>
                </a:rPr>
                <a:t>•  Continuous improvement</a:t>
              </a:r>
              <a:endParaRPr i="0" sz="1200" u="none" cap="none" strike="noStrike">
                <a:solidFill>
                  <a:schemeClr val="dk1"/>
                </a:solidFill>
                <a:latin typeface="Montserrat"/>
                <a:ea typeface="Montserrat"/>
                <a:cs typeface="Montserrat"/>
                <a:sym typeface="Montserrat"/>
              </a:endParaRPr>
            </a:p>
          </p:txBody>
        </p:sp>
        <p:sp>
          <p:nvSpPr>
            <p:cNvPr id="355" name="Google Shape;355;g3eaf5b54de6_5_0"/>
            <p:cNvSpPr/>
            <p:nvPr/>
          </p:nvSpPr>
          <p:spPr>
            <a:xfrm>
              <a:off x="2076230" y="1834847"/>
              <a:ext cx="7680900" cy="3995400"/>
            </a:xfrm>
            <a:prstGeom prst="rect">
              <a:avLst/>
            </a:prstGeom>
            <a:solidFill>
              <a:srgbClr val="FFFFFF"/>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6" name="Google Shape;356;g3eaf5b54de6_5_0"/>
            <p:cNvSpPr/>
            <p:nvPr/>
          </p:nvSpPr>
          <p:spPr>
            <a:xfrm>
              <a:off x="2045781" y="1843458"/>
              <a:ext cx="7680900" cy="438900"/>
            </a:xfrm>
            <a:prstGeom prst="rect">
              <a:avLst/>
            </a:prstGeom>
            <a:solidFill>
              <a:srgbClr val="0E2841"/>
            </a:solidFill>
            <a:ln cap="flat" cmpd="sng" w="12700">
              <a:solidFill>
                <a:srgbClr val="0E284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7" name="Google Shape;357;g3eaf5b54de6_5_0"/>
            <p:cNvSpPr/>
            <p:nvPr/>
          </p:nvSpPr>
          <p:spPr>
            <a:xfrm>
              <a:off x="2045706" y="1834831"/>
              <a:ext cx="7680900" cy="438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AI LIFECYCLE*</a:t>
              </a:r>
              <a:endParaRPr b="0" i="0" sz="1600" u="none" cap="none" strike="noStrike">
                <a:solidFill>
                  <a:schemeClr val="dk1"/>
                </a:solidFill>
                <a:latin typeface="Calibri"/>
                <a:ea typeface="Calibri"/>
                <a:cs typeface="Calibri"/>
                <a:sym typeface="Calibri"/>
              </a:endParaRPr>
            </a:p>
          </p:txBody>
        </p:sp>
        <p:sp>
          <p:nvSpPr>
            <p:cNvPr id="358" name="Google Shape;358;g3eaf5b54de6_5_0"/>
            <p:cNvSpPr/>
            <p:nvPr/>
          </p:nvSpPr>
          <p:spPr>
            <a:xfrm>
              <a:off x="2076243" y="3885968"/>
              <a:ext cx="7680900" cy="317100"/>
            </a:xfrm>
            <a:prstGeom prst="rect">
              <a:avLst/>
            </a:prstGeom>
            <a:solidFill>
              <a:srgbClr val="F0F0F0"/>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9" name="Google Shape;359;g3eaf5b54de6_5_0"/>
            <p:cNvSpPr/>
            <p:nvPr/>
          </p:nvSpPr>
          <p:spPr>
            <a:xfrm>
              <a:off x="2186642" y="3895200"/>
              <a:ext cx="7570500" cy="3171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E2841"/>
                </a:buClr>
                <a:buSzPts val="1000"/>
                <a:buFont typeface="Arial"/>
                <a:buNone/>
              </a:pPr>
              <a:r>
                <a:rPr b="1" i="0" lang="en-US" sz="1000" u="none" cap="none" strike="noStrike">
                  <a:solidFill>
                    <a:srgbClr val="0E2841"/>
                  </a:solidFill>
                  <a:latin typeface="Montserrat"/>
                  <a:ea typeface="Montserrat"/>
                  <a:cs typeface="Montserrat"/>
                  <a:sym typeface="Montserrat"/>
                </a:rPr>
                <a:t>GOVERNANCE REQUIREMENT AT EACH STAGE</a:t>
              </a:r>
              <a:endParaRPr i="0" sz="1000" u="none" cap="none" strike="noStrike">
                <a:solidFill>
                  <a:schemeClr val="dk1"/>
                </a:solidFill>
                <a:latin typeface="Montserrat"/>
                <a:ea typeface="Montserrat"/>
                <a:cs typeface="Montserrat"/>
                <a:sym typeface="Montserrat"/>
              </a:endParaRPr>
            </a:p>
          </p:txBody>
        </p:sp>
        <p:sp>
          <p:nvSpPr>
            <p:cNvPr id="360" name="Google Shape;360;g3eaf5b54de6_5_0"/>
            <p:cNvSpPr/>
            <p:nvPr/>
          </p:nvSpPr>
          <p:spPr>
            <a:xfrm>
              <a:off x="2045705" y="2273736"/>
              <a:ext cx="1097400" cy="1609500"/>
            </a:xfrm>
            <a:prstGeom prst="rect">
              <a:avLst/>
            </a:prstGeom>
            <a:solidFill>
              <a:srgbClr val="D6E4F0"/>
            </a:solidFill>
            <a:ln cap="flat" cmpd="sng" w="9525">
              <a:solidFill>
                <a:srgbClr val="BBBBB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1" name="Google Shape;361;g3eaf5b54de6_5_0"/>
            <p:cNvSpPr/>
            <p:nvPr/>
          </p:nvSpPr>
          <p:spPr>
            <a:xfrm>
              <a:off x="2070090" y="2395663"/>
              <a:ext cx="1048500" cy="536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F4E79"/>
                </a:buClr>
                <a:buSzPts val="1100"/>
                <a:buFont typeface="Arial"/>
                <a:buNone/>
              </a:pPr>
              <a:r>
                <a:rPr b="1" i="0" lang="en-US" sz="1100" u="none" cap="none" strike="noStrike">
                  <a:solidFill>
                    <a:srgbClr val="1F4E79"/>
                  </a:solidFill>
                  <a:latin typeface="Arial"/>
                  <a:ea typeface="Arial"/>
                  <a:cs typeface="Arial"/>
                  <a:sym typeface="Arial"/>
                </a:rPr>
                <a:t>Plan &amp;</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4E79"/>
                </a:buClr>
                <a:buSzPts val="1100"/>
                <a:buFont typeface="Arial"/>
                <a:buNone/>
              </a:pPr>
              <a:r>
                <a:rPr b="1" i="0" lang="en-US" sz="1100" u="none" cap="none" strike="noStrike">
                  <a:solidFill>
                    <a:srgbClr val="1F4E79"/>
                  </a:solidFill>
                  <a:latin typeface="Arial"/>
                  <a:ea typeface="Arial"/>
                  <a:cs typeface="Arial"/>
                  <a:sym typeface="Arial"/>
                </a:rPr>
                <a:t>Design</a:t>
              </a:r>
              <a:endParaRPr b="0" i="0" sz="1100" u="none" cap="none" strike="noStrike">
                <a:solidFill>
                  <a:schemeClr val="dk1"/>
                </a:solidFill>
                <a:latin typeface="Calibri"/>
                <a:ea typeface="Calibri"/>
                <a:cs typeface="Calibri"/>
                <a:sym typeface="Calibri"/>
              </a:endParaRPr>
            </a:p>
          </p:txBody>
        </p:sp>
        <p:sp>
          <p:nvSpPr>
            <p:cNvPr id="362" name="Google Shape;362;g3eaf5b54de6_5_0"/>
            <p:cNvSpPr/>
            <p:nvPr/>
          </p:nvSpPr>
          <p:spPr>
            <a:xfrm>
              <a:off x="2076943" y="3005263"/>
              <a:ext cx="999600" cy="1609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Clr>
                  <a:srgbClr val="1F4E79"/>
                </a:buClr>
                <a:buSzPts val="1000"/>
                <a:buFont typeface="Calibri"/>
                <a:buNone/>
              </a:pPr>
              <a:r>
                <a:rPr b="0" i="1" lang="en-US" sz="1000" u="none" cap="none" strike="noStrike">
                  <a:solidFill>
                    <a:srgbClr val="1F4E79"/>
                  </a:solidFill>
                  <a:latin typeface="Calibri"/>
                  <a:ea typeface="Calibri"/>
                  <a:cs typeface="Calibri"/>
                  <a:sym typeface="Calibri"/>
                </a:rPr>
                <a:t>Scope, purpose,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4E79"/>
                </a:buClr>
                <a:buSzPts val="1000"/>
                <a:buFont typeface="Calibri"/>
                <a:buNone/>
              </a:pPr>
              <a:r>
                <a:rPr b="0" i="1" lang="en-US" sz="1000" u="none" cap="none" strike="noStrike">
                  <a:solidFill>
                    <a:srgbClr val="1F4E79"/>
                  </a:solidFill>
                  <a:latin typeface="Calibri"/>
                  <a:ea typeface="Calibri"/>
                  <a:cs typeface="Calibri"/>
                  <a:sym typeface="Calibri"/>
                </a:rPr>
                <a:t>impact assess.,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4E79"/>
                </a:buClr>
                <a:buSzPts val="1000"/>
                <a:buFont typeface="Calibri"/>
                <a:buNone/>
              </a:pPr>
              <a:r>
                <a:rPr b="0" i="1" lang="en-US" sz="1000" u="none" cap="none" strike="noStrike">
                  <a:solidFill>
                    <a:srgbClr val="1F4E79"/>
                  </a:solidFill>
                  <a:latin typeface="Calibri"/>
                  <a:ea typeface="Calibri"/>
                  <a:cs typeface="Calibri"/>
                  <a:sym typeface="Calibri"/>
                </a:rPr>
                <a:t>stakeholders</a:t>
              </a:r>
              <a:endParaRPr b="0" i="0" sz="1000" u="none" cap="none" strike="noStrike">
                <a:solidFill>
                  <a:schemeClr val="dk1"/>
                </a:solidFill>
                <a:latin typeface="Calibri"/>
                <a:ea typeface="Calibri"/>
                <a:cs typeface="Calibri"/>
                <a:sym typeface="Calibri"/>
              </a:endParaRPr>
            </a:p>
          </p:txBody>
        </p:sp>
        <p:sp>
          <p:nvSpPr>
            <p:cNvPr id="363" name="Google Shape;363;g3eaf5b54de6_5_0"/>
            <p:cNvSpPr/>
            <p:nvPr/>
          </p:nvSpPr>
          <p:spPr>
            <a:xfrm>
              <a:off x="2076230" y="4220897"/>
              <a:ext cx="1097400" cy="1609500"/>
            </a:xfrm>
            <a:prstGeom prst="rect">
              <a:avLst/>
            </a:prstGeom>
            <a:solidFill>
              <a:srgbClr val="D6E4F0"/>
            </a:solidFill>
            <a:ln cap="flat" cmpd="sng" w="9525">
              <a:solidFill>
                <a:srgbClr val="BBBBB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4" name="Google Shape;364;g3eaf5b54de6_5_0"/>
            <p:cNvSpPr/>
            <p:nvPr/>
          </p:nvSpPr>
          <p:spPr>
            <a:xfrm>
              <a:off x="2100627" y="4338822"/>
              <a:ext cx="1048500" cy="585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F4E79"/>
                </a:buClr>
                <a:buSzPts val="1000"/>
                <a:buFont typeface="Arial"/>
                <a:buNone/>
              </a:pPr>
              <a:r>
                <a:rPr b="1" i="0" lang="en-US" sz="1000" u="none" cap="none" strike="noStrike">
                  <a:solidFill>
                    <a:srgbClr val="1F4E79"/>
                  </a:solidFill>
                  <a:latin typeface="Arial"/>
                  <a:ea typeface="Arial"/>
                  <a:cs typeface="Arial"/>
                  <a:sym typeface="Arial"/>
                </a:rPr>
                <a:t>Risk</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4E79"/>
                </a:buClr>
                <a:buSzPts val="1000"/>
                <a:buFont typeface="Arial"/>
                <a:buNone/>
              </a:pPr>
              <a:r>
                <a:rPr b="1" i="0" lang="en-US" sz="1000" u="none" cap="none" strike="noStrike">
                  <a:solidFill>
                    <a:srgbClr val="1F4E79"/>
                  </a:solidFill>
                  <a:latin typeface="Arial"/>
                  <a:ea typeface="Arial"/>
                  <a:cs typeface="Arial"/>
                  <a:sym typeface="Arial"/>
                </a:rPr>
                <a:t>Assessment</a:t>
              </a:r>
              <a:endParaRPr b="0" i="0" sz="1000" u="none" cap="none" strike="noStrike">
                <a:solidFill>
                  <a:schemeClr val="dk1"/>
                </a:solidFill>
                <a:latin typeface="Calibri"/>
                <a:ea typeface="Calibri"/>
                <a:cs typeface="Calibri"/>
                <a:sym typeface="Calibri"/>
              </a:endParaRPr>
            </a:p>
          </p:txBody>
        </p:sp>
        <p:sp>
          <p:nvSpPr>
            <p:cNvPr id="365" name="Google Shape;365;g3eaf5b54de6_5_0"/>
            <p:cNvSpPr/>
            <p:nvPr/>
          </p:nvSpPr>
          <p:spPr>
            <a:xfrm>
              <a:off x="2125005" y="4924041"/>
              <a:ext cx="999600" cy="808800"/>
            </a:xfrm>
            <a:prstGeom prst="rect">
              <a:avLst/>
            </a:prstGeom>
            <a:noFill/>
            <a:ln>
              <a:noFill/>
            </a:ln>
          </p:spPr>
          <p:txBody>
            <a:bodyPr anchorCtr="0" anchor="b" bIns="60925" lIns="121900" spcFirstLastPara="1" rIns="121900" wrap="square" tIns="60925">
              <a:noAutofit/>
            </a:bodyPr>
            <a:lstStyle/>
            <a:p>
              <a:pPr indent="0" lvl="0" marL="0" marR="0" rtl="0" algn="ctr">
                <a:spcBef>
                  <a:spcPts val="0"/>
                </a:spcBef>
                <a:spcAft>
                  <a:spcPts val="0"/>
                </a:spcAft>
                <a:buClr>
                  <a:srgbClr val="1F4E79"/>
                </a:buClr>
                <a:buSzPts val="1000"/>
                <a:buFont typeface="Calibri"/>
                <a:buNone/>
              </a:pPr>
              <a:r>
                <a:rPr i="1" lang="en-US" sz="900" u="none" cap="none" strike="noStrike">
                  <a:solidFill>
                    <a:srgbClr val="1F4E79"/>
                  </a:solidFill>
                  <a:latin typeface="Montserrat"/>
                  <a:ea typeface="Montserrat"/>
                  <a:cs typeface="Montserrat"/>
                  <a:sym typeface="Montserrat"/>
                </a:rPr>
                <a:t>Use-case review,</a:t>
              </a:r>
              <a:endParaRPr i="0" sz="9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F4E79"/>
                </a:buClr>
                <a:buSzPts val="1000"/>
                <a:buFont typeface="Calibri"/>
                <a:buNone/>
              </a:pPr>
              <a:r>
                <a:rPr i="1" lang="en-US" sz="900" u="none" cap="none" strike="noStrike">
                  <a:solidFill>
                    <a:srgbClr val="1F4E79"/>
                  </a:solidFill>
                  <a:latin typeface="Montserrat"/>
                  <a:ea typeface="Montserrat"/>
                  <a:cs typeface="Montserrat"/>
                  <a:sym typeface="Montserrat"/>
                </a:rPr>
                <a:t>scope &amp;</a:t>
              </a:r>
              <a:endParaRPr i="0" sz="9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F4E79"/>
                </a:buClr>
                <a:buSzPts val="1000"/>
                <a:buFont typeface="Calibri"/>
                <a:buNone/>
              </a:pPr>
              <a:r>
                <a:rPr i="1" lang="en-US" sz="900" u="none" cap="none" strike="noStrike">
                  <a:solidFill>
                    <a:srgbClr val="1F4E79"/>
                  </a:solidFill>
                  <a:latin typeface="Montserrat"/>
                  <a:ea typeface="Montserrat"/>
                  <a:cs typeface="Montserrat"/>
                  <a:sym typeface="Montserrat"/>
                </a:rPr>
                <a:t>classification</a:t>
              </a:r>
              <a:endParaRPr i="0" sz="900" u="none" cap="none" strike="noStrike">
                <a:solidFill>
                  <a:schemeClr val="dk1"/>
                </a:solidFill>
                <a:latin typeface="Montserrat"/>
                <a:ea typeface="Montserrat"/>
                <a:cs typeface="Montserrat"/>
                <a:sym typeface="Montserrat"/>
              </a:endParaRPr>
            </a:p>
          </p:txBody>
        </p:sp>
        <p:sp>
          <p:nvSpPr>
            <p:cNvPr id="366" name="Google Shape;366;g3eaf5b54de6_5_0"/>
            <p:cNvSpPr/>
            <p:nvPr/>
          </p:nvSpPr>
          <p:spPr>
            <a:xfrm>
              <a:off x="3142983" y="2273736"/>
              <a:ext cx="1097400" cy="1609500"/>
            </a:xfrm>
            <a:prstGeom prst="rect">
              <a:avLst/>
            </a:prstGeom>
            <a:solidFill>
              <a:srgbClr val="D9EAD3"/>
            </a:solidFill>
            <a:ln cap="flat" cmpd="sng" w="9525">
              <a:solidFill>
                <a:srgbClr val="BBBBB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7" name="Google Shape;367;g3eaf5b54de6_5_0"/>
            <p:cNvSpPr/>
            <p:nvPr/>
          </p:nvSpPr>
          <p:spPr>
            <a:xfrm>
              <a:off x="3167370" y="2395663"/>
              <a:ext cx="1048500" cy="536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274E13"/>
                </a:buClr>
                <a:buSzPts val="1100"/>
                <a:buFont typeface="Arial"/>
                <a:buNone/>
              </a:pPr>
              <a:r>
                <a:rPr b="1" i="0" lang="en-US" sz="1100" u="none" cap="none" strike="noStrike">
                  <a:solidFill>
                    <a:srgbClr val="274E13"/>
                  </a:solidFill>
                  <a:latin typeface="Arial"/>
                  <a:ea typeface="Arial"/>
                  <a:cs typeface="Arial"/>
                  <a:sym typeface="Arial"/>
                </a:rPr>
                <a:t>Collect &amp;</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74E13"/>
                </a:buClr>
                <a:buSzPts val="1100"/>
                <a:buFont typeface="Arial"/>
                <a:buNone/>
              </a:pPr>
              <a:r>
                <a:rPr b="1" i="0" lang="en-US" sz="1100" u="none" cap="none" strike="noStrike">
                  <a:solidFill>
                    <a:srgbClr val="274E13"/>
                  </a:solidFill>
                  <a:latin typeface="Arial"/>
                  <a:ea typeface="Arial"/>
                  <a:cs typeface="Arial"/>
                  <a:sym typeface="Arial"/>
                </a:rPr>
                <a:t>Process</a:t>
              </a:r>
              <a:endParaRPr b="0" i="0" sz="1100" u="none" cap="none" strike="noStrike">
                <a:solidFill>
                  <a:schemeClr val="dk1"/>
                </a:solidFill>
                <a:latin typeface="Calibri"/>
                <a:ea typeface="Calibri"/>
                <a:cs typeface="Calibri"/>
                <a:sym typeface="Calibri"/>
              </a:endParaRPr>
            </a:p>
          </p:txBody>
        </p:sp>
        <p:sp>
          <p:nvSpPr>
            <p:cNvPr id="368" name="Google Shape;368;g3eaf5b54de6_5_0"/>
            <p:cNvSpPr/>
            <p:nvPr/>
          </p:nvSpPr>
          <p:spPr>
            <a:xfrm>
              <a:off x="3191754" y="3005263"/>
              <a:ext cx="999600" cy="1609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Clr>
                  <a:srgbClr val="274E13"/>
                </a:buClr>
                <a:buSzPts val="1000"/>
                <a:buFont typeface="Calibri"/>
                <a:buNone/>
              </a:pPr>
              <a:r>
                <a:rPr b="0" i="1" lang="en-US" sz="1000" u="none" cap="none" strike="noStrike">
                  <a:solidFill>
                    <a:srgbClr val="274E13"/>
                  </a:solidFill>
                  <a:latin typeface="Calibri"/>
                  <a:ea typeface="Calibri"/>
                  <a:cs typeface="Calibri"/>
                  <a:sym typeface="Calibri"/>
                </a:rPr>
                <a:t>Internal &amp;</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74E13"/>
                </a:buClr>
                <a:buSzPts val="1000"/>
                <a:buFont typeface="Calibri"/>
                <a:buNone/>
              </a:pPr>
              <a:r>
                <a:rPr b="0" i="1" lang="en-US" sz="1000" u="none" cap="none" strike="noStrike">
                  <a:solidFill>
                    <a:srgbClr val="274E13"/>
                  </a:solidFill>
                  <a:latin typeface="Calibri"/>
                  <a:ea typeface="Calibri"/>
                  <a:cs typeface="Calibri"/>
                  <a:sym typeface="Calibri"/>
                </a:rPr>
                <a:t>external</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74E13"/>
                </a:buClr>
                <a:buSzPts val="1000"/>
                <a:buFont typeface="Calibri"/>
                <a:buNone/>
              </a:pPr>
              <a:r>
                <a:rPr b="0" i="1" lang="en-US" sz="1000" u="none" cap="none" strike="noStrike">
                  <a:solidFill>
                    <a:srgbClr val="274E13"/>
                  </a:solidFill>
                  <a:latin typeface="Calibri"/>
                  <a:ea typeface="Calibri"/>
                  <a:cs typeface="Calibri"/>
                  <a:sym typeface="Calibri"/>
                </a:rPr>
                <a:t>validation</a:t>
              </a:r>
              <a:endParaRPr b="0" i="0" sz="1000" u="none" cap="none" strike="noStrike">
                <a:solidFill>
                  <a:schemeClr val="dk1"/>
                </a:solidFill>
                <a:latin typeface="Calibri"/>
                <a:ea typeface="Calibri"/>
                <a:cs typeface="Calibri"/>
                <a:sym typeface="Calibri"/>
              </a:endParaRPr>
            </a:p>
          </p:txBody>
        </p:sp>
        <p:sp>
          <p:nvSpPr>
            <p:cNvPr id="369" name="Google Shape;369;g3eaf5b54de6_5_0"/>
            <p:cNvSpPr/>
            <p:nvPr/>
          </p:nvSpPr>
          <p:spPr>
            <a:xfrm>
              <a:off x="3173508" y="4220897"/>
              <a:ext cx="1097400" cy="1609500"/>
            </a:xfrm>
            <a:prstGeom prst="rect">
              <a:avLst/>
            </a:prstGeom>
            <a:solidFill>
              <a:srgbClr val="D9EAD3"/>
            </a:solidFill>
            <a:ln cap="flat" cmpd="sng" w="9525">
              <a:solidFill>
                <a:srgbClr val="BBBBB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0" name="Google Shape;370;g3eaf5b54de6_5_0"/>
            <p:cNvSpPr/>
            <p:nvPr/>
          </p:nvSpPr>
          <p:spPr>
            <a:xfrm>
              <a:off x="3197907" y="4338822"/>
              <a:ext cx="1048500" cy="585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274E13"/>
                </a:buClr>
                <a:buSzPts val="1000"/>
                <a:buFont typeface="Arial"/>
                <a:buNone/>
              </a:pPr>
              <a:r>
                <a:rPr b="1" i="0" lang="en-US" sz="1000" u="none" cap="none" strike="noStrike">
                  <a:solidFill>
                    <a:srgbClr val="274E13"/>
                  </a:solidFill>
                  <a:latin typeface="Arial"/>
                  <a:ea typeface="Arial"/>
                  <a:cs typeface="Arial"/>
                  <a:sym typeface="Arial"/>
                </a:rPr>
                <a:t>Data</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74E13"/>
                </a:buClr>
                <a:buSzPts val="1000"/>
                <a:buFont typeface="Arial"/>
                <a:buNone/>
              </a:pPr>
              <a:r>
                <a:rPr b="1" i="0" lang="en-US" sz="1000" u="none" cap="none" strike="noStrike">
                  <a:solidFill>
                    <a:srgbClr val="274E13"/>
                  </a:solidFill>
                  <a:latin typeface="Arial"/>
                  <a:ea typeface="Arial"/>
                  <a:cs typeface="Arial"/>
                  <a:sym typeface="Arial"/>
                </a:rPr>
                <a:t>Governance</a:t>
              </a:r>
              <a:endParaRPr b="0" i="0" sz="1000" u="none" cap="none" strike="noStrike">
                <a:solidFill>
                  <a:schemeClr val="dk1"/>
                </a:solidFill>
                <a:latin typeface="Calibri"/>
                <a:ea typeface="Calibri"/>
                <a:cs typeface="Calibri"/>
                <a:sym typeface="Calibri"/>
              </a:endParaRPr>
            </a:p>
          </p:txBody>
        </p:sp>
        <p:sp>
          <p:nvSpPr>
            <p:cNvPr id="371" name="Google Shape;371;g3eaf5b54de6_5_0"/>
            <p:cNvSpPr/>
            <p:nvPr/>
          </p:nvSpPr>
          <p:spPr>
            <a:xfrm>
              <a:off x="3209980" y="4924050"/>
              <a:ext cx="1048500" cy="808800"/>
            </a:xfrm>
            <a:prstGeom prst="rect">
              <a:avLst/>
            </a:prstGeom>
            <a:noFill/>
            <a:ln>
              <a:noFill/>
            </a:ln>
          </p:spPr>
          <p:txBody>
            <a:bodyPr anchorCtr="0" anchor="b" bIns="60925" lIns="121900" spcFirstLastPara="1" rIns="121900" wrap="square" tIns="60925">
              <a:noAutofit/>
            </a:bodyPr>
            <a:lstStyle/>
            <a:p>
              <a:pPr indent="0" lvl="0" marL="0" marR="0" rtl="0" algn="ctr">
                <a:spcBef>
                  <a:spcPts val="0"/>
                </a:spcBef>
                <a:spcAft>
                  <a:spcPts val="0"/>
                </a:spcAft>
                <a:buClr>
                  <a:srgbClr val="274E13"/>
                </a:buClr>
                <a:buSzPts val="1000"/>
                <a:buFont typeface="Calibri"/>
                <a:buNone/>
              </a:pPr>
              <a:r>
                <a:rPr i="1" lang="en-US" sz="900">
                  <a:solidFill>
                    <a:srgbClr val="274E13"/>
                  </a:solidFill>
                  <a:latin typeface="Montserrat"/>
                  <a:ea typeface="Montserrat"/>
                  <a:cs typeface="Montserrat"/>
                  <a:sym typeface="Montserrat"/>
                </a:rPr>
                <a:t>Classification</a:t>
              </a:r>
              <a:r>
                <a:rPr i="1" lang="en-US" sz="900" u="none" cap="none" strike="noStrike">
                  <a:solidFill>
                    <a:srgbClr val="274E13"/>
                  </a:solidFill>
                  <a:latin typeface="Montserrat"/>
                  <a:ea typeface="Montserrat"/>
                  <a:cs typeface="Montserrat"/>
                  <a:sym typeface="Montserrat"/>
                </a:rPr>
                <a:t>,</a:t>
              </a:r>
              <a:endParaRPr i="0" sz="9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274E13"/>
                </a:buClr>
                <a:buSzPts val="1000"/>
                <a:buFont typeface="Calibri"/>
                <a:buNone/>
              </a:pPr>
              <a:r>
                <a:rPr i="1" lang="en-US" sz="900" u="none" cap="none" strike="noStrike">
                  <a:solidFill>
                    <a:srgbClr val="274E13"/>
                  </a:solidFill>
                  <a:latin typeface="Montserrat"/>
                  <a:ea typeface="Montserrat"/>
                  <a:cs typeface="Montserrat"/>
                  <a:sym typeface="Montserrat"/>
                </a:rPr>
                <a:t>lineage &amp;</a:t>
              </a:r>
              <a:endParaRPr i="0" sz="9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274E13"/>
                </a:buClr>
                <a:buSzPts val="1000"/>
                <a:buFont typeface="Calibri"/>
                <a:buNone/>
              </a:pPr>
              <a:r>
                <a:rPr i="1" lang="en-US" sz="900" u="none" cap="none" strike="noStrike">
                  <a:solidFill>
                    <a:srgbClr val="274E13"/>
                  </a:solidFill>
                  <a:latin typeface="Montserrat"/>
                  <a:ea typeface="Montserrat"/>
                  <a:cs typeface="Montserrat"/>
                  <a:sym typeface="Montserrat"/>
                </a:rPr>
                <a:t>consent</a:t>
              </a:r>
              <a:endParaRPr i="0" sz="900" u="none" cap="none" strike="noStrike">
                <a:solidFill>
                  <a:schemeClr val="dk1"/>
                </a:solidFill>
                <a:latin typeface="Montserrat"/>
                <a:ea typeface="Montserrat"/>
                <a:cs typeface="Montserrat"/>
                <a:sym typeface="Montserrat"/>
              </a:endParaRPr>
            </a:p>
          </p:txBody>
        </p:sp>
        <p:sp>
          <p:nvSpPr>
            <p:cNvPr id="372" name="Google Shape;372;g3eaf5b54de6_5_0"/>
            <p:cNvSpPr/>
            <p:nvPr/>
          </p:nvSpPr>
          <p:spPr>
            <a:xfrm>
              <a:off x="4240262" y="2273736"/>
              <a:ext cx="1097400" cy="1609500"/>
            </a:xfrm>
            <a:prstGeom prst="rect">
              <a:avLst/>
            </a:prstGeom>
            <a:solidFill>
              <a:srgbClr val="FCE5CD"/>
            </a:solidFill>
            <a:ln cap="flat" cmpd="sng" w="9525">
              <a:solidFill>
                <a:srgbClr val="BBBBB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3" name="Google Shape;373;g3eaf5b54de6_5_0"/>
            <p:cNvSpPr/>
            <p:nvPr/>
          </p:nvSpPr>
          <p:spPr>
            <a:xfrm>
              <a:off x="4264650" y="2395663"/>
              <a:ext cx="1048500" cy="536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6000"/>
                </a:buClr>
                <a:buSzPts val="1100"/>
                <a:buFont typeface="Arial"/>
                <a:buNone/>
              </a:pPr>
              <a:r>
                <a:rPr b="1" i="0" lang="en-US" sz="1100" u="none" cap="none" strike="noStrike">
                  <a:solidFill>
                    <a:srgbClr val="7F6000"/>
                  </a:solidFill>
                  <a:latin typeface="Arial"/>
                  <a:ea typeface="Arial"/>
                  <a:cs typeface="Arial"/>
                  <a:sym typeface="Arial"/>
                </a:rPr>
                <a:t>Build &amp; Use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6000"/>
                </a:buClr>
                <a:buSzPts val="1100"/>
                <a:buFont typeface="Arial"/>
                <a:buNone/>
              </a:pPr>
              <a:r>
                <a:rPr b="1" i="0" lang="en-US" sz="1100" u="none" cap="none" strike="noStrike">
                  <a:solidFill>
                    <a:srgbClr val="7F6000"/>
                  </a:solidFill>
                  <a:latin typeface="Arial"/>
                  <a:ea typeface="Arial"/>
                  <a:cs typeface="Arial"/>
                  <a:sym typeface="Arial"/>
                </a:rPr>
                <a:t>Model</a:t>
              </a:r>
              <a:endParaRPr b="0" i="0" sz="1100" u="none" cap="none" strike="noStrike">
                <a:solidFill>
                  <a:schemeClr val="dk1"/>
                </a:solidFill>
                <a:latin typeface="Calibri"/>
                <a:ea typeface="Calibri"/>
                <a:cs typeface="Calibri"/>
                <a:sym typeface="Calibri"/>
              </a:endParaRPr>
            </a:p>
          </p:txBody>
        </p:sp>
        <p:sp>
          <p:nvSpPr>
            <p:cNvPr id="374" name="Google Shape;374;g3eaf5b54de6_5_0"/>
            <p:cNvSpPr/>
            <p:nvPr/>
          </p:nvSpPr>
          <p:spPr>
            <a:xfrm>
              <a:off x="4289034" y="3005263"/>
              <a:ext cx="999600" cy="1609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Clr>
                  <a:srgbClr val="7F6000"/>
                </a:buClr>
                <a:buSzPts val="1000"/>
                <a:buFont typeface="Calibri"/>
                <a:buNone/>
              </a:pPr>
              <a:r>
                <a:rPr b="0" i="1" lang="en-US" sz="1000" u="none" cap="none" strike="noStrike">
                  <a:solidFill>
                    <a:srgbClr val="7F6000"/>
                  </a:solidFill>
                  <a:latin typeface="Calibri"/>
                  <a:ea typeface="Calibri"/>
                  <a:cs typeface="Calibri"/>
                  <a:sym typeface="Calibri"/>
                </a:rPr>
                <a:t>Model</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6000"/>
                </a:buClr>
                <a:buSzPts val="1000"/>
                <a:buFont typeface="Calibri"/>
                <a:buNone/>
              </a:pPr>
              <a:r>
                <a:rPr b="0" i="1" lang="en-US" sz="1000" u="none" cap="none" strike="noStrike">
                  <a:solidFill>
                    <a:srgbClr val="7F6000"/>
                  </a:solidFill>
                  <a:latin typeface="Calibri"/>
                  <a:ea typeface="Calibri"/>
                  <a:cs typeface="Calibri"/>
                  <a:sym typeface="Calibri"/>
                </a:rPr>
                <a:t>testing</a:t>
              </a:r>
              <a:endParaRPr b="0" i="0" sz="1000" u="none" cap="none" strike="noStrike">
                <a:solidFill>
                  <a:schemeClr val="dk1"/>
                </a:solidFill>
                <a:latin typeface="Calibri"/>
                <a:ea typeface="Calibri"/>
                <a:cs typeface="Calibri"/>
                <a:sym typeface="Calibri"/>
              </a:endParaRPr>
            </a:p>
          </p:txBody>
        </p:sp>
        <p:sp>
          <p:nvSpPr>
            <p:cNvPr id="375" name="Google Shape;375;g3eaf5b54de6_5_0"/>
            <p:cNvSpPr/>
            <p:nvPr/>
          </p:nvSpPr>
          <p:spPr>
            <a:xfrm>
              <a:off x="4270787" y="4220897"/>
              <a:ext cx="1097400" cy="1609500"/>
            </a:xfrm>
            <a:prstGeom prst="rect">
              <a:avLst/>
            </a:prstGeom>
            <a:solidFill>
              <a:srgbClr val="FCE5CD"/>
            </a:solidFill>
            <a:ln cap="flat" cmpd="sng" w="9525">
              <a:solidFill>
                <a:srgbClr val="BBBBB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6" name="Google Shape;376;g3eaf5b54de6_5_0"/>
            <p:cNvSpPr/>
            <p:nvPr/>
          </p:nvSpPr>
          <p:spPr>
            <a:xfrm>
              <a:off x="4295187" y="4338822"/>
              <a:ext cx="1048500" cy="585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6000"/>
                </a:buClr>
                <a:buSzPts val="1000"/>
                <a:buFont typeface="Arial"/>
                <a:buNone/>
              </a:pPr>
              <a:r>
                <a:rPr b="1" i="0" lang="en-US" sz="1000" u="none" cap="none" strike="noStrike">
                  <a:solidFill>
                    <a:srgbClr val="7F6000"/>
                  </a:solidFill>
                  <a:latin typeface="Arial"/>
                  <a:ea typeface="Arial"/>
                  <a:cs typeface="Arial"/>
                  <a:sym typeface="Arial"/>
                </a:rPr>
                <a:t>Model Risk</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6000"/>
                </a:buClr>
                <a:buSzPts val="1000"/>
                <a:buFont typeface="Arial"/>
                <a:buNone/>
              </a:pPr>
              <a:r>
                <a:rPr b="1" i="0" lang="en-US" sz="1000" u="none" cap="none" strike="noStrike">
                  <a:solidFill>
                    <a:srgbClr val="7F6000"/>
                  </a:solidFill>
                  <a:latin typeface="Arial"/>
                  <a:ea typeface="Arial"/>
                  <a:cs typeface="Arial"/>
                  <a:sym typeface="Arial"/>
                </a:rPr>
                <a:t>&amp; Cards</a:t>
              </a:r>
              <a:endParaRPr b="0" i="0" sz="1000" u="none" cap="none" strike="noStrike">
                <a:solidFill>
                  <a:schemeClr val="dk1"/>
                </a:solidFill>
                <a:latin typeface="Calibri"/>
                <a:ea typeface="Calibri"/>
                <a:cs typeface="Calibri"/>
                <a:sym typeface="Calibri"/>
              </a:endParaRPr>
            </a:p>
          </p:txBody>
        </p:sp>
        <p:sp>
          <p:nvSpPr>
            <p:cNvPr id="377" name="Google Shape;377;g3eaf5b54de6_5_0"/>
            <p:cNvSpPr/>
            <p:nvPr/>
          </p:nvSpPr>
          <p:spPr>
            <a:xfrm>
              <a:off x="4319554" y="4924050"/>
              <a:ext cx="1048500" cy="808800"/>
            </a:xfrm>
            <a:prstGeom prst="rect">
              <a:avLst/>
            </a:prstGeom>
            <a:noFill/>
            <a:ln>
              <a:noFill/>
            </a:ln>
          </p:spPr>
          <p:txBody>
            <a:bodyPr anchorCtr="0" anchor="b" bIns="60925" lIns="121900" spcFirstLastPara="1" rIns="121900" wrap="square" tIns="60925">
              <a:noAutofit/>
            </a:bodyPr>
            <a:lstStyle/>
            <a:p>
              <a:pPr indent="0" lvl="0" marL="0" marR="0" rtl="0" algn="ctr">
                <a:spcBef>
                  <a:spcPts val="0"/>
                </a:spcBef>
                <a:spcAft>
                  <a:spcPts val="0"/>
                </a:spcAft>
                <a:buClr>
                  <a:srgbClr val="7F6000"/>
                </a:buClr>
                <a:buSzPts val="1000"/>
                <a:buFont typeface="Calibri"/>
                <a:buNone/>
              </a:pPr>
              <a:r>
                <a:rPr i="1" lang="en-US" sz="900" u="none" cap="none" strike="noStrike">
                  <a:solidFill>
                    <a:srgbClr val="7F6000"/>
                  </a:solidFill>
                  <a:latin typeface="Montserrat"/>
                  <a:ea typeface="Montserrat"/>
                  <a:cs typeface="Montserrat"/>
                  <a:sym typeface="Montserrat"/>
                </a:rPr>
                <a:t>Bias testing,</a:t>
              </a:r>
              <a:endParaRPr i="0" sz="9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7F6000"/>
                </a:buClr>
                <a:buSzPts val="1000"/>
                <a:buFont typeface="Calibri"/>
                <a:buNone/>
              </a:pPr>
              <a:r>
                <a:rPr i="1" lang="en-US" sz="900" u="none" cap="none" strike="noStrike">
                  <a:solidFill>
                    <a:srgbClr val="7F6000"/>
                  </a:solidFill>
                  <a:latin typeface="Montserrat"/>
                  <a:ea typeface="Montserrat"/>
                  <a:cs typeface="Montserrat"/>
                  <a:sym typeface="Montserrat"/>
                </a:rPr>
                <a:t>explainability</a:t>
              </a:r>
              <a:endParaRPr i="0" sz="9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7F6000"/>
                </a:buClr>
                <a:buSzPts val="1000"/>
                <a:buFont typeface="Calibri"/>
                <a:buNone/>
              </a:pPr>
              <a:r>
                <a:rPr i="1" lang="en-US" sz="900" u="none" cap="none" strike="noStrike">
                  <a:solidFill>
                    <a:srgbClr val="7F6000"/>
                  </a:solidFill>
                  <a:latin typeface="Montserrat"/>
                  <a:ea typeface="Montserrat"/>
                  <a:cs typeface="Montserrat"/>
                  <a:sym typeface="Montserrat"/>
                </a:rPr>
                <a:t>review</a:t>
              </a:r>
              <a:endParaRPr i="0" sz="900" u="none" cap="none" strike="noStrike">
                <a:solidFill>
                  <a:schemeClr val="dk1"/>
                </a:solidFill>
                <a:latin typeface="Montserrat"/>
                <a:ea typeface="Montserrat"/>
                <a:cs typeface="Montserrat"/>
                <a:sym typeface="Montserrat"/>
              </a:endParaRPr>
            </a:p>
          </p:txBody>
        </p:sp>
        <p:sp>
          <p:nvSpPr>
            <p:cNvPr id="378" name="Google Shape;378;g3eaf5b54de6_5_0"/>
            <p:cNvSpPr/>
            <p:nvPr/>
          </p:nvSpPr>
          <p:spPr>
            <a:xfrm>
              <a:off x="5337541" y="2273736"/>
              <a:ext cx="1097400" cy="1609500"/>
            </a:xfrm>
            <a:prstGeom prst="rect">
              <a:avLst/>
            </a:prstGeom>
            <a:solidFill>
              <a:srgbClr val="FFF2CC"/>
            </a:solidFill>
            <a:ln cap="flat" cmpd="sng" w="9525">
              <a:solidFill>
                <a:srgbClr val="BBBBB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9" name="Google Shape;379;g3eaf5b54de6_5_0"/>
            <p:cNvSpPr/>
            <p:nvPr/>
          </p:nvSpPr>
          <p:spPr>
            <a:xfrm>
              <a:off x="5361930" y="2395663"/>
              <a:ext cx="1048500" cy="536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6000"/>
                </a:buClr>
                <a:buSzPts val="1100"/>
                <a:buFont typeface="Arial"/>
                <a:buNone/>
              </a:pPr>
              <a:r>
                <a:rPr b="1" i="0" lang="en-US" sz="1100" u="none" cap="none" strike="noStrike">
                  <a:solidFill>
                    <a:srgbClr val="7F6000"/>
                  </a:solidFill>
                  <a:latin typeface="Arial"/>
                  <a:ea typeface="Arial"/>
                  <a:cs typeface="Arial"/>
                  <a:sym typeface="Arial"/>
                </a:rPr>
                <a:t>Verify &amp;</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6000"/>
                </a:buClr>
                <a:buSzPts val="1100"/>
                <a:buFont typeface="Arial"/>
                <a:buNone/>
              </a:pPr>
              <a:r>
                <a:rPr b="1" i="0" lang="en-US" sz="1100" u="none" cap="none" strike="noStrike">
                  <a:solidFill>
                    <a:srgbClr val="7F6000"/>
                  </a:solidFill>
                  <a:latin typeface="Arial"/>
                  <a:ea typeface="Arial"/>
                  <a:cs typeface="Arial"/>
                  <a:sym typeface="Arial"/>
                </a:rPr>
                <a:t>Validate</a:t>
              </a:r>
              <a:endParaRPr b="0" i="0" sz="1100" u="none" cap="none" strike="noStrike">
                <a:solidFill>
                  <a:schemeClr val="dk1"/>
                </a:solidFill>
                <a:latin typeface="Calibri"/>
                <a:ea typeface="Calibri"/>
                <a:cs typeface="Calibri"/>
                <a:sym typeface="Calibri"/>
              </a:endParaRPr>
            </a:p>
          </p:txBody>
        </p:sp>
        <p:sp>
          <p:nvSpPr>
            <p:cNvPr id="380" name="Google Shape;380;g3eaf5b54de6_5_0"/>
            <p:cNvSpPr/>
            <p:nvPr/>
          </p:nvSpPr>
          <p:spPr>
            <a:xfrm>
              <a:off x="5386314" y="3005263"/>
              <a:ext cx="999600" cy="1609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Clr>
                  <a:srgbClr val="7F6000"/>
                </a:buClr>
                <a:buSzPts val="1000"/>
                <a:buFont typeface="Calibri"/>
                <a:buNone/>
              </a:pPr>
              <a:r>
                <a:rPr b="0" i="1" lang="en-US" sz="1000" u="none" cap="none" strike="noStrike">
                  <a:solidFill>
                    <a:srgbClr val="7F6000"/>
                  </a:solidFill>
                  <a:latin typeface="Calibri"/>
                  <a:ea typeface="Calibri"/>
                  <a:cs typeface="Calibri"/>
                  <a:sym typeface="Calibri"/>
                </a:rPr>
                <a:t>Model</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6000"/>
                </a:buClr>
                <a:buSzPts val="1000"/>
                <a:buFont typeface="Calibri"/>
                <a:buNone/>
              </a:pPr>
              <a:r>
                <a:rPr b="0" i="1" lang="en-US" sz="1000" u="none" cap="none" strike="noStrike">
                  <a:solidFill>
                    <a:srgbClr val="7F6000"/>
                  </a:solidFill>
                  <a:latin typeface="Calibri"/>
                  <a:ea typeface="Calibri"/>
                  <a:cs typeface="Calibri"/>
                  <a:sym typeface="Calibri"/>
                </a:rPr>
                <a:t>testing</a:t>
              </a:r>
              <a:endParaRPr b="0" i="0" sz="1000" u="none" cap="none" strike="noStrike">
                <a:solidFill>
                  <a:schemeClr val="dk1"/>
                </a:solidFill>
                <a:latin typeface="Calibri"/>
                <a:ea typeface="Calibri"/>
                <a:cs typeface="Calibri"/>
                <a:sym typeface="Calibri"/>
              </a:endParaRPr>
            </a:p>
          </p:txBody>
        </p:sp>
        <p:sp>
          <p:nvSpPr>
            <p:cNvPr id="381" name="Google Shape;381;g3eaf5b54de6_5_0"/>
            <p:cNvSpPr/>
            <p:nvPr/>
          </p:nvSpPr>
          <p:spPr>
            <a:xfrm>
              <a:off x="5368066" y="4220897"/>
              <a:ext cx="1097400" cy="1609500"/>
            </a:xfrm>
            <a:prstGeom prst="rect">
              <a:avLst/>
            </a:prstGeom>
            <a:solidFill>
              <a:srgbClr val="FFF2CC"/>
            </a:solidFill>
            <a:ln cap="flat" cmpd="sng" w="9525">
              <a:solidFill>
                <a:srgbClr val="BBBBB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2" name="Google Shape;382;g3eaf5b54de6_5_0"/>
            <p:cNvSpPr/>
            <p:nvPr/>
          </p:nvSpPr>
          <p:spPr>
            <a:xfrm>
              <a:off x="5392467" y="4338822"/>
              <a:ext cx="1048500" cy="585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6000"/>
                </a:buClr>
                <a:buSzPts val="1000"/>
                <a:buFont typeface="Arial"/>
                <a:buNone/>
              </a:pPr>
              <a:r>
                <a:rPr b="1" i="0" lang="en-US" sz="1000" u="none" cap="none" strike="noStrike">
                  <a:solidFill>
                    <a:srgbClr val="7F6000"/>
                  </a:solidFill>
                  <a:latin typeface="Arial"/>
                  <a:ea typeface="Arial"/>
                  <a:cs typeface="Arial"/>
                  <a:sym typeface="Arial"/>
                </a:rPr>
                <a:t>Validation</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6000"/>
                </a:buClr>
                <a:buSzPts val="1000"/>
                <a:buFont typeface="Arial"/>
                <a:buNone/>
              </a:pPr>
              <a:r>
                <a:rPr b="1" i="0" lang="en-US" sz="1000" u="none" cap="none" strike="noStrike">
                  <a:solidFill>
                    <a:srgbClr val="7F6000"/>
                  </a:solidFill>
                  <a:latin typeface="Arial"/>
                  <a:ea typeface="Arial"/>
                  <a:cs typeface="Arial"/>
                  <a:sym typeface="Arial"/>
                </a:rPr>
                <a:t>&amp; Approval</a:t>
              </a:r>
              <a:endParaRPr b="0" i="0" sz="1000" u="none" cap="none" strike="noStrike">
                <a:solidFill>
                  <a:schemeClr val="dk1"/>
                </a:solidFill>
                <a:latin typeface="Calibri"/>
                <a:ea typeface="Calibri"/>
                <a:cs typeface="Calibri"/>
                <a:sym typeface="Calibri"/>
              </a:endParaRPr>
            </a:p>
          </p:txBody>
        </p:sp>
        <p:sp>
          <p:nvSpPr>
            <p:cNvPr id="383" name="Google Shape;383;g3eaf5b54de6_5_0"/>
            <p:cNvSpPr/>
            <p:nvPr/>
          </p:nvSpPr>
          <p:spPr>
            <a:xfrm>
              <a:off x="5416845" y="4924041"/>
              <a:ext cx="999600" cy="808800"/>
            </a:xfrm>
            <a:prstGeom prst="rect">
              <a:avLst/>
            </a:prstGeom>
            <a:noFill/>
            <a:ln>
              <a:noFill/>
            </a:ln>
          </p:spPr>
          <p:txBody>
            <a:bodyPr anchorCtr="0" anchor="b" bIns="60925" lIns="121900" spcFirstLastPara="1" rIns="121900" wrap="square" tIns="60925">
              <a:noAutofit/>
            </a:bodyPr>
            <a:lstStyle/>
            <a:p>
              <a:pPr indent="0" lvl="0" marL="0" marR="0" rtl="0" algn="ctr">
                <a:spcBef>
                  <a:spcPts val="0"/>
                </a:spcBef>
                <a:spcAft>
                  <a:spcPts val="0"/>
                </a:spcAft>
                <a:buClr>
                  <a:srgbClr val="7F6000"/>
                </a:buClr>
                <a:buSzPts val="1000"/>
                <a:buFont typeface="Calibri"/>
                <a:buNone/>
              </a:pPr>
              <a:r>
                <a:rPr i="1" lang="en-US" sz="900" u="none" cap="none" strike="noStrike">
                  <a:solidFill>
                    <a:srgbClr val="7F6000"/>
                  </a:solidFill>
                  <a:latin typeface="Montserrat"/>
                  <a:ea typeface="Montserrat"/>
                  <a:cs typeface="Montserrat"/>
                  <a:sym typeface="Montserrat"/>
                </a:rPr>
                <a:t>HITL gate,</a:t>
              </a:r>
              <a:endParaRPr i="0" sz="9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7F6000"/>
                </a:buClr>
                <a:buSzPts val="1000"/>
                <a:buFont typeface="Calibri"/>
                <a:buNone/>
              </a:pPr>
              <a:r>
                <a:rPr i="1" lang="en-US" sz="900" u="none" cap="none" strike="noStrike">
                  <a:solidFill>
                    <a:srgbClr val="7F6000"/>
                  </a:solidFill>
                  <a:latin typeface="Montserrat"/>
                  <a:ea typeface="Montserrat"/>
                  <a:cs typeface="Montserrat"/>
                  <a:sym typeface="Montserrat"/>
                </a:rPr>
                <a:t>sign-off before</a:t>
              </a:r>
              <a:endParaRPr i="0" sz="9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7F6000"/>
                </a:buClr>
                <a:buSzPts val="1000"/>
                <a:buFont typeface="Calibri"/>
                <a:buNone/>
              </a:pPr>
              <a:r>
                <a:rPr i="1" lang="en-US" sz="900" u="none" cap="none" strike="noStrike">
                  <a:solidFill>
                    <a:srgbClr val="7F6000"/>
                  </a:solidFill>
                  <a:latin typeface="Montserrat"/>
                  <a:ea typeface="Montserrat"/>
                  <a:cs typeface="Montserrat"/>
                  <a:sym typeface="Montserrat"/>
                </a:rPr>
                <a:t>production</a:t>
              </a:r>
              <a:endParaRPr i="0" sz="900" u="none" cap="none" strike="noStrike">
                <a:solidFill>
                  <a:schemeClr val="dk1"/>
                </a:solidFill>
                <a:latin typeface="Montserrat"/>
                <a:ea typeface="Montserrat"/>
                <a:cs typeface="Montserrat"/>
                <a:sym typeface="Montserrat"/>
              </a:endParaRPr>
            </a:p>
          </p:txBody>
        </p:sp>
        <p:sp>
          <p:nvSpPr>
            <p:cNvPr id="384" name="Google Shape;384;g3eaf5b54de6_5_0"/>
            <p:cNvSpPr/>
            <p:nvPr/>
          </p:nvSpPr>
          <p:spPr>
            <a:xfrm>
              <a:off x="6434819" y="2273736"/>
              <a:ext cx="1097400" cy="1609500"/>
            </a:xfrm>
            <a:prstGeom prst="rect">
              <a:avLst/>
            </a:prstGeom>
            <a:solidFill>
              <a:srgbClr val="FCE4D6"/>
            </a:solidFill>
            <a:ln cap="flat" cmpd="sng" w="9525">
              <a:solidFill>
                <a:srgbClr val="BBBBB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5" name="Google Shape;385;g3eaf5b54de6_5_0"/>
            <p:cNvSpPr/>
            <p:nvPr/>
          </p:nvSpPr>
          <p:spPr>
            <a:xfrm>
              <a:off x="6459210" y="2395663"/>
              <a:ext cx="1048500" cy="536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0000"/>
                </a:buClr>
                <a:buSzPts val="1100"/>
                <a:buFont typeface="Arial"/>
                <a:buNone/>
              </a:pPr>
              <a:r>
                <a:rPr b="1" i="0" lang="en-US" sz="1100" u="none" cap="none" strike="noStrike">
                  <a:solidFill>
                    <a:srgbClr val="990000"/>
                  </a:solidFill>
                  <a:latin typeface="Arial"/>
                  <a:ea typeface="Arial"/>
                  <a:cs typeface="Arial"/>
                  <a:sym typeface="Arial"/>
                </a:rPr>
                <a:t>Deploy</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90000"/>
                </a:buClr>
                <a:buSzPts val="1100"/>
                <a:buFont typeface="Arial"/>
                <a:buNone/>
              </a:pPr>
              <a:r>
                <a:rPr b="1" i="0" lang="en-US" sz="1100" u="none" cap="none" strike="noStrike">
                  <a:solidFill>
                    <a:srgbClr val="990000"/>
                  </a:solidFill>
                  <a:latin typeface="Arial"/>
                  <a:ea typeface="Arial"/>
                  <a:cs typeface="Arial"/>
                  <a:sym typeface="Arial"/>
                </a:rPr>
                <a:t>&amp; Use</a:t>
              </a:r>
              <a:endParaRPr b="0" i="0" sz="1100" u="none" cap="none" strike="noStrike">
                <a:solidFill>
                  <a:schemeClr val="dk1"/>
                </a:solidFill>
                <a:latin typeface="Calibri"/>
                <a:ea typeface="Calibri"/>
                <a:cs typeface="Calibri"/>
                <a:sym typeface="Calibri"/>
              </a:endParaRPr>
            </a:p>
          </p:txBody>
        </p:sp>
        <p:sp>
          <p:nvSpPr>
            <p:cNvPr id="386" name="Google Shape;386;g3eaf5b54de6_5_0"/>
            <p:cNvSpPr/>
            <p:nvPr/>
          </p:nvSpPr>
          <p:spPr>
            <a:xfrm>
              <a:off x="6483594" y="3005263"/>
              <a:ext cx="999600" cy="1609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Clr>
                  <a:srgbClr val="990000"/>
                </a:buClr>
                <a:buSzPts val="1000"/>
                <a:buFont typeface="Calibri"/>
                <a:buNone/>
              </a:pPr>
              <a:r>
                <a:rPr b="0" i="1" lang="en-US" sz="1000" u="none" cap="none" strike="noStrike">
                  <a:solidFill>
                    <a:srgbClr val="990000"/>
                  </a:solidFill>
                  <a:latin typeface="Calibri"/>
                  <a:ea typeface="Calibri"/>
                  <a:cs typeface="Calibri"/>
                  <a:sym typeface="Calibri"/>
                </a:rPr>
                <a:t>Integration,</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90000"/>
                </a:buClr>
                <a:buSzPts val="1000"/>
                <a:buFont typeface="Calibri"/>
                <a:buNone/>
              </a:pPr>
              <a:r>
                <a:rPr b="0" i="1" lang="en-US" sz="1000" u="none" cap="none" strike="noStrike">
                  <a:solidFill>
                    <a:srgbClr val="990000"/>
                  </a:solidFill>
                  <a:latin typeface="Calibri"/>
                  <a:ea typeface="Calibri"/>
                  <a:cs typeface="Calibri"/>
                  <a:sym typeface="Calibri"/>
                </a:rPr>
                <a:t>compliance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90000"/>
                </a:buClr>
                <a:buSzPts val="1000"/>
                <a:buFont typeface="Calibri"/>
                <a:buNone/>
              </a:pPr>
              <a:r>
                <a:rPr b="0" i="1" lang="en-US" sz="1000" u="none" cap="none" strike="noStrike">
                  <a:solidFill>
                    <a:srgbClr val="990000"/>
                  </a:solidFill>
                  <a:latin typeface="Calibri"/>
                  <a:ea typeface="Calibri"/>
                  <a:cs typeface="Calibri"/>
                  <a:sym typeface="Calibri"/>
                </a:rPr>
                <a:t>testing &amp; val.</a:t>
              </a:r>
              <a:endParaRPr b="0" i="0" sz="1000" u="none" cap="none" strike="noStrike">
                <a:solidFill>
                  <a:schemeClr val="dk1"/>
                </a:solidFill>
                <a:latin typeface="Calibri"/>
                <a:ea typeface="Calibri"/>
                <a:cs typeface="Calibri"/>
                <a:sym typeface="Calibri"/>
              </a:endParaRPr>
            </a:p>
          </p:txBody>
        </p:sp>
        <p:sp>
          <p:nvSpPr>
            <p:cNvPr id="387" name="Google Shape;387;g3eaf5b54de6_5_0"/>
            <p:cNvSpPr/>
            <p:nvPr/>
          </p:nvSpPr>
          <p:spPr>
            <a:xfrm>
              <a:off x="6465344" y="4220897"/>
              <a:ext cx="1097400" cy="1609500"/>
            </a:xfrm>
            <a:prstGeom prst="rect">
              <a:avLst/>
            </a:prstGeom>
            <a:solidFill>
              <a:srgbClr val="FCE4D6"/>
            </a:solidFill>
            <a:ln cap="flat" cmpd="sng" w="9525">
              <a:solidFill>
                <a:srgbClr val="BBBBB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8" name="Google Shape;388;g3eaf5b54de6_5_0"/>
            <p:cNvSpPr/>
            <p:nvPr/>
          </p:nvSpPr>
          <p:spPr>
            <a:xfrm>
              <a:off x="6489747" y="4338822"/>
              <a:ext cx="1048500" cy="585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0000"/>
                </a:buClr>
                <a:buSzPts val="1000"/>
                <a:buFont typeface="Arial"/>
                <a:buNone/>
              </a:pPr>
              <a:r>
                <a:rPr b="1" i="0" lang="en-US" sz="1000" u="none" cap="none" strike="noStrike">
                  <a:solidFill>
                    <a:srgbClr val="990000"/>
                  </a:solidFill>
                  <a:latin typeface="Arial"/>
                  <a:ea typeface="Arial"/>
                  <a:cs typeface="Arial"/>
                  <a:sym typeface="Arial"/>
                </a:rPr>
                <a:t>Runtime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90000"/>
                </a:buClr>
                <a:buSzPts val="1000"/>
                <a:buFont typeface="Arial"/>
                <a:buNone/>
              </a:pPr>
              <a:r>
                <a:rPr b="1" i="0" lang="en-US" sz="1000" u="none" cap="none" strike="noStrike">
                  <a:solidFill>
                    <a:srgbClr val="990000"/>
                  </a:solidFill>
                  <a:latin typeface="Arial"/>
                  <a:ea typeface="Arial"/>
                  <a:cs typeface="Arial"/>
                  <a:sym typeface="Arial"/>
                </a:rPr>
                <a:t>Controls</a:t>
              </a:r>
              <a:endParaRPr b="0" i="0" sz="1000" u="none" cap="none" strike="noStrike">
                <a:solidFill>
                  <a:schemeClr val="dk1"/>
                </a:solidFill>
                <a:latin typeface="Calibri"/>
                <a:ea typeface="Calibri"/>
                <a:cs typeface="Calibri"/>
                <a:sym typeface="Calibri"/>
              </a:endParaRPr>
            </a:p>
          </p:txBody>
        </p:sp>
        <p:sp>
          <p:nvSpPr>
            <p:cNvPr id="389" name="Google Shape;389;g3eaf5b54de6_5_0"/>
            <p:cNvSpPr/>
            <p:nvPr/>
          </p:nvSpPr>
          <p:spPr>
            <a:xfrm>
              <a:off x="6514125" y="4924041"/>
              <a:ext cx="999600" cy="808800"/>
            </a:xfrm>
            <a:prstGeom prst="rect">
              <a:avLst/>
            </a:prstGeom>
            <a:noFill/>
            <a:ln>
              <a:noFill/>
            </a:ln>
          </p:spPr>
          <p:txBody>
            <a:bodyPr anchorCtr="0" anchor="b" bIns="60925" lIns="121900" spcFirstLastPara="1" rIns="121900" wrap="square" tIns="60925">
              <a:noAutofit/>
            </a:bodyPr>
            <a:lstStyle/>
            <a:p>
              <a:pPr indent="0" lvl="0" marL="0" marR="0" rtl="0" algn="ctr">
                <a:spcBef>
                  <a:spcPts val="0"/>
                </a:spcBef>
                <a:spcAft>
                  <a:spcPts val="0"/>
                </a:spcAft>
                <a:buClr>
                  <a:srgbClr val="990000"/>
                </a:buClr>
                <a:buSzPts val="1000"/>
                <a:buFont typeface="Calibri"/>
                <a:buNone/>
              </a:pPr>
              <a:r>
                <a:rPr i="1" lang="en-US" sz="900" u="none" cap="none" strike="noStrike">
                  <a:solidFill>
                    <a:srgbClr val="990000"/>
                  </a:solidFill>
                  <a:latin typeface="Montserrat"/>
                  <a:ea typeface="Montserrat"/>
                  <a:cs typeface="Montserrat"/>
                  <a:sym typeface="Montserrat"/>
                </a:rPr>
                <a:t>Prompt inject.,</a:t>
              </a:r>
              <a:endParaRPr i="0" sz="9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990000"/>
                </a:buClr>
                <a:buSzPts val="1000"/>
                <a:buFont typeface="Calibri"/>
                <a:buNone/>
              </a:pPr>
              <a:r>
                <a:rPr i="1" lang="en-US" sz="900" u="none" cap="none" strike="noStrike">
                  <a:solidFill>
                    <a:srgbClr val="990000"/>
                  </a:solidFill>
                  <a:latin typeface="Montserrat"/>
                  <a:ea typeface="Montserrat"/>
                  <a:cs typeface="Montserrat"/>
                  <a:sym typeface="Montserrat"/>
                </a:rPr>
                <a:t>drift &amp; output</a:t>
              </a:r>
              <a:endParaRPr i="0" sz="9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990000"/>
                </a:buClr>
                <a:buSzPts val="1000"/>
                <a:buFont typeface="Calibri"/>
                <a:buNone/>
              </a:pPr>
              <a:r>
                <a:rPr i="1" lang="en-US" sz="900" u="none" cap="none" strike="noStrike">
                  <a:solidFill>
                    <a:srgbClr val="990000"/>
                  </a:solidFill>
                  <a:latin typeface="Montserrat"/>
                  <a:ea typeface="Montserrat"/>
                  <a:cs typeface="Montserrat"/>
                  <a:sym typeface="Montserrat"/>
                </a:rPr>
                <a:t>monitoring</a:t>
              </a:r>
              <a:endParaRPr i="0" sz="900" u="none" cap="none" strike="noStrike">
                <a:solidFill>
                  <a:schemeClr val="dk1"/>
                </a:solidFill>
                <a:latin typeface="Montserrat"/>
                <a:ea typeface="Montserrat"/>
                <a:cs typeface="Montserrat"/>
                <a:sym typeface="Montserrat"/>
              </a:endParaRPr>
            </a:p>
          </p:txBody>
        </p:sp>
        <p:sp>
          <p:nvSpPr>
            <p:cNvPr id="390" name="Google Shape;390;g3eaf5b54de6_5_0"/>
            <p:cNvSpPr/>
            <p:nvPr/>
          </p:nvSpPr>
          <p:spPr>
            <a:xfrm>
              <a:off x="7532098" y="2273736"/>
              <a:ext cx="1097400" cy="1609500"/>
            </a:xfrm>
            <a:prstGeom prst="rect">
              <a:avLst/>
            </a:prstGeom>
            <a:solidFill>
              <a:srgbClr val="DAE8FC"/>
            </a:solidFill>
            <a:ln cap="flat" cmpd="sng" w="9525">
              <a:solidFill>
                <a:srgbClr val="BBBBB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1" name="Google Shape;391;g3eaf5b54de6_5_0"/>
            <p:cNvSpPr/>
            <p:nvPr/>
          </p:nvSpPr>
          <p:spPr>
            <a:xfrm>
              <a:off x="7556490" y="2395663"/>
              <a:ext cx="1048500" cy="536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F4E79"/>
                </a:buClr>
                <a:buSzPts val="1100"/>
                <a:buFont typeface="Arial"/>
                <a:buNone/>
              </a:pPr>
              <a:r>
                <a:rPr b="1" i="0" lang="en-US" sz="1100" u="none" cap="none" strike="noStrike">
                  <a:solidFill>
                    <a:srgbClr val="1F4E79"/>
                  </a:solidFill>
                  <a:latin typeface="Arial"/>
                  <a:ea typeface="Arial"/>
                  <a:cs typeface="Arial"/>
                  <a:sym typeface="Arial"/>
                </a:rPr>
                <a:t>Operate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4E79"/>
                </a:buClr>
                <a:buSzPts val="1100"/>
                <a:buFont typeface="Arial"/>
                <a:buNone/>
              </a:pPr>
              <a:r>
                <a:rPr b="1" i="0" lang="en-US" sz="1100" u="none" cap="none" strike="noStrike">
                  <a:solidFill>
                    <a:srgbClr val="1F4E79"/>
                  </a:solidFill>
                  <a:latin typeface="Arial"/>
                  <a:ea typeface="Arial"/>
                  <a:cs typeface="Arial"/>
                  <a:sym typeface="Arial"/>
                </a:rPr>
                <a:t>&amp; Monitor</a:t>
              </a:r>
              <a:endParaRPr b="0" i="0" sz="1100" u="none" cap="none" strike="noStrike">
                <a:solidFill>
                  <a:schemeClr val="dk1"/>
                </a:solidFill>
                <a:latin typeface="Calibri"/>
                <a:ea typeface="Calibri"/>
                <a:cs typeface="Calibri"/>
                <a:sym typeface="Calibri"/>
              </a:endParaRPr>
            </a:p>
          </p:txBody>
        </p:sp>
        <p:sp>
          <p:nvSpPr>
            <p:cNvPr id="392" name="Google Shape;392;g3eaf5b54de6_5_0"/>
            <p:cNvSpPr/>
            <p:nvPr/>
          </p:nvSpPr>
          <p:spPr>
            <a:xfrm>
              <a:off x="7580874" y="3005263"/>
              <a:ext cx="999600" cy="1609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Clr>
                  <a:srgbClr val="1F4E79"/>
                </a:buClr>
                <a:buSzPts val="1000"/>
                <a:buFont typeface="Calibri"/>
                <a:buNone/>
              </a:pPr>
              <a:r>
                <a:rPr b="0" i="1" lang="en-US" sz="1000" u="none" cap="none" strike="noStrike">
                  <a:solidFill>
                    <a:srgbClr val="1F4E79"/>
                  </a:solidFill>
                  <a:latin typeface="Calibri"/>
                  <a:ea typeface="Calibri"/>
                  <a:cs typeface="Calibri"/>
                  <a:sym typeface="Calibri"/>
                </a:rPr>
                <a:t>Audit &amp;</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4E79"/>
                </a:buClr>
                <a:buSzPts val="1000"/>
                <a:buFont typeface="Calibri"/>
                <a:buNone/>
              </a:pPr>
              <a:r>
                <a:rPr b="0" i="1" lang="en-US" sz="1000" u="none" cap="none" strike="noStrike">
                  <a:solidFill>
                    <a:srgbClr val="1F4E79"/>
                  </a:solidFill>
                  <a:latin typeface="Calibri"/>
                  <a:ea typeface="Calibri"/>
                  <a:cs typeface="Calibri"/>
                  <a:sym typeface="Calibri"/>
                </a:rPr>
                <a:t>impact</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4E79"/>
                </a:buClr>
                <a:buSzPts val="1000"/>
                <a:buFont typeface="Calibri"/>
                <a:buNone/>
              </a:pPr>
              <a:r>
                <a:rPr b="0" i="1" lang="en-US" sz="1000" u="none" cap="none" strike="noStrike">
                  <a:solidFill>
                    <a:srgbClr val="1F4E79"/>
                  </a:solidFill>
                  <a:latin typeface="Calibri"/>
                  <a:ea typeface="Calibri"/>
                  <a:cs typeface="Calibri"/>
                  <a:sym typeface="Calibri"/>
                </a:rPr>
                <a:t>assessment</a:t>
              </a:r>
              <a:endParaRPr b="0" i="0" sz="1000" u="none" cap="none" strike="noStrike">
                <a:solidFill>
                  <a:schemeClr val="dk1"/>
                </a:solidFill>
                <a:latin typeface="Calibri"/>
                <a:ea typeface="Calibri"/>
                <a:cs typeface="Calibri"/>
                <a:sym typeface="Calibri"/>
              </a:endParaRPr>
            </a:p>
          </p:txBody>
        </p:sp>
        <p:sp>
          <p:nvSpPr>
            <p:cNvPr id="393" name="Google Shape;393;g3eaf5b54de6_5_0"/>
            <p:cNvSpPr/>
            <p:nvPr/>
          </p:nvSpPr>
          <p:spPr>
            <a:xfrm>
              <a:off x="7562623" y="4220897"/>
              <a:ext cx="1097400" cy="1609500"/>
            </a:xfrm>
            <a:prstGeom prst="rect">
              <a:avLst/>
            </a:prstGeom>
            <a:solidFill>
              <a:srgbClr val="DAE8FC"/>
            </a:solidFill>
            <a:ln cap="flat" cmpd="sng" w="9525">
              <a:solidFill>
                <a:srgbClr val="BBBBB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4" name="Google Shape;394;g3eaf5b54de6_5_0"/>
            <p:cNvSpPr/>
            <p:nvPr/>
          </p:nvSpPr>
          <p:spPr>
            <a:xfrm>
              <a:off x="7587027" y="4338822"/>
              <a:ext cx="1048500" cy="585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F4E79"/>
                </a:buClr>
                <a:buSzPts val="1000"/>
                <a:buFont typeface="Arial"/>
                <a:buNone/>
              </a:pPr>
              <a:r>
                <a:rPr b="1" i="0" lang="en-US" sz="1000" u="none" cap="none" strike="noStrike">
                  <a:solidFill>
                    <a:srgbClr val="1F4E79"/>
                  </a:solidFill>
                  <a:latin typeface="Arial"/>
                  <a:ea typeface="Arial"/>
                  <a:cs typeface="Arial"/>
                  <a:sym typeface="Arial"/>
                </a:rPr>
                <a:t>Continuous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4E79"/>
                </a:buClr>
                <a:buSzPts val="1000"/>
                <a:buFont typeface="Arial"/>
                <a:buNone/>
              </a:pPr>
              <a:r>
                <a:rPr b="1" i="0" lang="en-US" sz="1000" u="none" cap="none" strike="noStrike">
                  <a:solidFill>
                    <a:srgbClr val="1F4E79"/>
                  </a:solidFill>
                  <a:latin typeface="Arial"/>
                  <a:ea typeface="Arial"/>
                  <a:cs typeface="Arial"/>
                  <a:sym typeface="Arial"/>
                </a:rPr>
                <a:t>Monitoring</a:t>
              </a:r>
              <a:endParaRPr b="0" i="0" sz="1000" u="none" cap="none" strike="noStrike">
                <a:solidFill>
                  <a:schemeClr val="dk1"/>
                </a:solidFill>
                <a:latin typeface="Calibri"/>
                <a:ea typeface="Calibri"/>
                <a:cs typeface="Calibri"/>
                <a:sym typeface="Calibri"/>
              </a:endParaRPr>
            </a:p>
          </p:txBody>
        </p:sp>
        <p:sp>
          <p:nvSpPr>
            <p:cNvPr id="395" name="Google Shape;395;g3eaf5b54de6_5_0"/>
            <p:cNvSpPr/>
            <p:nvPr/>
          </p:nvSpPr>
          <p:spPr>
            <a:xfrm>
              <a:off x="7611406" y="4924041"/>
              <a:ext cx="999600" cy="808800"/>
            </a:xfrm>
            <a:prstGeom prst="rect">
              <a:avLst/>
            </a:prstGeom>
            <a:noFill/>
            <a:ln>
              <a:noFill/>
            </a:ln>
          </p:spPr>
          <p:txBody>
            <a:bodyPr anchorCtr="0" anchor="b" bIns="60925" lIns="121900" spcFirstLastPara="1" rIns="121900" wrap="square" tIns="60925">
              <a:noAutofit/>
            </a:bodyPr>
            <a:lstStyle/>
            <a:p>
              <a:pPr indent="0" lvl="0" marL="0" marR="0" rtl="0" algn="ctr">
                <a:spcBef>
                  <a:spcPts val="0"/>
                </a:spcBef>
                <a:spcAft>
                  <a:spcPts val="0"/>
                </a:spcAft>
                <a:buClr>
                  <a:srgbClr val="1F4E79"/>
                </a:buClr>
                <a:buSzPts val="1000"/>
                <a:buFont typeface="Calibri"/>
                <a:buNone/>
              </a:pPr>
              <a:r>
                <a:rPr i="1" lang="en-US" sz="900" u="none" cap="none" strike="noStrike">
                  <a:solidFill>
                    <a:srgbClr val="1F4E79"/>
                  </a:solidFill>
                  <a:latin typeface="Montserrat"/>
                  <a:ea typeface="Montserrat"/>
                  <a:cs typeface="Montserrat"/>
                  <a:sym typeface="Montserrat"/>
                </a:rPr>
                <a:t>KRIs, audit</a:t>
              </a:r>
              <a:endParaRPr i="0" sz="9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F4E79"/>
                </a:buClr>
                <a:buSzPts val="1000"/>
                <a:buFont typeface="Calibri"/>
                <a:buNone/>
              </a:pPr>
              <a:r>
                <a:rPr i="1" lang="en-US" sz="900" u="none" cap="none" strike="noStrike">
                  <a:solidFill>
                    <a:srgbClr val="1F4E79"/>
                  </a:solidFill>
                  <a:latin typeface="Montserrat"/>
                  <a:ea typeface="Montserrat"/>
                  <a:cs typeface="Montserrat"/>
                  <a:sym typeface="Montserrat"/>
                </a:rPr>
                <a:t>readiness &amp;</a:t>
              </a:r>
              <a:endParaRPr i="0" sz="9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F4E79"/>
                </a:buClr>
                <a:buSzPts val="1000"/>
                <a:buFont typeface="Calibri"/>
                <a:buNone/>
              </a:pPr>
              <a:r>
                <a:rPr i="1" lang="en-US" sz="900" u="none" cap="none" strike="noStrike">
                  <a:solidFill>
                    <a:srgbClr val="1F4E79"/>
                  </a:solidFill>
                  <a:latin typeface="Montserrat"/>
                  <a:ea typeface="Montserrat"/>
                  <a:cs typeface="Montserrat"/>
                  <a:sym typeface="Montserrat"/>
                </a:rPr>
                <a:t>evidence</a:t>
              </a:r>
              <a:endParaRPr i="0" sz="900" u="none" cap="none" strike="noStrike">
                <a:solidFill>
                  <a:schemeClr val="dk1"/>
                </a:solidFill>
                <a:latin typeface="Montserrat"/>
                <a:ea typeface="Montserrat"/>
                <a:cs typeface="Montserrat"/>
                <a:sym typeface="Montserrat"/>
              </a:endParaRPr>
            </a:p>
          </p:txBody>
        </p:sp>
        <p:sp>
          <p:nvSpPr>
            <p:cNvPr id="396" name="Google Shape;396;g3eaf5b54de6_5_0"/>
            <p:cNvSpPr/>
            <p:nvPr/>
          </p:nvSpPr>
          <p:spPr>
            <a:xfrm>
              <a:off x="8629376" y="2273736"/>
              <a:ext cx="1097400" cy="1609500"/>
            </a:xfrm>
            <a:prstGeom prst="rect">
              <a:avLst/>
            </a:prstGeom>
            <a:solidFill>
              <a:srgbClr val="E8D5F5"/>
            </a:solidFill>
            <a:ln cap="flat" cmpd="sng" w="9525">
              <a:solidFill>
                <a:srgbClr val="BBBBB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7" name="Google Shape;397;g3eaf5b54de6_5_0"/>
            <p:cNvSpPr/>
            <p:nvPr/>
          </p:nvSpPr>
          <p:spPr>
            <a:xfrm>
              <a:off x="8653770" y="2395663"/>
              <a:ext cx="1048500" cy="536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4A1D96"/>
                </a:buClr>
                <a:buSzPts val="1100"/>
                <a:buFont typeface="Arial"/>
                <a:buNone/>
              </a:pPr>
              <a:r>
                <a:rPr b="1" i="0" lang="en-US" sz="1100" u="none" cap="none" strike="noStrike">
                  <a:solidFill>
                    <a:srgbClr val="4A1D96"/>
                  </a:solidFill>
                  <a:latin typeface="Arial"/>
                  <a:ea typeface="Arial"/>
                  <a:cs typeface="Arial"/>
                  <a:sym typeface="Arial"/>
                </a:rPr>
                <a:t>People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1D96"/>
                </a:buClr>
                <a:buSzPts val="1100"/>
                <a:buFont typeface="Arial"/>
                <a:buNone/>
              </a:pPr>
              <a:r>
                <a:rPr b="1" i="0" lang="en-US" sz="1100" u="none" cap="none" strike="noStrike">
                  <a:solidFill>
                    <a:srgbClr val="4A1D96"/>
                  </a:solidFill>
                  <a:latin typeface="Arial"/>
                  <a:ea typeface="Arial"/>
                  <a:cs typeface="Arial"/>
                  <a:sym typeface="Arial"/>
                </a:rPr>
                <a:t>&amp; Planet</a:t>
              </a:r>
              <a:endParaRPr b="0" i="0" sz="1100" u="none" cap="none" strike="noStrike">
                <a:solidFill>
                  <a:schemeClr val="dk1"/>
                </a:solidFill>
                <a:latin typeface="Calibri"/>
                <a:ea typeface="Calibri"/>
                <a:cs typeface="Calibri"/>
                <a:sym typeface="Calibri"/>
              </a:endParaRPr>
            </a:p>
          </p:txBody>
        </p:sp>
        <p:sp>
          <p:nvSpPr>
            <p:cNvPr id="398" name="Google Shape;398;g3eaf5b54de6_5_0"/>
            <p:cNvSpPr/>
            <p:nvPr/>
          </p:nvSpPr>
          <p:spPr>
            <a:xfrm>
              <a:off x="8678154" y="3005263"/>
              <a:ext cx="999600" cy="1609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Clr>
                  <a:srgbClr val="4A1D96"/>
                </a:buClr>
                <a:buSzPts val="1000"/>
                <a:buFont typeface="Calibri"/>
                <a:buNone/>
              </a:pPr>
              <a:r>
                <a:rPr b="0" i="1" lang="en-US" sz="1000" u="none" cap="none" strike="noStrike">
                  <a:solidFill>
                    <a:srgbClr val="4A1D96"/>
                  </a:solidFill>
                  <a:latin typeface="Calibri"/>
                  <a:ea typeface="Calibri"/>
                  <a:cs typeface="Calibri"/>
                  <a:sym typeface="Calibri"/>
                </a:rPr>
                <a:t>Audit &amp;</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1D96"/>
                </a:buClr>
                <a:buSzPts val="1000"/>
                <a:buFont typeface="Calibri"/>
                <a:buNone/>
              </a:pPr>
              <a:r>
                <a:rPr b="0" i="1" lang="en-US" sz="1000" u="none" cap="none" strike="noStrike">
                  <a:solidFill>
                    <a:srgbClr val="4A1D96"/>
                  </a:solidFill>
                  <a:latin typeface="Calibri"/>
                  <a:ea typeface="Calibri"/>
                  <a:cs typeface="Calibri"/>
                  <a:sym typeface="Calibri"/>
                </a:rPr>
                <a:t>impact</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1D96"/>
                </a:buClr>
                <a:buSzPts val="1000"/>
                <a:buFont typeface="Calibri"/>
                <a:buNone/>
              </a:pPr>
              <a:r>
                <a:rPr b="0" i="1" lang="en-US" sz="1000" u="none" cap="none" strike="noStrike">
                  <a:solidFill>
                    <a:srgbClr val="4A1D96"/>
                  </a:solidFill>
                  <a:latin typeface="Calibri"/>
                  <a:ea typeface="Calibri"/>
                  <a:cs typeface="Calibri"/>
                  <a:sym typeface="Calibri"/>
                </a:rPr>
                <a:t>assessment</a:t>
              </a:r>
              <a:endParaRPr b="0" i="0" sz="1000" u="none" cap="none" strike="noStrike">
                <a:solidFill>
                  <a:schemeClr val="dk1"/>
                </a:solidFill>
                <a:latin typeface="Calibri"/>
                <a:ea typeface="Calibri"/>
                <a:cs typeface="Calibri"/>
                <a:sym typeface="Calibri"/>
              </a:endParaRPr>
            </a:p>
          </p:txBody>
        </p:sp>
        <p:sp>
          <p:nvSpPr>
            <p:cNvPr id="399" name="Google Shape;399;g3eaf5b54de6_5_0"/>
            <p:cNvSpPr/>
            <p:nvPr/>
          </p:nvSpPr>
          <p:spPr>
            <a:xfrm>
              <a:off x="8659901" y="4220897"/>
              <a:ext cx="1097400" cy="1609500"/>
            </a:xfrm>
            <a:prstGeom prst="rect">
              <a:avLst/>
            </a:prstGeom>
            <a:solidFill>
              <a:srgbClr val="E8D5F5"/>
            </a:solidFill>
            <a:ln cap="flat" cmpd="sng" w="9525">
              <a:solidFill>
                <a:srgbClr val="BBBBB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0" name="Google Shape;400;g3eaf5b54de6_5_0"/>
            <p:cNvSpPr/>
            <p:nvPr/>
          </p:nvSpPr>
          <p:spPr>
            <a:xfrm>
              <a:off x="8684307" y="4338822"/>
              <a:ext cx="1048500" cy="585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4A1D96"/>
                </a:buClr>
                <a:buSzPts val="1000"/>
                <a:buFont typeface="Arial"/>
                <a:buNone/>
              </a:pPr>
              <a:r>
                <a:rPr b="1" i="0" lang="en-US" sz="1000" u="none" cap="none" strike="noStrike">
                  <a:solidFill>
                    <a:srgbClr val="4A1D96"/>
                  </a:solidFill>
                  <a:latin typeface="Arial"/>
                  <a:ea typeface="Arial"/>
                  <a:cs typeface="Arial"/>
                  <a:sym typeface="Arial"/>
                </a:rPr>
                <a:t>Impact</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1D96"/>
                </a:buClr>
                <a:buSzPts val="1000"/>
                <a:buFont typeface="Arial"/>
                <a:buNone/>
              </a:pPr>
              <a:r>
                <a:rPr b="1" i="0" lang="en-US" sz="1000" u="none" cap="none" strike="noStrike">
                  <a:solidFill>
                    <a:srgbClr val="4A1D96"/>
                  </a:solidFill>
                  <a:latin typeface="Arial"/>
                  <a:ea typeface="Arial"/>
                  <a:cs typeface="Arial"/>
                  <a:sym typeface="Arial"/>
                </a:rPr>
                <a:t>Assessment</a:t>
              </a:r>
              <a:endParaRPr b="0" i="0" sz="1000" u="none" cap="none" strike="noStrike">
                <a:solidFill>
                  <a:schemeClr val="dk1"/>
                </a:solidFill>
                <a:latin typeface="Calibri"/>
                <a:ea typeface="Calibri"/>
                <a:cs typeface="Calibri"/>
                <a:sym typeface="Calibri"/>
              </a:endParaRPr>
            </a:p>
          </p:txBody>
        </p:sp>
        <p:sp>
          <p:nvSpPr>
            <p:cNvPr id="401" name="Google Shape;401;g3eaf5b54de6_5_0"/>
            <p:cNvSpPr/>
            <p:nvPr/>
          </p:nvSpPr>
          <p:spPr>
            <a:xfrm>
              <a:off x="8708686" y="4924041"/>
              <a:ext cx="999600" cy="808800"/>
            </a:xfrm>
            <a:prstGeom prst="rect">
              <a:avLst/>
            </a:prstGeom>
            <a:noFill/>
            <a:ln>
              <a:noFill/>
            </a:ln>
          </p:spPr>
          <p:txBody>
            <a:bodyPr anchorCtr="0" anchor="b" bIns="60925" lIns="121900" spcFirstLastPara="1" rIns="121900" wrap="square" tIns="60925">
              <a:noAutofit/>
            </a:bodyPr>
            <a:lstStyle/>
            <a:p>
              <a:pPr indent="0" lvl="0" marL="0" marR="0" rtl="0" algn="ctr">
                <a:spcBef>
                  <a:spcPts val="0"/>
                </a:spcBef>
                <a:spcAft>
                  <a:spcPts val="0"/>
                </a:spcAft>
                <a:buClr>
                  <a:srgbClr val="4A1D96"/>
                </a:buClr>
                <a:buSzPts val="1000"/>
                <a:buFont typeface="Calibri"/>
                <a:buNone/>
              </a:pPr>
              <a:r>
                <a:rPr i="1" lang="en-US" sz="900" u="none" cap="none" strike="noStrike">
                  <a:solidFill>
                    <a:srgbClr val="4A1D96"/>
                  </a:solidFill>
                  <a:latin typeface="Montserrat"/>
                  <a:ea typeface="Montserrat"/>
                  <a:cs typeface="Montserrat"/>
                  <a:sym typeface="Montserrat"/>
                </a:rPr>
                <a:t>Harm review,</a:t>
              </a:r>
              <a:endParaRPr i="0" sz="9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4A1D96"/>
                </a:buClr>
                <a:buSzPts val="1000"/>
                <a:buFont typeface="Calibri"/>
                <a:buNone/>
              </a:pPr>
              <a:r>
                <a:rPr i="1" lang="en-US" sz="900" u="none" cap="none" strike="noStrike">
                  <a:solidFill>
                    <a:srgbClr val="4A1D96"/>
                  </a:solidFill>
                  <a:latin typeface="Montserrat"/>
                  <a:ea typeface="Montserrat"/>
                  <a:cs typeface="Montserrat"/>
                  <a:sym typeface="Montserrat"/>
                </a:rPr>
                <a:t>stakeholder</a:t>
              </a:r>
              <a:endParaRPr i="0" sz="9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4A1D96"/>
                </a:buClr>
                <a:buSzPts val="1000"/>
                <a:buFont typeface="Calibri"/>
                <a:buNone/>
              </a:pPr>
              <a:r>
                <a:rPr i="1" lang="en-US" sz="900" u="none" cap="none" strike="noStrike">
                  <a:solidFill>
                    <a:srgbClr val="4A1D96"/>
                  </a:solidFill>
                  <a:latin typeface="Montserrat"/>
                  <a:ea typeface="Montserrat"/>
                  <a:cs typeface="Montserrat"/>
                  <a:sym typeface="Montserrat"/>
                </a:rPr>
                <a:t>reporting</a:t>
              </a:r>
              <a:endParaRPr i="0" sz="900" u="none" cap="none" strike="noStrike">
                <a:solidFill>
                  <a:schemeClr val="dk1"/>
                </a:solidFill>
                <a:latin typeface="Montserrat"/>
                <a:ea typeface="Montserrat"/>
                <a:cs typeface="Montserrat"/>
                <a:sym typeface="Montserrat"/>
              </a:endParaRPr>
            </a:p>
          </p:txBody>
        </p:sp>
        <p:sp>
          <p:nvSpPr>
            <p:cNvPr id="402" name="Google Shape;402;g3eaf5b54de6_5_0"/>
            <p:cNvSpPr txBox="1"/>
            <p:nvPr/>
          </p:nvSpPr>
          <p:spPr>
            <a:xfrm>
              <a:off x="6708867" y="5803400"/>
              <a:ext cx="3000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1A1A1A"/>
                  </a:solidFill>
                  <a:latin typeface="Montserrat"/>
                  <a:ea typeface="Montserrat"/>
                  <a:cs typeface="Montserrat"/>
                  <a:sym typeface="Montserrat"/>
                </a:rPr>
                <a:t>*Source: NIST AI RMF 1.0</a:t>
              </a:r>
              <a:endParaRPr sz="900">
                <a:latin typeface="Montserrat"/>
                <a:ea typeface="Montserrat"/>
                <a:cs typeface="Montserrat"/>
                <a:sym typeface="Montserrat"/>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g3eae049a994_2_103"/>
          <p:cNvSpPr txBox="1"/>
          <p:nvPr/>
        </p:nvSpPr>
        <p:spPr>
          <a:xfrm>
            <a:off x="502920" y="365760"/>
            <a:ext cx="91440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E97132"/>
                </a:solidFill>
                <a:latin typeface="Montserrat"/>
                <a:ea typeface="Montserrat"/>
                <a:cs typeface="Montserrat"/>
                <a:sym typeface="Montserrat"/>
              </a:rPr>
              <a:t>THE REGULATORY MAZE</a:t>
            </a:r>
            <a:endParaRPr>
              <a:latin typeface="Montserrat"/>
              <a:ea typeface="Montserrat"/>
              <a:cs typeface="Montserrat"/>
              <a:sym typeface="Montserrat"/>
            </a:endParaRPr>
          </a:p>
        </p:txBody>
      </p:sp>
      <p:sp>
        <p:nvSpPr>
          <p:cNvPr id="408" name="Google Shape;408;g3eae049a994_2_103"/>
          <p:cNvSpPr txBox="1"/>
          <p:nvPr/>
        </p:nvSpPr>
        <p:spPr>
          <a:xfrm>
            <a:off x="555477" y="868582"/>
            <a:ext cx="11839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A1A1A"/>
                </a:solidFill>
                <a:latin typeface="Montserrat"/>
                <a:ea typeface="Montserrat"/>
                <a:cs typeface="Montserrat"/>
                <a:sym typeface="Montserrat"/>
              </a:rPr>
              <a:t>Mapping the Patchwork of Frameworks, Regulations, Principles and Guidelines</a:t>
            </a:r>
            <a:endParaRPr sz="600">
              <a:latin typeface="Montserrat"/>
              <a:ea typeface="Montserrat"/>
              <a:cs typeface="Montserrat"/>
              <a:sym typeface="Montserrat"/>
            </a:endParaRPr>
          </a:p>
        </p:txBody>
      </p:sp>
      <p:sp>
        <p:nvSpPr>
          <p:cNvPr id="409" name="Google Shape;409;g3eae049a994_2_103"/>
          <p:cNvSpPr txBox="1"/>
          <p:nvPr/>
        </p:nvSpPr>
        <p:spPr>
          <a:xfrm>
            <a:off x="502920" y="1280160"/>
            <a:ext cx="111558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400" u="none" cap="none" strike="noStrike">
                <a:solidFill>
                  <a:srgbClr val="555555"/>
                </a:solidFill>
                <a:latin typeface="Montserrat"/>
                <a:ea typeface="Montserrat"/>
                <a:cs typeface="Montserrat"/>
                <a:sym typeface="Montserrat"/>
              </a:rPr>
              <a:t>A fragmented landscape spans jurisdictions, sectors, and instrument types. Effective governance requires a working map of where laws, frameworks, and standards converge and diverge.</a:t>
            </a:r>
            <a:endParaRPr>
              <a:latin typeface="Montserrat"/>
              <a:ea typeface="Montserrat"/>
              <a:cs typeface="Montserrat"/>
              <a:sym typeface="Montserrat"/>
            </a:endParaRPr>
          </a:p>
        </p:txBody>
      </p:sp>
      <p:sp>
        <p:nvSpPr>
          <p:cNvPr id="410" name="Google Shape;410;g3eae049a994_2_103"/>
          <p:cNvSpPr/>
          <p:nvPr/>
        </p:nvSpPr>
        <p:spPr>
          <a:xfrm>
            <a:off x="502920" y="2011680"/>
            <a:ext cx="2125200" cy="3840600"/>
          </a:xfrm>
          <a:prstGeom prst="rect">
            <a:avLst/>
          </a:prstGeom>
          <a:solidFill>
            <a:srgbClr val="F4F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11" name="Google Shape;411;g3eae049a994_2_103"/>
          <p:cNvSpPr/>
          <p:nvPr/>
        </p:nvSpPr>
        <p:spPr>
          <a:xfrm>
            <a:off x="502920" y="2011680"/>
            <a:ext cx="2125200" cy="91500"/>
          </a:xfrm>
          <a:prstGeom prst="rect">
            <a:avLst/>
          </a:prstGeom>
          <a:solidFill>
            <a:srgbClr val="E971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12" name="Google Shape;412;g3eae049a994_2_103"/>
          <p:cNvSpPr txBox="1"/>
          <p:nvPr/>
        </p:nvSpPr>
        <p:spPr>
          <a:xfrm>
            <a:off x="685800" y="2173825"/>
            <a:ext cx="1759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E97132"/>
                </a:solidFill>
                <a:latin typeface="Montserrat"/>
                <a:ea typeface="Montserrat"/>
                <a:cs typeface="Montserrat"/>
                <a:sym typeface="Montserrat"/>
              </a:rPr>
              <a:t>JURISDICTIONS</a:t>
            </a:r>
            <a:endParaRPr>
              <a:latin typeface="Montserrat"/>
              <a:ea typeface="Montserrat"/>
              <a:cs typeface="Montserrat"/>
              <a:sym typeface="Montserrat"/>
            </a:endParaRPr>
          </a:p>
        </p:txBody>
      </p:sp>
      <p:sp>
        <p:nvSpPr>
          <p:cNvPr id="413" name="Google Shape;413;g3eae049a994_2_103"/>
          <p:cNvSpPr txBox="1"/>
          <p:nvPr/>
        </p:nvSpPr>
        <p:spPr>
          <a:xfrm>
            <a:off x="685800" y="2678160"/>
            <a:ext cx="17592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000" u="none" cap="none" strike="noStrike">
                <a:solidFill>
                  <a:srgbClr val="555555"/>
                </a:solidFill>
                <a:latin typeface="Montserrat"/>
                <a:ea typeface="Montserrat"/>
                <a:cs typeface="Montserrat"/>
                <a:sym typeface="Montserrat"/>
              </a:rPr>
              <a:t>Geographic regimes</a:t>
            </a:r>
            <a:endParaRPr sz="1000">
              <a:latin typeface="Montserrat"/>
              <a:ea typeface="Montserrat"/>
              <a:cs typeface="Montserrat"/>
              <a:sym typeface="Montserrat"/>
            </a:endParaRPr>
          </a:p>
        </p:txBody>
      </p:sp>
      <p:sp>
        <p:nvSpPr>
          <p:cNvPr id="414" name="Google Shape;414;g3eae049a994_2_103"/>
          <p:cNvSpPr txBox="1"/>
          <p:nvPr/>
        </p:nvSpPr>
        <p:spPr>
          <a:xfrm>
            <a:off x="685800" y="2919104"/>
            <a:ext cx="1942200" cy="244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i="0" lang="en-US" sz="1250" u="none" cap="none" strike="noStrike">
                <a:solidFill>
                  <a:srgbClr val="1A1A1A"/>
                </a:solidFill>
                <a:latin typeface="Montserrat"/>
                <a:ea typeface="Montserrat"/>
                <a:cs typeface="Montserrat"/>
                <a:sym typeface="Montserrat"/>
              </a:rPr>
              <a:t>■  EU</a:t>
            </a:r>
            <a:r>
              <a:rPr lang="en-US" sz="1250">
                <a:solidFill>
                  <a:srgbClr val="1A1A1A"/>
                </a:solidFill>
                <a:latin typeface="Montserrat"/>
                <a:ea typeface="Montserrat"/>
                <a:cs typeface="Montserrat"/>
                <a:sym typeface="Montserrat"/>
              </a:rPr>
              <a:t>: European Comm.</a:t>
            </a:r>
            <a:endParaRPr sz="1250">
              <a:solidFill>
                <a:srgbClr val="1A1A1A"/>
              </a:solidFill>
              <a:latin typeface="Montserrat"/>
              <a:ea typeface="Montserrat"/>
              <a:cs typeface="Montserrat"/>
              <a:sym typeface="Montserrat"/>
            </a:endParaRPr>
          </a:p>
          <a:p>
            <a:pPr indent="0" lvl="0" marL="0" marR="0" rtl="0" algn="l">
              <a:lnSpc>
                <a:spcPct val="115000"/>
              </a:lnSpc>
              <a:spcBef>
                <a:spcPts val="0"/>
              </a:spcBef>
              <a:spcAft>
                <a:spcPts val="0"/>
              </a:spcAft>
              <a:buNone/>
            </a:pPr>
            <a:r>
              <a:rPr i="0" lang="en-US" sz="1250" u="none" cap="none" strike="noStrike">
                <a:solidFill>
                  <a:srgbClr val="1A1A1A"/>
                </a:solidFill>
                <a:latin typeface="Montserrat"/>
                <a:ea typeface="Montserrat"/>
                <a:cs typeface="Montserrat"/>
                <a:sym typeface="Montserrat"/>
              </a:rPr>
              <a:t>■  US: state laws, federal sector rules</a:t>
            </a:r>
            <a:endParaRPr sz="1250">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UK: pro-innovation framework</a:t>
            </a:r>
            <a:endParaRPr sz="1250">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China: generative AI measures</a:t>
            </a:r>
            <a:endParaRPr sz="1250">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Singapore AI Verify, Japan, Canada AIDA</a:t>
            </a:r>
            <a:endParaRPr i="0" sz="1250" u="none" cap="none" strike="noStrike">
              <a:solidFill>
                <a:srgbClr val="1A1A1A"/>
              </a:solidFill>
              <a:latin typeface="Montserrat"/>
              <a:ea typeface="Montserrat"/>
              <a:cs typeface="Montserrat"/>
              <a:sym typeface="Montserrat"/>
            </a:endParaRPr>
          </a:p>
          <a:p>
            <a:pPr indent="0" lvl="0" marL="0" rtl="0" algn="l">
              <a:lnSpc>
                <a:spcPct val="115000"/>
              </a:lnSpc>
              <a:spcBef>
                <a:spcPts val="500"/>
              </a:spcBef>
              <a:spcAft>
                <a:spcPts val="0"/>
              </a:spcAft>
              <a:buClr>
                <a:schemeClr val="dk1"/>
              </a:buClr>
              <a:buFont typeface="Arial"/>
              <a:buNone/>
            </a:pPr>
            <a:r>
              <a:rPr lang="en-US" sz="1250">
                <a:solidFill>
                  <a:srgbClr val="1A1A1A"/>
                </a:solidFill>
                <a:latin typeface="Montserrat"/>
                <a:ea typeface="Montserrat"/>
                <a:cs typeface="Montserrat"/>
                <a:sym typeface="Montserrat"/>
              </a:rPr>
              <a:t>■  OECD AI PRINCIPLES</a:t>
            </a:r>
            <a:endParaRPr sz="1250">
              <a:solidFill>
                <a:srgbClr val="1A1A1A"/>
              </a:solidFill>
              <a:latin typeface="Montserrat"/>
              <a:ea typeface="Montserrat"/>
              <a:cs typeface="Montserrat"/>
              <a:sym typeface="Montserrat"/>
            </a:endParaRPr>
          </a:p>
        </p:txBody>
      </p:sp>
      <p:sp>
        <p:nvSpPr>
          <p:cNvPr id="415" name="Google Shape;415;g3eae049a994_2_103"/>
          <p:cNvSpPr/>
          <p:nvPr/>
        </p:nvSpPr>
        <p:spPr>
          <a:xfrm>
            <a:off x="2765145" y="2011680"/>
            <a:ext cx="2125200" cy="3840600"/>
          </a:xfrm>
          <a:prstGeom prst="rect">
            <a:avLst/>
          </a:prstGeom>
          <a:solidFill>
            <a:srgbClr val="F4F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16" name="Google Shape;416;g3eae049a994_2_103"/>
          <p:cNvSpPr/>
          <p:nvPr/>
        </p:nvSpPr>
        <p:spPr>
          <a:xfrm>
            <a:off x="2765145" y="2011680"/>
            <a:ext cx="2125200" cy="91500"/>
          </a:xfrm>
          <a:prstGeom prst="rect">
            <a:avLst/>
          </a:prstGeom>
          <a:solidFill>
            <a:srgbClr val="15608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400" u="none" cap="none" strike="noStrike">
              <a:solidFill>
                <a:schemeClr val="lt1"/>
              </a:solidFill>
              <a:latin typeface="Montserrat"/>
              <a:ea typeface="Montserrat"/>
              <a:cs typeface="Montserrat"/>
              <a:sym typeface="Montserrat"/>
            </a:endParaRPr>
          </a:p>
        </p:txBody>
      </p:sp>
      <p:sp>
        <p:nvSpPr>
          <p:cNvPr id="417" name="Google Shape;417;g3eae049a994_2_103"/>
          <p:cNvSpPr txBox="1"/>
          <p:nvPr/>
        </p:nvSpPr>
        <p:spPr>
          <a:xfrm>
            <a:off x="2948025" y="2173825"/>
            <a:ext cx="1759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156082"/>
                </a:solidFill>
                <a:latin typeface="Montserrat"/>
                <a:ea typeface="Montserrat"/>
                <a:cs typeface="Montserrat"/>
                <a:sym typeface="Montserrat"/>
              </a:rPr>
              <a:t>DATA &amp; PRIVACY LAWS</a:t>
            </a:r>
            <a:endParaRPr>
              <a:latin typeface="Montserrat"/>
              <a:ea typeface="Montserrat"/>
              <a:cs typeface="Montserrat"/>
              <a:sym typeface="Montserrat"/>
            </a:endParaRPr>
          </a:p>
        </p:txBody>
      </p:sp>
      <p:sp>
        <p:nvSpPr>
          <p:cNvPr id="418" name="Google Shape;418;g3eae049a994_2_103"/>
          <p:cNvSpPr txBox="1"/>
          <p:nvPr/>
        </p:nvSpPr>
        <p:spPr>
          <a:xfrm>
            <a:off x="2948025" y="2678160"/>
            <a:ext cx="19422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000" u="none" cap="none" strike="noStrike">
                <a:solidFill>
                  <a:srgbClr val="555555"/>
                </a:solidFill>
                <a:latin typeface="Montserrat"/>
                <a:ea typeface="Montserrat"/>
                <a:cs typeface="Montserrat"/>
                <a:sym typeface="Montserrat"/>
              </a:rPr>
              <a:t>Foundational and adjacent</a:t>
            </a:r>
            <a:endParaRPr sz="1000">
              <a:latin typeface="Montserrat"/>
              <a:ea typeface="Montserrat"/>
              <a:cs typeface="Montserrat"/>
              <a:sym typeface="Montserrat"/>
            </a:endParaRPr>
          </a:p>
        </p:txBody>
      </p:sp>
      <p:sp>
        <p:nvSpPr>
          <p:cNvPr id="419" name="Google Shape;419;g3eae049a994_2_103"/>
          <p:cNvSpPr txBox="1"/>
          <p:nvPr/>
        </p:nvSpPr>
        <p:spPr>
          <a:xfrm>
            <a:off x="2948013" y="2919104"/>
            <a:ext cx="1942200" cy="288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Font typeface="Arial"/>
              <a:buNone/>
            </a:pPr>
            <a:r>
              <a:rPr lang="en-US" sz="1250">
                <a:solidFill>
                  <a:srgbClr val="1A1A1A"/>
                </a:solidFill>
                <a:latin typeface="Montserrat"/>
                <a:ea typeface="Montserrat"/>
                <a:cs typeface="Montserrat"/>
                <a:sym typeface="Montserrat"/>
              </a:rPr>
              <a:t>■  EU AI Act, GDPR</a:t>
            </a:r>
            <a:endParaRPr sz="1250">
              <a:solidFill>
                <a:srgbClr val="1A1A1A"/>
              </a:solidFill>
              <a:latin typeface="Montserrat"/>
              <a:ea typeface="Montserrat"/>
              <a:cs typeface="Montserrat"/>
              <a:sym typeface="Montserrat"/>
            </a:endParaRPr>
          </a:p>
          <a:p>
            <a:pPr indent="0" lvl="0" marL="0" marR="0" rtl="0" algn="l">
              <a:lnSpc>
                <a:spcPct val="115000"/>
              </a:lnSpc>
              <a:spcBef>
                <a:spcPts val="0"/>
              </a:spcBef>
              <a:spcAft>
                <a:spcPts val="0"/>
              </a:spcAft>
              <a:buNone/>
            </a:pPr>
            <a:r>
              <a:rPr lang="en-US" sz="1250">
                <a:solidFill>
                  <a:srgbClr val="1A1A1A"/>
                </a:solidFill>
                <a:latin typeface="Montserrat"/>
                <a:ea typeface="Montserrat"/>
                <a:cs typeface="Montserrat"/>
                <a:sym typeface="Montserrat"/>
              </a:rPr>
              <a:t>■  State Laws (CCPA/CPRA, Utah, Texas, NY, Colorado) </a:t>
            </a:r>
            <a:endParaRPr sz="1250">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HIPAA (health), GLBA (finance)</a:t>
            </a:r>
            <a:endParaRPr sz="1250">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Sectoral data localization rules</a:t>
            </a:r>
            <a:endParaRPr sz="1250">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Automated decision-making provisions</a:t>
            </a:r>
            <a:endParaRPr sz="1250">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Cross-border transfer </a:t>
            </a:r>
            <a:endParaRPr sz="1250">
              <a:latin typeface="Montserrat"/>
              <a:ea typeface="Montserrat"/>
              <a:cs typeface="Montserrat"/>
              <a:sym typeface="Montserrat"/>
            </a:endParaRPr>
          </a:p>
        </p:txBody>
      </p:sp>
      <p:sp>
        <p:nvSpPr>
          <p:cNvPr id="420" name="Google Shape;420;g3eae049a994_2_103"/>
          <p:cNvSpPr/>
          <p:nvPr/>
        </p:nvSpPr>
        <p:spPr>
          <a:xfrm>
            <a:off x="5027370" y="2011680"/>
            <a:ext cx="2125200" cy="3840600"/>
          </a:xfrm>
          <a:prstGeom prst="rect">
            <a:avLst/>
          </a:prstGeom>
          <a:solidFill>
            <a:srgbClr val="F4F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21" name="Google Shape;421;g3eae049a994_2_103"/>
          <p:cNvSpPr/>
          <p:nvPr/>
        </p:nvSpPr>
        <p:spPr>
          <a:xfrm>
            <a:off x="5027370" y="2011680"/>
            <a:ext cx="2125200" cy="91500"/>
          </a:xfrm>
          <a:prstGeom prst="rect">
            <a:avLst/>
          </a:prstGeom>
          <a:solidFill>
            <a:srgbClr val="0E2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22" name="Google Shape;422;g3eae049a994_2_103"/>
          <p:cNvSpPr txBox="1"/>
          <p:nvPr/>
        </p:nvSpPr>
        <p:spPr>
          <a:xfrm>
            <a:off x="5210250" y="2173825"/>
            <a:ext cx="1759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0E2841"/>
                </a:solidFill>
                <a:latin typeface="Montserrat"/>
                <a:ea typeface="Montserrat"/>
                <a:cs typeface="Montserrat"/>
                <a:sym typeface="Montserrat"/>
              </a:rPr>
              <a:t>INDUSTRY RULES</a:t>
            </a:r>
            <a:endParaRPr>
              <a:latin typeface="Montserrat"/>
              <a:ea typeface="Montserrat"/>
              <a:cs typeface="Montserrat"/>
              <a:sym typeface="Montserrat"/>
            </a:endParaRPr>
          </a:p>
        </p:txBody>
      </p:sp>
      <p:sp>
        <p:nvSpPr>
          <p:cNvPr id="423" name="Google Shape;423;g3eae049a994_2_103"/>
          <p:cNvSpPr txBox="1"/>
          <p:nvPr/>
        </p:nvSpPr>
        <p:spPr>
          <a:xfrm>
            <a:off x="5210250" y="2678160"/>
            <a:ext cx="17592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000" u="none" cap="none" strike="noStrike">
                <a:solidFill>
                  <a:srgbClr val="555555"/>
                </a:solidFill>
                <a:latin typeface="Montserrat"/>
                <a:ea typeface="Montserrat"/>
                <a:cs typeface="Montserrat"/>
                <a:sym typeface="Montserrat"/>
              </a:rPr>
              <a:t>Sector-specific obligations</a:t>
            </a:r>
            <a:endParaRPr sz="1000">
              <a:latin typeface="Montserrat"/>
              <a:ea typeface="Montserrat"/>
              <a:cs typeface="Montserrat"/>
              <a:sym typeface="Montserrat"/>
            </a:endParaRPr>
          </a:p>
        </p:txBody>
      </p:sp>
      <p:sp>
        <p:nvSpPr>
          <p:cNvPr id="424" name="Google Shape;424;g3eae049a994_2_103"/>
          <p:cNvSpPr txBox="1"/>
          <p:nvPr/>
        </p:nvSpPr>
        <p:spPr>
          <a:xfrm>
            <a:off x="5210250" y="2919104"/>
            <a:ext cx="1942200" cy="2946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i="0" lang="en-US" sz="1250" u="none" cap="none" strike="noStrike">
                <a:solidFill>
                  <a:srgbClr val="1A1A1A"/>
                </a:solidFill>
                <a:latin typeface="Montserrat"/>
                <a:ea typeface="Montserrat"/>
                <a:cs typeface="Montserrat"/>
                <a:sym typeface="Montserrat"/>
              </a:rPr>
              <a:t>■  Healthcare: FDA, HHS guidance</a:t>
            </a:r>
            <a:endParaRPr sz="1250">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Financial services: SR 11-7, FFIEC, OCC</a:t>
            </a:r>
            <a:endParaRPr sz="1250">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Insurance: NAIC AI principles</a:t>
            </a:r>
            <a:endParaRPr sz="1250">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Employment: EEOC bias guidance</a:t>
            </a:r>
            <a:endParaRPr sz="1250">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Consumer protection: FTC enforcement</a:t>
            </a:r>
            <a:endParaRPr i="0" sz="1250" u="none" cap="none" strike="noStrike">
              <a:solidFill>
                <a:srgbClr val="1A1A1A"/>
              </a:solidFill>
              <a:latin typeface="Montserrat"/>
              <a:ea typeface="Montserrat"/>
              <a:cs typeface="Montserrat"/>
              <a:sym typeface="Montserrat"/>
            </a:endParaRPr>
          </a:p>
          <a:p>
            <a:pPr indent="0" lvl="0" marL="0" rtl="0" algn="l">
              <a:lnSpc>
                <a:spcPct val="115000"/>
              </a:lnSpc>
              <a:spcBef>
                <a:spcPts val="500"/>
              </a:spcBef>
              <a:spcAft>
                <a:spcPts val="0"/>
              </a:spcAft>
              <a:buClr>
                <a:schemeClr val="dk1"/>
              </a:buClr>
              <a:buFont typeface="Arial"/>
              <a:buNone/>
            </a:pPr>
            <a:r>
              <a:rPr lang="en-US" sz="1250">
                <a:solidFill>
                  <a:srgbClr val="1A1A1A"/>
                </a:solidFill>
                <a:latin typeface="Montserrat"/>
                <a:ea typeface="Montserrat"/>
                <a:cs typeface="Montserrat"/>
                <a:sym typeface="Montserrat"/>
              </a:rPr>
              <a:t>■  Industry IP Protections</a:t>
            </a:r>
            <a:endParaRPr sz="1250">
              <a:solidFill>
                <a:srgbClr val="1A1A1A"/>
              </a:solidFill>
              <a:latin typeface="Montserrat"/>
              <a:ea typeface="Montserrat"/>
              <a:cs typeface="Montserrat"/>
              <a:sym typeface="Montserrat"/>
            </a:endParaRPr>
          </a:p>
        </p:txBody>
      </p:sp>
      <p:sp>
        <p:nvSpPr>
          <p:cNvPr id="425" name="Google Shape;425;g3eae049a994_2_103"/>
          <p:cNvSpPr/>
          <p:nvPr/>
        </p:nvSpPr>
        <p:spPr>
          <a:xfrm>
            <a:off x="7289595" y="2011680"/>
            <a:ext cx="2125200" cy="3840600"/>
          </a:xfrm>
          <a:prstGeom prst="rect">
            <a:avLst/>
          </a:prstGeom>
          <a:solidFill>
            <a:srgbClr val="F4F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26" name="Google Shape;426;g3eae049a994_2_103"/>
          <p:cNvSpPr/>
          <p:nvPr/>
        </p:nvSpPr>
        <p:spPr>
          <a:xfrm>
            <a:off x="7289595" y="2011680"/>
            <a:ext cx="2125200" cy="91500"/>
          </a:xfrm>
          <a:prstGeom prst="rect">
            <a:avLst/>
          </a:prstGeom>
          <a:solidFill>
            <a:srgbClr val="6D2E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27" name="Google Shape;427;g3eae049a994_2_103"/>
          <p:cNvSpPr txBox="1"/>
          <p:nvPr/>
        </p:nvSpPr>
        <p:spPr>
          <a:xfrm>
            <a:off x="7472625" y="2173825"/>
            <a:ext cx="1759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6D2E46"/>
                </a:solidFill>
                <a:latin typeface="Montserrat"/>
                <a:ea typeface="Montserrat"/>
                <a:cs typeface="Montserrat"/>
                <a:sym typeface="Montserrat"/>
              </a:rPr>
              <a:t>FRAMEWORKS &amp; STANDARDS</a:t>
            </a:r>
            <a:endParaRPr>
              <a:latin typeface="Montserrat"/>
              <a:ea typeface="Montserrat"/>
              <a:cs typeface="Montserrat"/>
              <a:sym typeface="Montserrat"/>
            </a:endParaRPr>
          </a:p>
        </p:txBody>
      </p:sp>
      <p:sp>
        <p:nvSpPr>
          <p:cNvPr id="428" name="Google Shape;428;g3eae049a994_2_103"/>
          <p:cNvSpPr txBox="1"/>
          <p:nvPr/>
        </p:nvSpPr>
        <p:spPr>
          <a:xfrm>
            <a:off x="7472475" y="2678160"/>
            <a:ext cx="19143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000" u="none" cap="none" strike="noStrike">
                <a:solidFill>
                  <a:srgbClr val="555555"/>
                </a:solidFill>
                <a:latin typeface="Montserrat"/>
                <a:ea typeface="Montserrat"/>
                <a:cs typeface="Montserrat"/>
                <a:sym typeface="Montserrat"/>
              </a:rPr>
              <a:t>Voluntary</a:t>
            </a:r>
            <a:r>
              <a:rPr i="1" lang="en-US" sz="1000">
                <a:solidFill>
                  <a:srgbClr val="555555"/>
                </a:solidFill>
                <a:latin typeface="Montserrat"/>
                <a:ea typeface="Montserrat"/>
                <a:cs typeface="Montserrat"/>
                <a:sym typeface="Montserrat"/>
              </a:rPr>
              <a:t> for now</a:t>
            </a:r>
            <a:endParaRPr sz="1000">
              <a:latin typeface="Montserrat"/>
              <a:ea typeface="Montserrat"/>
              <a:cs typeface="Montserrat"/>
              <a:sym typeface="Montserrat"/>
            </a:endParaRPr>
          </a:p>
        </p:txBody>
      </p:sp>
      <p:sp>
        <p:nvSpPr>
          <p:cNvPr id="429" name="Google Shape;429;g3eae049a994_2_103"/>
          <p:cNvSpPr txBox="1"/>
          <p:nvPr/>
        </p:nvSpPr>
        <p:spPr>
          <a:xfrm>
            <a:off x="7472475" y="2963349"/>
            <a:ext cx="1942200" cy="244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i="0" lang="en-US" sz="1250" u="none" cap="none" strike="noStrike">
                <a:solidFill>
                  <a:srgbClr val="1A1A1A"/>
                </a:solidFill>
                <a:latin typeface="Montserrat"/>
                <a:ea typeface="Montserrat"/>
                <a:cs typeface="Montserrat"/>
                <a:sym typeface="Montserrat"/>
              </a:rPr>
              <a:t>■  NIST AI RMF</a:t>
            </a:r>
            <a:endParaRPr i="0" sz="1250" u="none" cap="none" strike="noStrike">
              <a:solidFill>
                <a:srgbClr val="1A1A1A"/>
              </a:solidFill>
              <a:latin typeface="Montserrat"/>
              <a:ea typeface="Montserrat"/>
              <a:cs typeface="Montserrat"/>
              <a:sym typeface="Montserrat"/>
            </a:endParaRPr>
          </a:p>
          <a:p>
            <a:pPr indent="0" lvl="0" marL="0" rtl="0" algn="l">
              <a:lnSpc>
                <a:spcPct val="115000"/>
              </a:lnSpc>
              <a:spcBef>
                <a:spcPts val="0"/>
              </a:spcBef>
              <a:spcAft>
                <a:spcPts val="0"/>
              </a:spcAft>
              <a:buNone/>
            </a:pPr>
            <a:r>
              <a:rPr lang="en-US" sz="1250">
                <a:solidFill>
                  <a:srgbClr val="1A1A1A"/>
                </a:solidFill>
                <a:latin typeface="Montserrat"/>
                <a:ea typeface="Montserrat"/>
                <a:cs typeface="Montserrat"/>
                <a:sym typeface="Montserrat"/>
              </a:rPr>
              <a:t>■  CSA TAISE </a:t>
            </a:r>
            <a:endParaRPr sz="1250">
              <a:solidFill>
                <a:srgbClr val="1A1A1A"/>
              </a:solidFill>
              <a:latin typeface="Montserrat"/>
              <a:ea typeface="Montserrat"/>
              <a:cs typeface="Montserrat"/>
              <a:sym typeface="Montserrat"/>
            </a:endParaRPr>
          </a:p>
          <a:p>
            <a:pPr indent="0" lvl="0" marL="0" rtl="0" algn="l">
              <a:lnSpc>
                <a:spcPct val="115000"/>
              </a:lnSpc>
              <a:spcBef>
                <a:spcPts val="0"/>
              </a:spcBef>
              <a:spcAft>
                <a:spcPts val="0"/>
              </a:spcAft>
              <a:buNone/>
            </a:pPr>
            <a:r>
              <a:rPr lang="en-US" sz="1250">
                <a:solidFill>
                  <a:srgbClr val="1A1A1A"/>
                </a:solidFill>
                <a:latin typeface="Montserrat"/>
                <a:ea typeface="Montserrat"/>
                <a:cs typeface="Montserrat"/>
                <a:sym typeface="Montserrat"/>
              </a:rPr>
              <a:t>■ I</a:t>
            </a:r>
            <a:r>
              <a:rPr i="0" lang="en-US" sz="1250" u="none" cap="none" strike="noStrike">
                <a:solidFill>
                  <a:srgbClr val="1A1A1A"/>
                </a:solidFill>
                <a:latin typeface="Montserrat"/>
                <a:ea typeface="Montserrat"/>
                <a:cs typeface="Montserrat"/>
                <a:sym typeface="Montserrat"/>
              </a:rPr>
              <a:t>SO/IEC 42001</a:t>
            </a:r>
            <a:endParaRPr i="0" sz="1250" u="none" cap="none" strike="noStrike">
              <a:solidFill>
                <a:srgbClr val="1A1A1A"/>
              </a:solidFill>
              <a:latin typeface="Montserrat"/>
              <a:ea typeface="Montserrat"/>
              <a:cs typeface="Montserrat"/>
              <a:sym typeface="Montserrat"/>
            </a:endParaRPr>
          </a:p>
          <a:p>
            <a:pPr indent="0" lvl="0" marL="0" rtl="0" algn="l">
              <a:lnSpc>
                <a:spcPct val="115000"/>
              </a:lnSpc>
              <a:spcBef>
                <a:spcPts val="500"/>
              </a:spcBef>
              <a:spcAft>
                <a:spcPts val="0"/>
              </a:spcAft>
              <a:buNone/>
            </a:pPr>
            <a:r>
              <a:rPr lang="en-US" sz="1250">
                <a:solidFill>
                  <a:srgbClr val="1A1A1A"/>
                </a:solidFill>
                <a:latin typeface="Montserrat"/>
                <a:ea typeface="Montserrat"/>
                <a:cs typeface="Montserrat"/>
                <a:sym typeface="Montserrat"/>
              </a:rPr>
              <a:t>■  AIUC-1</a:t>
            </a:r>
            <a:endParaRPr sz="1250">
              <a:solidFill>
                <a:srgbClr val="1A1A1A"/>
              </a:solidFill>
              <a:latin typeface="Montserrat"/>
              <a:ea typeface="Montserrat"/>
              <a:cs typeface="Montserrat"/>
              <a:sym typeface="Montserrat"/>
            </a:endParaRPr>
          </a:p>
          <a:p>
            <a:pPr indent="0" lvl="0" marL="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Databricks RAI Framework</a:t>
            </a:r>
            <a:endParaRPr sz="1250">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Industry-specific RAI playbooks </a:t>
            </a:r>
            <a:endParaRPr i="0" sz="1250" u="none" cap="none" strike="noStrike">
              <a:solidFill>
                <a:srgbClr val="1A1A1A"/>
              </a:solidFill>
              <a:latin typeface="Montserrat"/>
              <a:ea typeface="Montserrat"/>
              <a:cs typeface="Montserrat"/>
              <a:sym typeface="Montserrat"/>
            </a:endParaRPr>
          </a:p>
          <a:p>
            <a:pPr indent="0" lvl="0" marL="0" rtl="0" algn="l">
              <a:lnSpc>
                <a:spcPct val="115000"/>
              </a:lnSpc>
              <a:spcBef>
                <a:spcPts val="500"/>
              </a:spcBef>
              <a:spcAft>
                <a:spcPts val="0"/>
              </a:spcAft>
              <a:buClr>
                <a:schemeClr val="dk1"/>
              </a:buClr>
              <a:buFont typeface="Arial"/>
              <a:buNone/>
            </a:pPr>
            <a:r>
              <a:rPr lang="en-US" sz="1250">
                <a:solidFill>
                  <a:srgbClr val="1A1A1A"/>
                </a:solidFill>
                <a:latin typeface="Montserrat"/>
                <a:ea typeface="Montserrat"/>
                <a:cs typeface="Montserrat"/>
                <a:sym typeface="Montserrat"/>
              </a:rPr>
              <a:t>■  Vendor Frameworks (Google, AWS, …</a:t>
            </a:r>
            <a:endParaRPr sz="1250">
              <a:solidFill>
                <a:srgbClr val="1A1A1A"/>
              </a:solidFill>
              <a:latin typeface="Montserrat"/>
              <a:ea typeface="Montserrat"/>
              <a:cs typeface="Montserrat"/>
              <a:sym typeface="Montserrat"/>
            </a:endParaRPr>
          </a:p>
        </p:txBody>
      </p:sp>
      <p:sp>
        <p:nvSpPr>
          <p:cNvPr id="430" name="Google Shape;430;g3eae049a994_2_103"/>
          <p:cNvSpPr/>
          <p:nvPr/>
        </p:nvSpPr>
        <p:spPr>
          <a:xfrm>
            <a:off x="9551820" y="2011680"/>
            <a:ext cx="2125200" cy="3840600"/>
          </a:xfrm>
          <a:prstGeom prst="rect">
            <a:avLst/>
          </a:prstGeom>
          <a:solidFill>
            <a:srgbClr val="F4F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31" name="Google Shape;431;g3eae049a994_2_103"/>
          <p:cNvSpPr/>
          <p:nvPr/>
        </p:nvSpPr>
        <p:spPr>
          <a:xfrm>
            <a:off x="9551820" y="2011680"/>
            <a:ext cx="2125200" cy="91500"/>
          </a:xfrm>
          <a:prstGeom prst="rect">
            <a:avLst/>
          </a:prstGeom>
          <a:solidFill>
            <a:srgbClr val="4EA7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32" name="Google Shape;432;g3eae049a994_2_103"/>
          <p:cNvSpPr txBox="1"/>
          <p:nvPr/>
        </p:nvSpPr>
        <p:spPr>
          <a:xfrm>
            <a:off x="9734700" y="2173825"/>
            <a:ext cx="1759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4EA72E"/>
                </a:solidFill>
                <a:latin typeface="Montserrat"/>
                <a:ea typeface="Montserrat"/>
                <a:cs typeface="Montserrat"/>
                <a:sym typeface="Montserrat"/>
              </a:rPr>
              <a:t>SECURITY MAPS</a:t>
            </a:r>
            <a:endParaRPr>
              <a:latin typeface="Montserrat"/>
              <a:ea typeface="Montserrat"/>
              <a:cs typeface="Montserrat"/>
              <a:sym typeface="Montserrat"/>
            </a:endParaRPr>
          </a:p>
        </p:txBody>
      </p:sp>
      <p:sp>
        <p:nvSpPr>
          <p:cNvPr id="433" name="Google Shape;433;g3eae049a994_2_103"/>
          <p:cNvSpPr txBox="1"/>
          <p:nvPr/>
        </p:nvSpPr>
        <p:spPr>
          <a:xfrm>
            <a:off x="9734700" y="2678160"/>
            <a:ext cx="17592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000" u="none" cap="none" strike="noStrike">
                <a:solidFill>
                  <a:srgbClr val="555555"/>
                </a:solidFill>
                <a:latin typeface="Montserrat"/>
                <a:ea typeface="Montserrat"/>
                <a:cs typeface="Montserrat"/>
                <a:sym typeface="Montserrat"/>
              </a:rPr>
              <a:t>Threat-side guidance</a:t>
            </a:r>
            <a:endParaRPr sz="1000">
              <a:latin typeface="Montserrat"/>
              <a:ea typeface="Montserrat"/>
              <a:cs typeface="Montserrat"/>
              <a:sym typeface="Montserrat"/>
            </a:endParaRPr>
          </a:p>
        </p:txBody>
      </p:sp>
      <p:sp>
        <p:nvSpPr>
          <p:cNvPr id="434" name="Google Shape;434;g3eae049a994_2_103"/>
          <p:cNvSpPr txBox="1"/>
          <p:nvPr/>
        </p:nvSpPr>
        <p:spPr>
          <a:xfrm>
            <a:off x="9734700" y="2919104"/>
            <a:ext cx="1942200" cy="2061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i="0" lang="en-US" sz="1250" u="none" cap="none" strike="noStrike">
                <a:solidFill>
                  <a:srgbClr val="1A1A1A"/>
                </a:solidFill>
                <a:latin typeface="Montserrat"/>
                <a:ea typeface="Montserrat"/>
                <a:cs typeface="Montserrat"/>
                <a:sym typeface="Montserrat"/>
              </a:rPr>
              <a:t>■  MITRE ATLAS</a:t>
            </a:r>
            <a:endParaRPr sz="1250">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OWASP </a:t>
            </a:r>
            <a:r>
              <a:rPr lang="en-US" sz="1250">
                <a:solidFill>
                  <a:srgbClr val="1A1A1A"/>
                </a:solidFill>
                <a:latin typeface="Montserrat"/>
                <a:ea typeface="Montserrat"/>
                <a:cs typeface="Montserrat"/>
                <a:sym typeface="Montserrat"/>
              </a:rPr>
              <a:t>AI Exchange</a:t>
            </a:r>
            <a:endParaRPr sz="1250">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NIST CSF (AI extensions)</a:t>
            </a:r>
            <a:endParaRPr i="0" sz="1250" u="none" cap="none" strike="noStrike">
              <a:solidFill>
                <a:srgbClr val="1A1A1A"/>
              </a:solidFill>
              <a:latin typeface="Montserrat"/>
              <a:ea typeface="Montserrat"/>
              <a:cs typeface="Montserrat"/>
              <a:sym typeface="Montserrat"/>
            </a:endParaRPr>
          </a:p>
          <a:p>
            <a:pPr indent="0" lvl="0" marL="0" marR="0" rtl="0" algn="l">
              <a:lnSpc>
                <a:spcPct val="115000"/>
              </a:lnSpc>
              <a:spcBef>
                <a:spcPts val="500"/>
              </a:spcBef>
              <a:spcAft>
                <a:spcPts val="0"/>
              </a:spcAft>
              <a:buNone/>
            </a:pPr>
            <a:r>
              <a:rPr lang="en-US" sz="1250">
                <a:solidFill>
                  <a:srgbClr val="1A1A1A"/>
                </a:solidFill>
                <a:latin typeface="Montserrat"/>
                <a:ea typeface="Montserrat"/>
                <a:cs typeface="Montserrat"/>
                <a:sym typeface="Montserrat"/>
              </a:rPr>
              <a:t> ■  AI Incident Database</a:t>
            </a:r>
            <a:endParaRPr sz="1250">
              <a:solidFill>
                <a:srgbClr val="1A1A1A"/>
              </a:solidFill>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ML-BOM and supply chain norms</a:t>
            </a:r>
            <a:endParaRPr sz="1250">
              <a:latin typeface="Montserrat"/>
              <a:ea typeface="Montserrat"/>
              <a:cs typeface="Montserrat"/>
              <a:sym typeface="Montserrat"/>
            </a:endParaRPr>
          </a:p>
          <a:p>
            <a:pPr indent="0" lvl="0" marL="0" marR="0" rtl="0" algn="l">
              <a:lnSpc>
                <a:spcPct val="115000"/>
              </a:lnSpc>
              <a:spcBef>
                <a:spcPts val="500"/>
              </a:spcBef>
              <a:spcAft>
                <a:spcPts val="0"/>
              </a:spcAft>
              <a:buNone/>
            </a:pPr>
            <a:r>
              <a:rPr i="0" lang="en-US" sz="1250" u="none" cap="none" strike="noStrike">
                <a:solidFill>
                  <a:srgbClr val="1A1A1A"/>
                </a:solidFill>
                <a:latin typeface="Montserrat"/>
                <a:ea typeface="Montserrat"/>
                <a:cs typeface="Montserrat"/>
                <a:sym typeface="Montserrat"/>
              </a:rPr>
              <a:t>■  Red-team protocols</a:t>
            </a:r>
            <a:endParaRPr sz="1250">
              <a:latin typeface="Montserrat"/>
              <a:ea typeface="Montserrat"/>
              <a:cs typeface="Montserrat"/>
              <a:sym typeface="Montserrat"/>
            </a:endParaRPr>
          </a:p>
        </p:txBody>
      </p:sp>
      <p:sp>
        <p:nvSpPr>
          <p:cNvPr id="435" name="Google Shape;435;g3eae049a994_2_103"/>
          <p:cNvSpPr/>
          <p:nvPr/>
        </p:nvSpPr>
        <p:spPr>
          <a:xfrm>
            <a:off x="502920" y="5989320"/>
            <a:ext cx="11174100" cy="411600"/>
          </a:xfrm>
          <a:prstGeom prst="rect">
            <a:avLst/>
          </a:prstGeom>
          <a:solidFill>
            <a:srgbClr val="0E2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36" name="Google Shape;436;g3eae049a994_2_103"/>
          <p:cNvSpPr txBox="1"/>
          <p:nvPr/>
        </p:nvSpPr>
        <p:spPr>
          <a:xfrm>
            <a:off x="685800" y="6087341"/>
            <a:ext cx="108081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FFFFF"/>
                </a:solidFill>
                <a:latin typeface="Montserrat"/>
                <a:ea typeface="Montserrat"/>
                <a:cs typeface="Montserrat"/>
                <a:sym typeface="Montserrat"/>
              </a:rPr>
              <a:t>GOVERNANCE TAKEAWAY:  No single regime is sufficient. Enterprise AI compliance requires a layered map across all five categories.</a:t>
            </a:r>
            <a:endParaRPr sz="1200">
              <a:latin typeface="Montserrat"/>
              <a:ea typeface="Montserrat"/>
              <a:cs typeface="Montserrat"/>
              <a:sym typeface="Montserrat"/>
            </a:endParaRPr>
          </a:p>
        </p:txBody>
      </p:sp>
      <p:sp>
        <p:nvSpPr>
          <p:cNvPr id="437" name="Google Shape;437;g3eae049a994_2_103"/>
          <p:cNvSpPr txBox="1"/>
          <p:nvPr/>
        </p:nvSpPr>
        <p:spPr>
          <a:xfrm>
            <a:off x="502920" y="644652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555555"/>
                </a:solidFill>
                <a:latin typeface="Calibri"/>
                <a:ea typeface="Calibri"/>
                <a:cs typeface="Calibri"/>
                <a:sym typeface="Calibri"/>
              </a:rPr>
              <a:t>Lead with Responsible AI  |  May 7, 2026</a:t>
            </a:r>
            <a:endParaRPr/>
          </a:p>
        </p:txBody>
      </p:sp>
      <p:sp>
        <p:nvSpPr>
          <p:cNvPr id="438" name="Google Shape;438;g3eae049a994_2_103"/>
          <p:cNvSpPr txBox="1"/>
          <p:nvPr/>
        </p:nvSpPr>
        <p:spPr>
          <a:xfrm>
            <a:off x="10058400" y="6446520"/>
            <a:ext cx="1828800" cy="215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400" u="none" cap="none" strike="noStrike">
                <a:solidFill>
                  <a:srgbClr val="555555"/>
                </a:solidFill>
                <a:latin typeface="Calibri"/>
                <a:ea typeface="Calibri"/>
                <a:cs typeface="Calibri"/>
                <a:sym typeface="Calibri"/>
              </a:rPr>
              <a:t>5</a:t>
            </a:r>
            <a:endParaRPr/>
          </a:p>
        </p:txBody>
      </p:sp>
      <p:pic>
        <p:nvPicPr>
          <p:cNvPr descr="Logo&#10;&#10;Description automatically generated" id="439" name="Google Shape;439;g3eae049a994_2_103"/>
          <p:cNvPicPr preferRelativeResize="0"/>
          <p:nvPr/>
        </p:nvPicPr>
        <p:blipFill rotWithShape="1">
          <a:blip r:embed="rId3">
            <a:alphaModFix/>
          </a:blip>
          <a:srcRect b="0" l="0" r="0" t="0"/>
          <a:stretch/>
        </p:blipFill>
        <p:spPr>
          <a:xfrm>
            <a:off x="11105367" y="0"/>
            <a:ext cx="1073201" cy="1087137"/>
          </a:xfrm>
          <a:prstGeom prst="rect">
            <a:avLst/>
          </a:prstGeom>
          <a:noFill/>
          <a:ln>
            <a:noFill/>
          </a:ln>
        </p:spPr>
      </p:pic>
      <p:sp>
        <p:nvSpPr>
          <p:cNvPr id="440" name="Google Shape;440;g3eae049a994_2_103"/>
          <p:cNvSpPr/>
          <p:nvPr/>
        </p:nvSpPr>
        <p:spPr>
          <a:xfrm>
            <a:off x="0" y="6368133"/>
            <a:ext cx="12216300" cy="489900"/>
          </a:xfrm>
          <a:prstGeom prst="round2SameRect">
            <a:avLst>
              <a:gd fmla="val 47728" name="adj1"/>
              <a:gd fmla="val 0" name="adj2"/>
            </a:avLst>
          </a:prstGeom>
          <a:solidFill>
            <a:srgbClr val="9BBB59"/>
          </a:solidFill>
          <a:ln>
            <a:noFill/>
          </a:ln>
        </p:spPr>
        <p:txBody>
          <a:bodyPr anchorCtr="0" anchor="ctr" bIns="121900" lIns="121900" spcFirstLastPara="1" rIns="121900" wrap="square" tIns="121900">
            <a:noAutofit/>
          </a:bodyPr>
          <a:lstStyle/>
          <a:p>
            <a:pPr indent="0" lvl="0" marL="0" rtl="0" algn="l">
              <a:spcBef>
                <a:spcPts val="0"/>
              </a:spcBef>
              <a:spcAft>
                <a:spcPts val="0"/>
              </a:spcAft>
              <a:buClr>
                <a:schemeClr val="dk1"/>
              </a:buClr>
              <a:buFont typeface="Arial"/>
              <a:buNone/>
            </a:pPr>
            <a:r>
              <a:rPr b="1" lang="en-US" sz="1000">
                <a:solidFill>
                  <a:schemeClr val="lt1"/>
                </a:solidFill>
                <a:latin typeface="Montserrat"/>
                <a:ea typeface="Montserrat"/>
                <a:cs typeface="Montserrat"/>
                <a:sym typeface="Montserrat"/>
              </a:rPr>
              <a:t>T200 AI Leadership &amp; Governance Series  |  2026								www.t200.org</a:t>
            </a:r>
            <a:endParaRPr b="1" i="0" sz="10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5" name="Shape 445"/>
        <p:cNvGrpSpPr/>
        <p:nvPr/>
      </p:nvGrpSpPr>
      <p:grpSpPr>
        <a:xfrm>
          <a:off x="0" y="0"/>
          <a:ext cx="0" cy="0"/>
          <a:chOff x="0" y="0"/>
          <a:chExt cx="0" cy="0"/>
        </a:xfrm>
      </p:grpSpPr>
      <p:sp>
        <p:nvSpPr>
          <p:cNvPr id="446" name="Google Shape;446;g3eaf5b54de6_1_2"/>
          <p:cNvSpPr/>
          <p:nvPr/>
        </p:nvSpPr>
        <p:spPr>
          <a:xfrm>
            <a:off x="365760" y="365760"/>
            <a:ext cx="11460480" cy="51206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E2841"/>
              </a:buClr>
              <a:buSzPts val="2900"/>
              <a:buFont typeface="Arial"/>
              <a:buNone/>
            </a:pPr>
            <a:r>
              <a:rPr b="1" i="0" lang="en-US" sz="2900" u="none" cap="none" strike="noStrike">
                <a:solidFill>
                  <a:srgbClr val="0E2841"/>
                </a:solidFill>
                <a:latin typeface="Montserrat"/>
                <a:ea typeface="Montserrat"/>
                <a:cs typeface="Montserrat"/>
                <a:sym typeface="Montserrat"/>
              </a:rPr>
              <a:t>What is Driving AI Governance</a:t>
            </a:r>
            <a:endParaRPr i="0" sz="2900" u="none" cap="none" strike="noStrike">
              <a:solidFill>
                <a:schemeClr val="dk1"/>
              </a:solidFill>
              <a:latin typeface="Montserrat"/>
              <a:ea typeface="Montserrat"/>
              <a:cs typeface="Montserrat"/>
              <a:sym typeface="Montserrat"/>
            </a:endParaRPr>
          </a:p>
        </p:txBody>
      </p:sp>
      <p:sp>
        <p:nvSpPr>
          <p:cNvPr id="447" name="Google Shape;447;g3eaf5b54de6_1_2"/>
          <p:cNvSpPr/>
          <p:nvPr/>
        </p:nvSpPr>
        <p:spPr>
          <a:xfrm>
            <a:off x="365760" y="877824"/>
            <a:ext cx="11460480" cy="292608"/>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555555"/>
              </a:buClr>
              <a:buSzPts val="1200"/>
              <a:buFont typeface="Calibri"/>
              <a:buNone/>
            </a:pPr>
            <a:r>
              <a:rPr i="1" lang="en-US" sz="1300" u="none" cap="none" strike="noStrike">
                <a:solidFill>
                  <a:srgbClr val="555555"/>
                </a:solidFill>
                <a:latin typeface="Montserrat"/>
                <a:ea typeface="Montserrat"/>
                <a:cs typeface="Montserrat"/>
                <a:sym typeface="Montserrat"/>
              </a:rPr>
              <a:t>AI introduces new decision-making patterns that create new categories of enterprise risk.</a:t>
            </a:r>
            <a:endParaRPr i="0" sz="1300" u="none" cap="none" strike="noStrike">
              <a:solidFill>
                <a:schemeClr val="dk1"/>
              </a:solidFill>
              <a:latin typeface="Montserrat"/>
              <a:ea typeface="Montserrat"/>
              <a:cs typeface="Montserrat"/>
              <a:sym typeface="Montserrat"/>
            </a:endParaRPr>
          </a:p>
        </p:txBody>
      </p:sp>
      <p:sp>
        <p:nvSpPr>
          <p:cNvPr id="448" name="Google Shape;448;g3eaf5b54de6_1_2"/>
          <p:cNvSpPr/>
          <p:nvPr/>
        </p:nvSpPr>
        <p:spPr>
          <a:xfrm>
            <a:off x="219456" y="1243584"/>
            <a:ext cx="3755136" cy="1853184"/>
          </a:xfrm>
          <a:prstGeom prst="rect">
            <a:avLst/>
          </a:prstGeom>
          <a:solidFill>
            <a:srgbClr val="F4F4F4"/>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9" name="Google Shape;449;g3eaf5b54de6_1_2"/>
          <p:cNvSpPr/>
          <p:nvPr/>
        </p:nvSpPr>
        <p:spPr>
          <a:xfrm>
            <a:off x="219456" y="1243584"/>
            <a:ext cx="3755136" cy="60960"/>
          </a:xfrm>
          <a:prstGeom prst="rect">
            <a:avLst/>
          </a:prstGeom>
          <a:solidFill>
            <a:srgbClr val="0E2841"/>
          </a:solidFill>
          <a:ln cap="flat" cmpd="sng" w="12700">
            <a:solidFill>
              <a:srgbClr val="0E284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0" name="Google Shape;450;g3eaf5b54de6_1_2"/>
          <p:cNvSpPr/>
          <p:nvPr/>
        </p:nvSpPr>
        <p:spPr>
          <a:xfrm>
            <a:off x="341376" y="1328928"/>
            <a:ext cx="3572256"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E2841"/>
              </a:buClr>
              <a:buSzPts val="1100"/>
              <a:buFont typeface="Arial"/>
              <a:buNone/>
            </a:pPr>
            <a:r>
              <a:rPr b="1" i="0" lang="en-US" sz="1100" u="none" cap="none" strike="noStrike">
                <a:solidFill>
                  <a:srgbClr val="0E2841"/>
                </a:solidFill>
                <a:latin typeface="Montserrat"/>
                <a:ea typeface="Montserrat"/>
                <a:cs typeface="Montserrat"/>
                <a:sym typeface="Montserrat"/>
              </a:rPr>
              <a:t>TECHNOLOGY RISK</a:t>
            </a:r>
            <a:endParaRPr i="0" sz="1100" u="none" cap="none" strike="noStrike">
              <a:solidFill>
                <a:schemeClr val="dk1"/>
              </a:solidFill>
              <a:latin typeface="Montserrat"/>
              <a:ea typeface="Montserrat"/>
              <a:cs typeface="Montserrat"/>
              <a:sym typeface="Montserrat"/>
            </a:endParaRPr>
          </a:p>
        </p:txBody>
      </p:sp>
      <p:sp>
        <p:nvSpPr>
          <p:cNvPr id="451" name="Google Shape;451;g3eaf5b54de6_1_2"/>
          <p:cNvSpPr/>
          <p:nvPr/>
        </p:nvSpPr>
        <p:spPr>
          <a:xfrm>
            <a:off x="341376" y="1658112"/>
            <a:ext cx="3572256" cy="1341120"/>
          </a:xfrm>
          <a:prstGeom prst="rect">
            <a:avLst/>
          </a:prstGeom>
          <a:noFill/>
          <a:ln>
            <a:noFill/>
          </a:ln>
        </p:spPr>
        <p:txBody>
          <a:bodyPr anchorCtr="0" anchor="t" bIns="60925" lIns="121900" spcFirstLastPara="1" rIns="121900" wrap="square" tIns="60925">
            <a:noAutofit/>
          </a:bodyPr>
          <a:lstStyle/>
          <a:p>
            <a:pPr indent="-457200" lvl="0" marL="457200" marR="0" rtl="0" algn="l">
              <a:spcBef>
                <a:spcPts val="0"/>
              </a:spcBef>
              <a:spcAft>
                <a:spcPts val="0"/>
              </a:spcAft>
              <a:buClr>
                <a:srgbClr val="1A1A1A"/>
              </a:buClr>
              <a:buSzPts val="1200"/>
              <a:buFont typeface="Montserrat"/>
              <a:buChar char="•"/>
            </a:pPr>
            <a:r>
              <a:rPr i="0" lang="en-US" sz="1200" u="none" cap="none" strike="noStrike">
                <a:solidFill>
                  <a:srgbClr val="1A1A1A"/>
                </a:solidFill>
                <a:latin typeface="Montserrat"/>
                <a:ea typeface="Montserrat"/>
                <a:cs typeface="Montserrat"/>
                <a:sym typeface="Montserrat"/>
              </a:rPr>
              <a:t>Data &amp; privacy risk</a:t>
            </a:r>
            <a:endParaRPr i="0" sz="1200" u="none" cap="none" strike="noStrike">
              <a:solidFill>
                <a:schemeClr val="dk1"/>
              </a:solidFill>
              <a:latin typeface="Montserrat"/>
              <a:ea typeface="Montserrat"/>
              <a:cs typeface="Montserrat"/>
              <a:sym typeface="Montserrat"/>
            </a:endParaRPr>
          </a:p>
          <a:p>
            <a:pPr indent="-457200" lvl="0" marL="457200" marR="0" rtl="0" algn="l">
              <a:spcBef>
                <a:spcPts val="500"/>
              </a:spcBef>
              <a:spcAft>
                <a:spcPts val="0"/>
              </a:spcAft>
              <a:buClr>
                <a:srgbClr val="1A1A1A"/>
              </a:buClr>
              <a:buSzPts val="1200"/>
              <a:buFont typeface="Montserrat"/>
              <a:buChar char="•"/>
            </a:pPr>
            <a:r>
              <a:rPr i="0" lang="en-US" sz="1200" u="none" cap="none" strike="noStrike">
                <a:solidFill>
                  <a:srgbClr val="1A1A1A"/>
                </a:solidFill>
                <a:latin typeface="Montserrat"/>
                <a:ea typeface="Montserrat"/>
                <a:cs typeface="Montserrat"/>
                <a:sym typeface="Montserrat"/>
              </a:rPr>
              <a:t>Security vulnerabilities</a:t>
            </a:r>
            <a:endParaRPr i="0" sz="1200" u="none" cap="none" strike="noStrike">
              <a:solidFill>
                <a:schemeClr val="dk1"/>
              </a:solidFill>
              <a:latin typeface="Montserrat"/>
              <a:ea typeface="Montserrat"/>
              <a:cs typeface="Montserrat"/>
              <a:sym typeface="Montserrat"/>
            </a:endParaRPr>
          </a:p>
          <a:p>
            <a:pPr indent="-457200" lvl="0" marL="457200" marR="0" rtl="0" algn="l">
              <a:spcBef>
                <a:spcPts val="500"/>
              </a:spcBef>
              <a:spcAft>
                <a:spcPts val="0"/>
              </a:spcAft>
              <a:buClr>
                <a:srgbClr val="1A1A1A"/>
              </a:buClr>
              <a:buSzPts val="1200"/>
              <a:buFont typeface="Montserrat"/>
              <a:buChar char="•"/>
            </a:pPr>
            <a:r>
              <a:rPr i="0" lang="en-US" sz="1200" u="none" cap="none" strike="noStrike">
                <a:solidFill>
                  <a:srgbClr val="1A1A1A"/>
                </a:solidFill>
                <a:latin typeface="Montserrat"/>
                <a:ea typeface="Montserrat"/>
                <a:cs typeface="Montserrat"/>
                <a:sym typeface="Montserrat"/>
              </a:rPr>
              <a:t>Model errors and bias</a:t>
            </a:r>
            <a:endParaRPr i="0" sz="1200" u="none" cap="none" strike="noStrike">
              <a:solidFill>
                <a:schemeClr val="dk1"/>
              </a:solidFill>
              <a:latin typeface="Montserrat"/>
              <a:ea typeface="Montserrat"/>
              <a:cs typeface="Montserrat"/>
              <a:sym typeface="Montserrat"/>
            </a:endParaRPr>
          </a:p>
          <a:p>
            <a:pPr indent="-457200" lvl="0" marL="457200" marR="0" rtl="0" algn="l">
              <a:spcBef>
                <a:spcPts val="500"/>
              </a:spcBef>
              <a:spcAft>
                <a:spcPts val="0"/>
              </a:spcAft>
              <a:buClr>
                <a:srgbClr val="1A1A1A"/>
              </a:buClr>
              <a:buSzPts val="1200"/>
              <a:buFont typeface="Montserrat"/>
              <a:buChar char="•"/>
            </a:pPr>
            <a:r>
              <a:rPr i="0" lang="en-US" sz="1200" u="none" cap="none" strike="noStrike">
                <a:solidFill>
                  <a:srgbClr val="1A1A1A"/>
                </a:solidFill>
                <a:latin typeface="Montserrat"/>
                <a:ea typeface="Montserrat"/>
                <a:cs typeface="Montserrat"/>
                <a:sym typeface="Montserrat"/>
              </a:rPr>
              <a:t>System reliability failures</a:t>
            </a:r>
            <a:endParaRPr i="0" sz="1200" u="none" cap="none" strike="noStrike">
              <a:solidFill>
                <a:schemeClr val="dk1"/>
              </a:solidFill>
              <a:latin typeface="Montserrat"/>
              <a:ea typeface="Montserrat"/>
              <a:cs typeface="Montserrat"/>
              <a:sym typeface="Montserrat"/>
            </a:endParaRPr>
          </a:p>
        </p:txBody>
      </p:sp>
      <p:sp>
        <p:nvSpPr>
          <p:cNvPr id="452" name="Google Shape;452;g3eaf5b54de6_1_2"/>
          <p:cNvSpPr/>
          <p:nvPr/>
        </p:nvSpPr>
        <p:spPr>
          <a:xfrm>
            <a:off x="4194048" y="1243584"/>
            <a:ext cx="3755136" cy="1853184"/>
          </a:xfrm>
          <a:prstGeom prst="rect">
            <a:avLst/>
          </a:prstGeom>
          <a:solidFill>
            <a:srgbClr val="F4F4F4"/>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3" name="Google Shape;453;g3eaf5b54de6_1_2"/>
          <p:cNvSpPr/>
          <p:nvPr/>
        </p:nvSpPr>
        <p:spPr>
          <a:xfrm>
            <a:off x="4194048" y="1243584"/>
            <a:ext cx="3755136" cy="6096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4" name="Google Shape;454;g3eaf5b54de6_1_2"/>
          <p:cNvSpPr/>
          <p:nvPr/>
        </p:nvSpPr>
        <p:spPr>
          <a:xfrm>
            <a:off x="4315968" y="1328928"/>
            <a:ext cx="3572256"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E97132"/>
              </a:buClr>
              <a:buSzPts val="1100"/>
              <a:buFont typeface="Arial"/>
              <a:buNone/>
            </a:pPr>
            <a:r>
              <a:rPr b="1" i="0" lang="en-US" sz="1100" u="none" cap="none" strike="noStrike">
                <a:solidFill>
                  <a:srgbClr val="E97132"/>
                </a:solidFill>
                <a:latin typeface="Montserrat"/>
                <a:ea typeface="Montserrat"/>
                <a:cs typeface="Montserrat"/>
                <a:sym typeface="Montserrat"/>
              </a:rPr>
              <a:t>REGULATORY RISK</a:t>
            </a:r>
            <a:endParaRPr i="0" sz="1100" u="none" cap="none" strike="noStrike">
              <a:solidFill>
                <a:schemeClr val="dk1"/>
              </a:solidFill>
              <a:latin typeface="Montserrat"/>
              <a:ea typeface="Montserrat"/>
              <a:cs typeface="Montserrat"/>
              <a:sym typeface="Montserrat"/>
            </a:endParaRPr>
          </a:p>
        </p:txBody>
      </p:sp>
      <p:sp>
        <p:nvSpPr>
          <p:cNvPr id="455" name="Google Shape;455;g3eaf5b54de6_1_2"/>
          <p:cNvSpPr/>
          <p:nvPr/>
        </p:nvSpPr>
        <p:spPr>
          <a:xfrm>
            <a:off x="4315968" y="1658112"/>
            <a:ext cx="3572256" cy="1341120"/>
          </a:xfrm>
          <a:prstGeom prst="rect">
            <a:avLst/>
          </a:prstGeom>
          <a:noFill/>
          <a:ln>
            <a:noFill/>
          </a:ln>
        </p:spPr>
        <p:txBody>
          <a:bodyPr anchorCtr="0" anchor="t" bIns="60925" lIns="121900" spcFirstLastPara="1" rIns="121900" wrap="square" tIns="60925">
            <a:noAutofit/>
          </a:bodyPr>
          <a:lstStyle/>
          <a:p>
            <a:pPr indent="-457200" lvl="0" marL="457200" marR="0" rtl="0" algn="l">
              <a:spcBef>
                <a:spcPts val="0"/>
              </a:spcBef>
              <a:spcAft>
                <a:spcPts val="0"/>
              </a:spcAft>
              <a:buClr>
                <a:srgbClr val="1A1A1A"/>
              </a:buClr>
              <a:buSzPts val="1200"/>
              <a:buFont typeface="Montserrat"/>
              <a:buChar char="•"/>
            </a:pPr>
            <a:r>
              <a:rPr i="0" lang="en-US" sz="1200" u="none" cap="none" strike="noStrike">
                <a:solidFill>
                  <a:srgbClr val="1A1A1A"/>
                </a:solidFill>
                <a:latin typeface="Montserrat"/>
                <a:ea typeface="Montserrat"/>
                <a:cs typeface="Montserrat"/>
                <a:sym typeface="Montserrat"/>
              </a:rPr>
              <a:t>Compliance violations</a:t>
            </a:r>
            <a:endParaRPr i="0" sz="1200" u="none" cap="none" strike="noStrike">
              <a:solidFill>
                <a:schemeClr val="dk1"/>
              </a:solidFill>
              <a:latin typeface="Montserrat"/>
              <a:ea typeface="Montserrat"/>
              <a:cs typeface="Montserrat"/>
              <a:sym typeface="Montserrat"/>
            </a:endParaRPr>
          </a:p>
          <a:p>
            <a:pPr indent="-457200" lvl="0" marL="457200" marR="0" rtl="0" algn="l">
              <a:spcBef>
                <a:spcPts val="500"/>
              </a:spcBef>
              <a:spcAft>
                <a:spcPts val="0"/>
              </a:spcAft>
              <a:buClr>
                <a:srgbClr val="1A1A1A"/>
              </a:buClr>
              <a:buSzPts val="1200"/>
              <a:buFont typeface="Montserrat"/>
              <a:buChar char="•"/>
            </a:pPr>
            <a:r>
              <a:rPr i="0" lang="en-US" sz="1200" u="none" cap="none" strike="noStrike">
                <a:solidFill>
                  <a:srgbClr val="1A1A1A"/>
                </a:solidFill>
                <a:latin typeface="Montserrat"/>
                <a:ea typeface="Montserrat"/>
                <a:cs typeface="Montserrat"/>
                <a:sym typeface="Montserrat"/>
              </a:rPr>
              <a:t>Auditability gaps</a:t>
            </a:r>
            <a:endParaRPr i="0" sz="1200" u="none" cap="none" strike="noStrike">
              <a:solidFill>
                <a:schemeClr val="dk1"/>
              </a:solidFill>
              <a:latin typeface="Montserrat"/>
              <a:ea typeface="Montserrat"/>
              <a:cs typeface="Montserrat"/>
              <a:sym typeface="Montserrat"/>
            </a:endParaRPr>
          </a:p>
          <a:p>
            <a:pPr indent="-457200" lvl="0" marL="457200" marR="0" rtl="0" algn="l">
              <a:spcBef>
                <a:spcPts val="500"/>
              </a:spcBef>
              <a:spcAft>
                <a:spcPts val="0"/>
              </a:spcAft>
              <a:buClr>
                <a:srgbClr val="1A1A1A"/>
              </a:buClr>
              <a:buSzPts val="1200"/>
              <a:buFont typeface="Montserrat"/>
              <a:buChar char="•"/>
            </a:pPr>
            <a:r>
              <a:rPr i="0" lang="en-US" sz="1200" u="none" cap="none" strike="noStrike">
                <a:solidFill>
                  <a:srgbClr val="1A1A1A"/>
                </a:solidFill>
                <a:latin typeface="Montserrat"/>
                <a:ea typeface="Montserrat"/>
                <a:cs typeface="Montserrat"/>
                <a:sym typeface="Montserrat"/>
              </a:rPr>
              <a:t>Enforcement actions</a:t>
            </a:r>
            <a:endParaRPr i="0" sz="1200" u="none" cap="none" strike="noStrike">
              <a:solidFill>
                <a:schemeClr val="dk1"/>
              </a:solidFill>
              <a:latin typeface="Montserrat"/>
              <a:ea typeface="Montserrat"/>
              <a:cs typeface="Montserrat"/>
              <a:sym typeface="Montserrat"/>
            </a:endParaRPr>
          </a:p>
          <a:p>
            <a:pPr indent="-457200" lvl="0" marL="457200" marR="0" rtl="0" algn="l">
              <a:spcBef>
                <a:spcPts val="500"/>
              </a:spcBef>
              <a:spcAft>
                <a:spcPts val="0"/>
              </a:spcAft>
              <a:buClr>
                <a:srgbClr val="1A1A1A"/>
              </a:buClr>
              <a:buSzPts val="1200"/>
              <a:buFont typeface="Montserrat"/>
              <a:buChar char="•"/>
            </a:pPr>
            <a:r>
              <a:rPr i="0" lang="en-US" sz="1200" u="none" cap="none" strike="noStrike">
                <a:solidFill>
                  <a:srgbClr val="1A1A1A"/>
                </a:solidFill>
                <a:latin typeface="Montserrat"/>
                <a:ea typeface="Montserrat"/>
                <a:cs typeface="Montserrat"/>
                <a:sym typeface="Montserrat"/>
              </a:rPr>
              <a:t>Cross-border conflicts</a:t>
            </a:r>
            <a:endParaRPr i="0" sz="1200" u="none" cap="none" strike="noStrike">
              <a:solidFill>
                <a:schemeClr val="dk1"/>
              </a:solidFill>
              <a:latin typeface="Montserrat"/>
              <a:ea typeface="Montserrat"/>
              <a:cs typeface="Montserrat"/>
              <a:sym typeface="Montserrat"/>
            </a:endParaRPr>
          </a:p>
        </p:txBody>
      </p:sp>
      <p:sp>
        <p:nvSpPr>
          <p:cNvPr id="456" name="Google Shape;456;g3eaf5b54de6_1_2"/>
          <p:cNvSpPr/>
          <p:nvPr/>
        </p:nvSpPr>
        <p:spPr>
          <a:xfrm>
            <a:off x="8168640" y="1243584"/>
            <a:ext cx="3755136" cy="1853184"/>
          </a:xfrm>
          <a:prstGeom prst="rect">
            <a:avLst/>
          </a:prstGeom>
          <a:solidFill>
            <a:srgbClr val="F4F4F4"/>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7" name="Google Shape;457;g3eaf5b54de6_1_2"/>
          <p:cNvSpPr/>
          <p:nvPr/>
        </p:nvSpPr>
        <p:spPr>
          <a:xfrm>
            <a:off x="8168640" y="1243584"/>
            <a:ext cx="3755136" cy="60960"/>
          </a:xfrm>
          <a:prstGeom prst="rect">
            <a:avLst/>
          </a:prstGeom>
          <a:solidFill>
            <a:srgbClr val="6D2E46"/>
          </a:solidFill>
          <a:ln cap="flat" cmpd="sng" w="12700">
            <a:solidFill>
              <a:srgbClr val="6D2E4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8" name="Google Shape;458;g3eaf5b54de6_1_2"/>
          <p:cNvSpPr/>
          <p:nvPr/>
        </p:nvSpPr>
        <p:spPr>
          <a:xfrm>
            <a:off x="8290560" y="1328928"/>
            <a:ext cx="3572256"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D2E46"/>
              </a:buClr>
              <a:buSzPts val="1100"/>
              <a:buFont typeface="Arial"/>
              <a:buNone/>
            </a:pPr>
            <a:r>
              <a:rPr b="1" i="0" lang="en-US" sz="1100" u="none" cap="none" strike="noStrike">
                <a:solidFill>
                  <a:srgbClr val="6D2E46"/>
                </a:solidFill>
                <a:latin typeface="Montserrat"/>
                <a:ea typeface="Montserrat"/>
                <a:cs typeface="Montserrat"/>
                <a:sym typeface="Montserrat"/>
              </a:rPr>
              <a:t>BUSINESS RISK</a:t>
            </a:r>
            <a:endParaRPr i="0" sz="1100" u="none" cap="none" strike="noStrike">
              <a:solidFill>
                <a:schemeClr val="dk1"/>
              </a:solidFill>
              <a:latin typeface="Montserrat"/>
              <a:ea typeface="Montserrat"/>
              <a:cs typeface="Montserrat"/>
              <a:sym typeface="Montserrat"/>
            </a:endParaRPr>
          </a:p>
        </p:txBody>
      </p:sp>
      <p:sp>
        <p:nvSpPr>
          <p:cNvPr id="459" name="Google Shape;459;g3eaf5b54de6_1_2"/>
          <p:cNvSpPr/>
          <p:nvPr/>
        </p:nvSpPr>
        <p:spPr>
          <a:xfrm>
            <a:off x="8290560" y="1658112"/>
            <a:ext cx="3572256" cy="1341120"/>
          </a:xfrm>
          <a:prstGeom prst="rect">
            <a:avLst/>
          </a:prstGeom>
          <a:noFill/>
          <a:ln>
            <a:noFill/>
          </a:ln>
        </p:spPr>
        <p:txBody>
          <a:bodyPr anchorCtr="0" anchor="t" bIns="60925" lIns="121900" spcFirstLastPara="1" rIns="121900" wrap="square" tIns="60925">
            <a:noAutofit/>
          </a:bodyPr>
          <a:lstStyle/>
          <a:p>
            <a:pPr indent="-457200" lvl="0" marL="457200" marR="0" rtl="0" algn="l">
              <a:spcBef>
                <a:spcPts val="0"/>
              </a:spcBef>
              <a:spcAft>
                <a:spcPts val="0"/>
              </a:spcAft>
              <a:buClr>
                <a:srgbClr val="1A1A1A"/>
              </a:buClr>
              <a:buSzPts val="1200"/>
              <a:buFont typeface="Montserrat"/>
              <a:buChar char="•"/>
            </a:pPr>
            <a:r>
              <a:rPr i="0" lang="en-US" sz="1200" u="none" cap="none" strike="noStrike">
                <a:solidFill>
                  <a:srgbClr val="1A1A1A"/>
                </a:solidFill>
                <a:latin typeface="Montserrat"/>
                <a:ea typeface="Montserrat"/>
                <a:cs typeface="Montserrat"/>
                <a:sym typeface="Montserrat"/>
              </a:rPr>
              <a:t>Reputational harm</a:t>
            </a:r>
            <a:endParaRPr i="0" sz="1200" u="none" cap="none" strike="noStrike">
              <a:solidFill>
                <a:schemeClr val="dk1"/>
              </a:solidFill>
              <a:latin typeface="Montserrat"/>
              <a:ea typeface="Montserrat"/>
              <a:cs typeface="Montserrat"/>
              <a:sym typeface="Montserrat"/>
            </a:endParaRPr>
          </a:p>
          <a:p>
            <a:pPr indent="-457200" lvl="0" marL="457200" marR="0" rtl="0" algn="l">
              <a:spcBef>
                <a:spcPts val="500"/>
              </a:spcBef>
              <a:spcAft>
                <a:spcPts val="0"/>
              </a:spcAft>
              <a:buClr>
                <a:srgbClr val="1A1A1A"/>
              </a:buClr>
              <a:buSzPts val="1200"/>
              <a:buFont typeface="Montserrat"/>
              <a:buChar char="•"/>
            </a:pPr>
            <a:r>
              <a:rPr i="0" lang="en-US" sz="1200" u="none" cap="none" strike="noStrike">
                <a:solidFill>
                  <a:srgbClr val="1A1A1A"/>
                </a:solidFill>
                <a:latin typeface="Montserrat"/>
                <a:ea typeface="Montserrat"/>
                <a:cs typeface="Montserrat"/>
                <a:sym typeface="Montserrat"/>
              </a:rPr>
              <a:t>Financial exposure</a:t>
            </a:r>
            <a:endParaRPr i="0" sz="1200" u="none" cap="none" strike="noStrike">
              <a:solidFill>
                <a:schemeClr val="dk1"/>
              </a:solidFill>
              <a:latin typeface="Montserrat"/>
              <a:ea typeface="Montserrat"/>
              <a:cs typeface="Montserrat"/>
              <a:sym typeface="Montserrat"/>
            </a:endParaRPr>
          </a:p>
          <a:p>
            <a:pPr indent="-457200" lvl="0" marL="457200" marR="0" rtl="0" algn="l">
              <a:spcBef>
                <a:spcPts val="500"/>
              </a:spcBef>
              <a:spcAft>
                <a:spcPts val="0"/>
              </a:spcAft>
              <a:buClr>
                <a:srgbClr val="1A1A1A"/>
              </a:buClr>
              <a:buSzPts val="1200"/>
              <a:buFont typeface="Montserrat"/>
              <a:buChar char="•"/>
            </a:pPr>
            <a:r>
              <a:rPr i="0" lang="en-US" sz="1200" u="none" cap="none" strike="noStrike">
                <a:solidFill>
                  <a:srgbClr val="1A1A1A"/>
                </a:solidFill>
                <a:latin typeface="Montserrat"/>
                <a:ea typeface="Montserrat"/>
                <a:cs typeface="Montserrat"/>
                <a:sym typeface="Montserrat"/>
              </a:rPr>
              <a:t>Flawed strategic decisions</a:t>
            </a:r>
            <a:endParaRPr i="0" sz="1200" u="none" cap="none" strike="noStrike">
              <a:solidFill>
                <a:schemeClr val="dk1"/>
              </a:solidFill>
              <a:latin typeface="Montserrat"/>
              <a:ea typeface="Montserrat"/>
              <a:cs typeface="Montserrat"/>
              <a:sym typeface="Montserrat"/>
            </a:endParaRPr>
          </a:p>
          <a:p>
            <a:pPr indent="-457200" lvl="0" marL="457200" marR="0" rtl="0" algn="l">
              <a:spcBef>
                <a:spcPts val="500"/>
              </a:spcBef>
              <a:spcAft>
                <a:spcPts val="0"/>
              </a:spcAft>
              <a:buClr>
                <a:srgbClr val="1A1A1A"/>
              </a:buClr>
              <a:buSzPts val="1200"/>
              <a:buFont typeface="Montserrat"/>
              <a:buChar char="•"/>
            </a:pPr>
            <a:r>
              <a:rPr i="0" lang="en-US" sz="1200" u="none" cap="none" strike="noStrike">
                <a:solidFill>
                  <a:srgbClr val="1A1A1A"/>
                </a:solidFill>
                <a:latin typeface="Montserrat"/>
                <a:ea typeface="Montserrat"/>
                <a:cs typeface="Montserrat"/>
                <a:sym typeface="Montserrat"/>
              </a:rPr>
              <a:t>Loss of customer trust</a:t>
            </a:r>
            <a:endParaRPr i="0" sz="1200" u="none" cap="none" strike="noStrike">
              <a:solidFill>
                <a:schemeClr val="dk1"/>
              </a:solidFill>
              <a:latin typeface="Montserrat"/>
              <a:ea typeface="Montserrat"/>
              <a:cs typeface="Montserrat"/>
              <a:sym typeface="Montserrat"/>
            </a:endParaRPr>
          </a:p>
        </p:txBody>
      </p:sp>
      <p:sp>
        <p:nvSpPr>
          <p:cNvPr id="460" name="Google Shape;460;g3eaf5b54de6_1_2"/>
          <p:cNvSpPr/>
          <p:nvPr/>
        </p:nvSpPr>
        <p:spPr>
          <a:xfrm>
            <a:off x="219456" y="3218688"/>
            <a:ext cx="2218944" cy="60960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1" name="Google Shape;461;g3eaf5b54de6_1_2"/>
          <p:cNvSpPr/>
          <p:nvPr/>
        </p:nvSpPr>
        <p:spPr>
          <a:xfrm>
            <a:off x="280416" y="3267456"/>
            <a:ext cx="2097024" cy="29260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Montserrat"/>
                <a:ea typeface="Montserrat"/>
                <a:cs typeface="Montserrat"/>
                <a:sym typeface="Montserrat"/>
              </a:rPr>
              <a:t>AI Adoption</a:t>
            </a:r>
            <a:endParaRPr i="0" sz="1100" u="none" cap="none" strike="noStrike">
              <a:solidFill>
                <a:schemeClr val="dk1"/>
              </a:solidFill>
              <a:latin typeface="Montserrat"/>
              <a:ea typeface="Montserrat"/>
              <a:cs typeface="Montserrat"/>
              <a:sym typeface="Montserrat"/>
            </a:endParaRPr>
          </a:p>
        </p:txBody>
      </p:sp>
      <p:sp>
        <p:nvSpPr>
          <p:cNvPr id="462" name="Google Shape;462;g3eaf5b54de6_1_2"/>
          <p:cNvSpPr/>
          <p:nvPr/>
        </p:nvSpPr>
        <p:spPr>
          <a:xfrm>
            <a:off x="280416" y="3572256"/>
            <a:ext cx="2097024" cy="21945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DDDDDD"/>
              </a:buClr>
              <a:buSzPts val="900"/>
              <a:buFont typeface="Calibri"/>
              <a:buNone/>
            </a:pPr>
            <a:r>
              <a:rPr i="1" lang="en-US" sz="1000" u="none" cap="none" strike="noStrike">
                <a:solidFill>
                  <a:srgbClr val="DDDDDD"/>
                </a:solidFill>
                <a:latin typeface="Montserrat"/>
                <a:ea typeface="Montserrat"/>
                <a:cs typeface="Montserrat"/>
                <a:sym typeface="Montserrat"/>
              </a:rPr>
              <a:t>Ungoverned</a:t>
            </a:r>
            <a:endParaRPr i="0" sz="1000" u="none" cap="none" strike="noStrike">
              <a:solidFill>
                <a:schemeClr val="dk1"/>
              </a:solidFill>
              <a:latin typeface="Montserrat"/>
              <a:ea typeface="Montserrat"/>
              <a:cs typeface="Montserrat"/>
              <a:sym typeface="Montserrat"/>
            </a:endParaRPr>
          </a:p>
        </p:txBody>
      </p:sp>
      <p:sp>
        <p:nvSpPr>
          <p:cNvPr id="463" name="Google Shape;463;g3eaf5b54de6_1_2"/>
          <p:cNvSpPr/>
          <p:nvPr/>
        </p:nvSpPr>
        <p:spPr>
          <a:xfrm>
            <a:off x="2462784" y="3486912"/>
            <a:ext cx="146304" cy="73152"/>
          </a:xfrm>
          <a:prstGeom prst="rect">
            <a:avLst/>
          </a:prstGeom>
          <a:solidFill>
            <a:srgbClr val="0E2841"/>
          </a:solidFill>
          <a:ln cap="flat" cmpd="sng" w="12700">
            <a:solidFill>
              <a:srgbClr val="0E284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4" name="Google Shape;464;g3eaf5b54de6_1_2"/>
          <p:cNvSpPr/>
          <p:nvPr/>
        </p:nvSpPr>
        <p:spPr>
          <a:xfrm>
            <a:off x="2560320" y="3218688"/>
            <a:ext cx="2218944" cy="609600"/>
          </a:xfrm>
          <a:prstGeom prst="rect">
            <a:avLst/>
          </a:prstGeom>
          <a:solidFill>
            <a:srgbClr val="156082"/>
          </a:solidFill>
          <a:ln cap="flat" cmpd="sng" w="12700">
            <a:solidFill>
              <a:srgbClr val="15608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5" name="Google Shape;465;g3eaf5b54de6_1_2"/>
          <p:cNvSpPr/>
          <p:nvPr/>
        </p:nvSpPr>
        <p:spPr>
          <a:xfrm>
            <a:off x="2621280" y="3267456"/>
            <a:ext cx="2097024" cy="29260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Montserrat"/>
                <a:ea typeface="Montserrat"/>
                <a:cs typeface="Montserrat"/>
                <a:sym typeface="Montserrat"/>
              </a:rPr>
              <a:t>New Decision Patterns</a:t>
            </a:r>
            <a:endParaRPr i="0" sz="1100" u="none" cap="none" strike="noStrike">
              <a:solidFill>
                <a:schemeClr val="dk1"/>
              </a:solidFill>
              <a:latin typeface="Montserrat"/>
              <a:ea typeface="Montserrat"/>
              <a:cs typeface="Montserrat"/>
              <a:sym typeface="Montserrat"/>
            </a:endParaRPr>
          </a:p>
        </p:txBody>
      </p:sp>
      <p:sp>
        <p:nvSpPr>
          <p:cNvPr id="466" name="Google Shape;466;g3eaf5b54de6_1_2"/>
          <p:cNvSpPr/>
          <p:nvPr/>
        </p:nvSpPr>
        <p:spPr>
          <a:xfrm>
            <a:off x="2621280" y="3572256"/>
            <a:ext cx="2097024" cy="21945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DDDDDD"/>
              </a:buClr>
              <a:buSzPts val="900"/>
              <a:buFont typeface="Calibri"/>
              <a:buNone/>
            </a:pPr>
            <a:r>
              <a:rPr i="1" lang="en-US" sz="1000" u="none" cap="none" strike="noStrike">
                <a:solidFill>
                  <a:srgbClr val="DDDDDD"/>
                </a:solidFill>
                <a:latin typeface="Montserrat"/>
                <a:ea typeface="Montserrat"/>
                <a:cs typeface="Montserrat"/>
                <a:sym typeface="Montserrat"/>
              </a:rPr>
              <a:t>No human review</a:t>
            </a:r>
            <a:endParaRPr i="0" sz="1000" u="none" cap="none" strike="noStrike">
              <a:solidFill>
                <a:schemeClr val="dk1"/>
              </a:solidFill>
              <a:latin typeface="Montserrat"/>
              <a:ea typeface="Montserrat"/>
              <a:cs typeface="Montserrat"/>
              <a:sym typeface="Montserrat"/>
            </a:endParaRPr>
          </a:p>
        </p:txBody>
      </p:sp>
      <p:sp>
        <p:nvSpPr>
          <p:cNvPr id="467" name="Google Shape;467;g3eaf5b54de6_1_2"/>
          <p:cNvSpPr/>
          <p:nvPr/>
        </p:nvSpPr>
        <p:spPr>
          <a:xfrm>
            <a:off x="4803648" y="3486912"/>
            <a:ext cx="146304" cy="73152"/>
          </a:xfrm>
          <a:prstGeom prst="rect">
            <a:avLst/>
          </a:prstGeom>
          <a:solidFill>
            <a:srgbClr val="0E2841"/>
          </a:solidFill>
          <a:ln cap="flat" cmpd="sng" w="12700">
            <a:solidFill>
              <a:srgbClr val="0E284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8" name="Google Shape;468;g3eaf5b54de6_1_2"/>
          <p:cNvSpPr/>
          <p:nvPr/>
        </p:nvSpPr>
        <p:spPr>
          <a:xfrm>
            <a:off x="4901184" y="3218688"/>
            <a:ext cx="2218944" cy="60960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9" name="Google Shape;469;g3eaf5b54de6_1_2"/>
          <p:cNvSpPr/>
          <p:nvPr/>
        </p:nvSpPr>
        <p:spPr>
          <a:xfrm>
            <a:off x="4962144" y="3267456"/>
            <a:ext cx="2097024" cy="29260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Montserrat"/>
                <a:ea typeface="Montserrat"/>
                <a:cs typeface="Montserrat"/>
                <a:sym typeface="Montserrat"/>
              </a:rPr>
              <a:t>Expanded Attack Surface</a:t>
            </a:r>
            <a:endParaRPr i="0" sz="1100" u="none" cap="none" strike="noStrike">
              <a:solidFill>
                <a:schemeClr val="dk1"/>
              </a:solidFill>
              <a:latin typeface="Montserrat"/>
              <a:ea typeface="Montserrat"/>
              <a:cs typeface="Montserrat"/>
              <a:sym typeface="Montserrat"/>
            </a:endParaRPr>
          </a:p>
        </p:txBody>
      </p:sp>
      <p:sp>
        <p:nvSpPr>
          <p:cNvPr id="470" name="Google Shape;470;g3eaf5b54de6_1_2"/>
          <p:cNvSpPr/>
          <p:nvPr/>
        </p:nvSpPr>
        <p:spPr>
          <a:xfrm>
            <a:off x="4962144" y="3572256"/>
            <a:ext cx="2097024" cy="21945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DDDDDD"/>
              </a:buClr>
              <a:buSzPts val="900"/>
              <a:buFont typeface="Calibri"/>
              <a:buNone/>
            </a:pPr>
            <a:r>
              <a:rPr i="1" lang="en-US" sz="1000" u="none" cap="none" strike="noStrike">
                <a:solidFill>
                  <a:srgbClr val="DDDDDD"/>
                </a:solidFill>
                <a:latin typeface="Montserrat"/>
                <a:ea typeface="Montserrat"/>
                <a:cs typeface="Montserrat"/>
                <a:sym typeface="Montserrat"/>
              </a:rPr>
              <a:t>Invisible exposure</a:t>
            </a:r>
            <a:endParaRPr i="0" sz="1000" u="none" cap="none" strike="noStrike">
              <a:solidFill>
                <a:schemeClr val="dk1"/>
              </a:solidFill>
              <a:latin typeface="Montserrat"/>
              <a:ea typeface="Montserrat"/>
              <a:cs typeface="Montserrat"/>
              <a:sym typeface="Montserrat"/>
            </a:endParaRPr>
          </a:p>
        </p:txBody>
      </p:sp>
      <p:sp>
        <p:nvSpPr>
          <p:cNvPr id="471" name="Google Shape;471;g3eaf5b54de6_1_2"/>
          <p:cNvSpPr/>
          <p:nvPr/>
        </p:nvSpPr>
        <p:spPr>
          <a:xfrm>
            <a:off x="7144512" y="3486912"/>
            <a:ext cx="146304" cy="73152"/>
          </a:xfrm>
          <a:prstGeom prst="rect">
            <a:avLst/>
          </a:prstGeom>
          <a:solidFill>
            <a:srgbClr val="0E2841"/>
          </a:solidFill>
          <a:ln cap="flat" cmpd="sng" w="12700">
            <a:solidFill>
              <a:srgbClr val="0E284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2" name="Google Shape;472;g3eaf5b54de6_1_2"/>
          <p:cNvSpPr/>
          <p:nvPr/>
        </p:nvSpPr>
        <p:spPr>
          <a:xfrm>
            <a:off x="7242048" y="3218688"/>
            <a:ext cx="2218944" cy="609600"/>
          </a:xfrm>
          <a:prstGeom prst="rect">
            <a:avLst/>
          </a:prstGeom>
          <a:solidFill>
            <a:srgbClr val="6D2E46"/>
          </a:solidFill>
          <a:ln cap="flat" cmpd="sng" w="12700">
            <a:solidFill>
              <a:srgbClr val="6D2E4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3" name="Google Shape;473;g3eaf5b54de6_1_2"/>
          <p:cNvSpPr/>
          <p:nvPr/>
        </p:nvSpPr>
        <p:spPr>
          <a:xfrm>
            <a:off x="7303008" y="3267456"/>
            <a:ext cx="2097024" cy="29260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Montserrat"/>
                <a:ea typeface="Montserrat"/>
                <a:cs typeface="Montserrat"/>
                <a:sym typeface="Montserrat"/>
              </a:rPr>
              <a:t>New Enterprise Risks</a:t>
            </a:r>
            <a:endParaRPr i="0" sz="1100" u="none" cap="none" strike="noStrike">
              <a:solidFill>
                <a:schemeClr val="dk1"/>
              </a:solidFill>
              <a:latin typeface="Montserrat"/>
              <a:ea typeface="Montserrat"/>
              <a:cs typeface="Montserrat"/>
              <a:sym typeface="Montserrat"/>
            </a:endParaRPr>
          </a:p>
        </p:txBody>
      </p:sp>
      <p:sp>
        <p:nvSpPr>
          <p:cNvPr id="474" name="Google Shape;474;g3eaf5b54de6_1_2"/>
          <p:cNvSpPr/>
          <p:nvPr/>
        </p:nvSpPr>
        <p:spPr>
          <a:xfrm>
            <a:off x="7303008" y="3572256"/>
            <a:ext cx="2097024" cy="21945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DDDDDD"/>
              </a:buClr>
              <a:buSzPts val="900"/>
              <a:buFont typeface="Calibri"/>
              <a:buNone/>
            </a:pPr>
            <a:r>
              <a:rPr i="1" lang="en-US" sz="1000" u="none" cap="none" strike="noStrike">
                <a:solidFill>
                  <a:srgbClr val="DDDDDD"/>
                </a:solidFill>
                <a:latin typeface="Montserrat"/>
                <a:ea typeface="Montserrat"/>
                <a:cs typeface="Montserrat"/>
                <a:sym typeface="Montserrat"/>
              </a:rPr>
              <a:t>Accumulated silently</a:t>
            </a:r>
            <a:endParaRPr i="0" sz="1000" u="none" cap="none" strike="noStrike">
              <a:solidFill>
                <a:schemeClr val="dk1"/>
              </a:solidFill>
              <a:latin typeface="Montserrat"/>
              <a:ea typeface="Montserrat"/>
              <a:cs typeface="Montserrat"/>
              <a:sym typeface="Montserrat"/>
            </a:endParaRPr>
          </a:p>
        </p:txBody>
      </p:sp>
      <p:sp>
        <p:nvSpPr>
          <p:cNvPr id="475" name="Google Shape;475;g3eaf5b54de6_1_2"/>
          <p:cNvSpPr/>
          <p:nvPr/>
        </p:nvSpPr>
        <p:spPr>
          <a:xfrm>
            <a:off x="9485376" y="3486912"/>
            <a:ext cx="146304" cy="73152"/>
          </a:xfrm>
          <a:prstGeom prst="rect">
            <a:avLst/>
          </a:prstGeom>
          <a:solidFill>
            <a:srgbClr val="0E2841"/>
          </a:solidFill>
          <a:ln cap="flat" cmpd="sng" w="12700">
            <a:solidFill>
              <a:srgbClr val="0E284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6" name="Google Shape;476;g3eaf5b54de6_1_2"/>
          <p:cNvSpPr/>
          <p:nvPr/>
        </p:nvSpPr>
        <p:spPr>
          <a:xfrm>
            <a:off x="9582912" y="3218688"/>
            <a:ext cx="2218944" cy="609600"/>
          </a:xfrm>
          <a:prstGeom prst="rect">
            <a:avLst/>
          </a:prstGeom>
          <a:solidFill>
            <a:srgbClr val="0E2841"/>
          </a:solidFill>
          <a:ln cap="flat" cmpd="sng" w="12700">
            <a:solidFill>
              <a:srgbClr val="0E284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7" name="Google Shape;477;g3eaf5b54de6_1_2"/>
          <p:cNvSpPr/>
          <p:nvPr/>
        </p:nvSpPr>
        <p:spPr>
          <a:xfrm>
            <a:off x="9643872" y="3267456"/>
            <a:ext cx="2097024" cy="29260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Montserrat"/>
                <a:ea typeface="Montserrat"/>
                <a:cs typeface="Montserrat"/>
                <a:sym typeface="Montserrat"/>
              </a:rPr>
              <a:t>Need for Governance</a:t>
            </a:r>
            <a:endParaRPr i="0" sz="1100" u="none" cap="none" strike="noStrike">
              <a:solidFill>
                <a:schemeClr val="dk1"/>
              </a:solidFill>
              <a:latin typeface="Montserrat"/>
              <a:ea typeface="Montserrat"/>
              <a:cs typeface="Montserrat"/>
              <a:sym typeface="Montserrat"/>
            </a:endParaRPr>
          </a:p>
        </p:txBody>
      </p:sp>
      <p:sp>
        <p:nvSpPr>
          <p:cNvPr id="478" name="Google Shape;478;g3eaf5b54de6_1_2"/>
          <p:cNvSpPr/>
          <p:nvPr/>
        </p:nvSpPr>
        <p:spPr>
          <a:xfrm>
            <a:off x="9643872" y="3572256"/>
            <a:ext cx="2097024" cy="21945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DDDDDD"/>
              </a:buClr>
              <a:buSzPts val="900"/>
              <a:buFont typeface="Calibri"/>
              <a:buNone/>
            </a:pPr>
            <a:r>
              <a:rPr i="1" lang="en-US" sz="1000" u="none" cap="none" strike="noStrike">
                <a:solidFill>
                  <a:srgbClr val="DDDDDD"/>
                </a:solidFill>
                <a:latin typeface="Montserrat"/>
                <a:ea typeface="Montserrat"/>
                <a:cs typeface="Montserrat"/>
                <a:sym typeface="Montserrat"/>
              </a:rPr>
              <a:t>Before scale, not after</a:t>
            </a:r>
            <a:endParaRPr i="0" sz="1000" u="none" cap="none" strike="noStrike">
              <a:solidFill>
                <a:schemeClr val="dk1"/>
              </a:solidFill>
              <a:latin typeface="Montserrat"/>
              <a:ea typeface="Montserrat"/>
              <a:cs typeface="Montserrat"/>
              <a:sym typeface="Montserrat"/>
            </a:endParaRPr>
          </a:p>
        </p:txBody>
      </p:sp>
      <p:sp>
        <p:nvSpPr>
          <p:cNvPr id="479" name="Google Shape;479;g3eaf5b54de6_1_2"/>
          <p:cNvSpPr/>
          <p:nvPr/>
        </p:nvSpPr>
        <p:spPr>
          <a:xfrm>
            <a:off x="219456" y="3950208"/>
            <a:ext cx="11753088" cy="219456"/>
          </a:xfrm>
          <a:prstGeom prst="rect">
            <a:avLst/>
          </a:prstGeom>
          <a:solidFill>
            <a:srgbClr val="0E2841">
              <a:alpha val="12156"/>
            </a:srgbClr>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0" name="Google Shape;480;g3eaf5b54de6_1_2"/>
          <p:cNvSpPr/>
          <p:nvPr/>
        </p:nvSpPr>
        <p:spPr>
          <a:xfrm>
            <a:off x="219456" y="3950208"/>
            <a:ext cx="11753088" cy="21945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E2841"/>
              </a:buClr>
              <a:buSzPts val="900"/>
              <a:buFont typeface="Arial"/>
              <a:buNone/>
            </a:pPr>
            <a:r>
              <a:rPr b="1" i="0" lang="en-US" sz="900" u="none" cap="none" strike="noStrike">
                <a:solidFill>
                  <a:srgbClr val="0E2841"/>
                </a:solidFill>
                <a:latin typeface="Montserrat"/>
                <a:ea typeface="Montserrat"/>
                <a:cs typeface="Montserrat"/>
                <a:sym typeface="Montserrat"/>
              </a:rPr>
              <a:t>USE CASE IN PRACTICE  —  VIBE CODING TOOLS &amp; INTERNAL CHATBOTS</a:t>
            </a:r>
            <a:endParaRPr i="0" sz="900" u="none" cap="none" strike="noStrike">
              <a:solidFill>
                <a:schemeClr val="dk1"/>
              </a:solidFill>
              <a:latin typeface="Montserrat"/>
              <a:ea typeface="Montserrat"/>
              <a:cs typeface="Montserrat"/>
              <a:sym typeface="Montserrat"/>
            </a:endParaRPr>
          </a:p>
        </p:txBody>
      </p:sp>
      <p:sp>
        <p:nvSpPr>
          <p:cNvPr id="481" name="Google Shape;481;g3eaf5b54de6_1_2"/>
          <p:cNvSpPr/>
          <p:nvPr/>
        </p:nvSpPr>
        <p:spPr>
          <a:xfrm>
            <a:off x="219456" y="4169664"/>
            <a:ext cx="2218944" cy="1889760"/>
          </a:xfrm>
          <a:prstGeom prst="rect">
            <a:avLst/>
          </a:prstGeom>
          <a:solidFill>
            <a:srgbClr val="F0FAF0"/>
          </a:solidFill>
          <a:ln cap="flat" cmpd="sng" w="9525">
            <a:solidFill>
              <a:srgbClr val="4EA72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2" name="Google Shape;482;g3eaf5b54de6_1_2"/>
          <p:cNvSpPr/>
          <p:nvPr/>
        </p:nvSpPr>
        <p:spPr>
          <a:xfrm>
            <a:off x="304800" y="4255008"/>
            <a:ext cx="2072640" cy="24384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4EA72E"/>
              </a:buClr>
              <a:buSzPts val="900"/>
              <a:buFont typeface="Arial"/>
              <a:buNone/>
            </a:pPr>
            <a:r>
              <a:rPr b="1" i="0" lang="en-US" sz="900" u="none" cap="none" strike="noStrike">
                <a:solidFill>
                  <a:srgbClr val="4EA72E"/>
                </a:solidFill>
                <a:latin typeface="Montserrat"/>
                <a:ea typeface="Montserrat"/>
                <a:cs typeface="Montserrat"/>
                <a:sym typeface="Montserrat"/>
              </a:rPr>
              <a:t>ADOPTION</a:t>
            </a:r>
            <a:endParaRPr i="0" sz="900" u="none" cap="none" strike="noStrike">
              <a:solidFill>
                <a:schemeClr val="dk1"/>
              </a:solidFill>
              <a:latin typeface="Montserrat"/>
              <a:ea typeface="Montserrat"/>
              <a:cs typeface="Montserrat"/>
              <a:sym typeface="Montserrat"/>
            </a:endParaRPr>
          </a:p>
        </p:txBody>
      </p:sp>
      <p:sp>
        <p:nvSpPr>
          <p:cNvPr id="483" name="Google Shape;483;g3eaf5b54de6_1_2"/>
          <p:cNvSpPr/>
          <p:nvPr/>
        </p:nvSpPr>
        <p:spPr>
          <a:xfrm>
            <a:off x="304800" y="4535424"/>
            <a:ext cx="2072640" cy="115824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Developer adopts Cursor</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or Copilot. Chatbot</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deployed on SharePoint.</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No approval process.</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No security review.</a:t>
            </a:r>
            <a:endParaRPr i="0" sz="1000" u="none" cap="none" strike="noStrike">
              <a:solidFill>
                <a:schemeClr val="dk1"/>
              </a:solidFill>
              <a:latin typeface="Montserrat"/>
              <a:ea typeface="Montserrat"/>
              <a:cs typeface="Montserrat"/>
              <a:sym typeface="Montserrat"/>
            </a:endParaRPr>
          </a:p>
        </p:txBody>
      </p:sp>
      <p:sp>
        <p:nvSpPr>
          <p:cNvPr id="484" name="Google Shape;484;g3eaf5b54de6_1_2"/>
          <p:cNvSpPr/>
          <p:nvPr/>
        </p:nvSpPr>
        <p:spPr>
          <a:xfrm>
            <a:off x="304800" y="5718048"/>
            <a:ext cx="2072640" cy="26822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4EA72E"/>
              </a:buClr>
              <a:buSzPts val="1000"/>
              <a:buFont typeface="Calibri"/>
              <a:buNone/>
            </a:pPr>
            <a:r>
              <a:rPr b="1" i="1" lang="en-US" sz="1000" u="none" cap="none" strike="noStrike">
                <a:solidFill>
                  <a:srgbClr val="4EA72E"/>
                </a:solidFill>
                <a:latin typeface="Montserrat"/>
                <a:ea typeface="Montserrat"/>
                <a:cs typeface="Montserrat"/>
                <a:sym typeface="Montserrat"/>
              </a:rPr>
              <a:t>Done in a week.</a:t>
            </a:r>
            <a:endParaRPr i="0" sz="1000" u="none" cap="none" strike="noStrike">
              <a:solidFill>
                <a:schemeClr val="dk1"/>
              </a:solidFill>
              <a:latin typeface="Montserrat"/>
              <a:ea typeface="Montserrat"/>
              <a:cs typeface="Montserrat"/>
              <a:sym typeface="Montserrat"/>
            </a:endParaRPr>
          </a:p>
        </p:txBody>
      </p:sp>
      <p:sp>
        <p:nvSpPr>
          <p:cNvPr id="485" name="Google Shape;485;g3eaf5b54de6_1_2"/>
          <p:cNvSpPr/>
          <p:nvPr/>
        </p:nvSpPr>
        <p:spPr>
          <a:xfrm>
            <a:off x="2560320" y="4169664"/>
            <a:ext cx="2218944" cy="1889760"/>
          </a:xfrm>
          <a:prstGeom prst="rect">
            <a:avLst/>
          </a:prstGeom>
          <a:solidFill>
            <a:srgbClr val="E6F1FB"/>
          </a:solidFill>
          <a:ln cap="flat" cmpd="sng" w="9525">
            <a:solidFill>
              <a:srgbClr val="15608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6" name="Google Shape;486;g3eaf5b54de6_1_2"/>
          <p:cNvSpPr/>
          <p:nvPr/>
        </p:nvSpPr>
        <p:spPr>
          <a:xfrm>
            <a:off x="2645664" y="4255008"/>
            <a:ext cx="2072640" cy="24384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56082"/>
              </a:buClr>
              <a:buSzPts val="900"/>
              <a:buFont typeface="Arial"/>
              <a:buNone/>
            </a:pPr>
            <a:r>
              <a:rPr b="1" i="0" lang="en-US" sz="900" u="none" cap="none" strike="noStrike">
                <a:solidFill>
                  <a:srgbClr val="156082"/>
                </a:solidFill>
                <a:latin typeface="Montserrat"/>
                <a:ea typeface="Montserrat"/>
                <a:cs typeface="Montserrat"/>
                <a:sym typeface="Montserrat"/>
              </a:rPr>
              <a:t>DECISIONS</a:t>
            </a:r>
            <a:endParaRPr i="0" sz="900" u="none" cap="none" strike="noStrike">
              <a:solidFill>
                <a:schemeClr val="dk1"/>
              </a:solidFill>
              <a:latin typeface="Montserrat"/>
              <a:ea typeface="Montserrat"/>
              <a:cs typeface="Montserrat"/>
              <a:sym typeface="Montserrat"/>
            </a:endParaRPr>
          </a:p>
        </p:txBody>
      </p:sp>
      <p:sp>
        <p:nvSpPr>
          <p:cNvPr id="487" name="Google Shape;487;g3eaf5b54de6_1_2"/>
          <p:cNvSpPr/>
          <p:nvPr/>
        </p:nvSpPr>
        <p:spPr>
          <a:xfrm>
            <a:off x="2645664" y="4535424"/>
            <a:ext cx="2072640" cy="115824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AI suggests code.</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Employees treat chatbot</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answers as authoritative.</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Human review drops</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out of the loop.</a:t>
            </a:r>
            <a:endParaRPr i="0" sz="1000" u="none" cap="none" strike="noStrike">
              <a:solidFill>
                <a:schemeClr val="dk1"/>
              </a:solidFill>
              <a:latin typeface="Montserrat"/>
              <a:ea typeface="Montserrat"/>
              <a:cs typeface="Montserrat"/>
              <a:sym typeface="Montserrat"/>
            </a:endParaRPr>
          </a:p>
        </p:txBody>
      </p:sp>
      <p:sp>
        <p:nvSpPr>
          <p:cNvPr id="488" name="Google Shape;488;g3eaf5b54de6_1_2"/>
          <p:cNvSpPr/>
          <p:nvPr/>
        </p:nvSpPr>
        <p:spPr>
          <a:xfrm>
            <a:off x="2645664" y="5718048"/>
            <a:ext cx="2072640" cy="26822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56082"/>
              </a:buClr>
              <a:buSzPts val="1000"/>
              <a:buFont typeface="Calibri"/>
              <a:buNone/>
            </a:pPr>
            <a:r>
              <a:rPr b="1" i="1" lang="en-US" sz="1000" u="none" cap="none" strike="noStrike">
                <a:solidFill>
                  <a:srgbClr val="156082"/>
                </a:solidFill>
                <a:latin typeface="Montserrat"/>
                <a:ea typeface="Montserrat"/>
                <a:cs typeface="Montserrat"/>
                <a:sym typeface="Montserrat"/>
              </a:rPr>
              <a:t>No oversight gate.</a:t>
            </a:r>
            <a:endParaRPr i="0" sz="1000" u="none" cap="none" strike="noStrike">
              <a:solidFill>
                <a:schemeClr val="dk1"/>
              </a:solidFill>
              <a:latin typeface="Montserrat"/>
              <a:ea typeface="Montserrat"/>
              <a:cs typeface="Montserrat"/>
              <a:sym typeface="Montserrat"/>
            </a:endParaRPr>
          </a:p>
        </p:txBody>
      </p:sp>
      <p:sp>
        <p:nvSpPr>
          <p:cNvPr id="489" name="Google Shape;489;g3eaf5b54de6_1_2"/>
          <p:cNvSpPr/>
          <p:nvPr/>
        </p:nvSpPr>
        <p:spPr>
          <a:xfrm>
            <a:off x="4901184" y="4169664"/>
            <a:ext cx="2218944" cy="1889760"/>
          </a:xfrm>
          <a:prstGeom prst="rect">
            <a:avLst/>
          </a:prstGeom>
          <a:solidFill>
            <a:srgbClr val="FFF4EE"/>
          </a:solidFill>
          <a:ln cap="flat" cmpd="sng" w="9525">
            <a:solidFill>
              <a:srgbClr val="E9713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0" name="Google Shape;490;g3eaf5b54de6_1_2"/>
          <p:cNvSpPr/>
          <p:nvPr/>
        </p:nvSpPr>
        <p:spPr>
          <a:xfrm>
            <a:off x="4986528" y="4255008"/>
            <a:ext cx="2072640" cy="24384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E97132"/>
              </a:buClr>
              <a:buSzPts val="900"/>
              <a:buFont typeface="Arial"/>
              <a:buNone/>
            </a:pPr>
            <a:r>
              <a:rPr b="1" i="0" lang="en-US" sz="900" u="none" cap="none" strike="noStrike">
                <a:solidFill>
                  <a:srgbClr val="E97132"/>
                </a:solidFill>
                <a:latin typeface="Montserrat"/>
                <a:ea typeface="Montserrat"/>
                <a:cs typeface="Montserrat"/>
                <a:sym typeface="Montserrat"/>
              </a:rPr>
              <a:t>EXPOSURE</a:t>
            </a:r>
            <a:endParaRPr i="0" sz="900" u="none" cap="none" strike="noStrike">
              <a:solidFill>
                <a:schemeClr val="dk1"/>
              </a:solidFill>
              <a:latin typeface="Montserrat"/>
              <a:ea typeface="Montserrat"/>
              <a:cs typeface="Montserrat"/>
              <a:sym typeface="Montserrat"/>
            </a:endParaRPr>
          </a:p>
        </p:txBody>
      </p:sp>
      <p:sp>
        <p:nvSpPr>
          <p:cNvPr id="491" name="Google Shape;491;g3eaf5b54de6_1_2"/>
          <p:cNvSpPr/>
          <p:nvPr/>
        </p:nvSpPr>
        <p:spPr>
          <a:xfrm>
            <a:off x="4986528" y="4535424"/>
            <a:ext cx="2072640" cy="115824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Codebase sent to third-</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party model — API keys,</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proprietary logic included.</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Chatbot surfaces M&amp;A docs</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alongside HR policies.</a:t>
            </a:r>
            <a:endParaRPr i="0" sz="1000" u="none" cap="none" strike="noStrike">
              <a:solidFill>
                <a:schemeClr val="dk1"/>
              </a:solidFill>
              <a:latin typeface="Montserrat"/>
              <a:ea typeface="Montserrat"/>
              <a:cs typeface="Montserrat"/>
              <a:sym typeface="Montserrat"/>
            </a:endParaRPr>
          </a:p>
        </p:txBody>
      </p:sp>
      <p:sp>
        <p:nvSpPr>
          <p:cNvPr id="492" name="Google Shape;492;g3eaf5b54de6_1_2"/>
          <p:cNvSpPr/>
          <p:nvPr/>
        </p:nvSpPr>
        <p:spPr>
          <a:xfrm>
            <a:off x="4986528" y="5718048"/>
            <a:ext cx="2072640" cy="26822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E97132"/>
              </a:buClr>
              <a:buSzPts val="1000"/>
              <a:buFont typeface="Calibri"/>
              <a:buNone/>
            </a:pPr>
            <a:r>
              <a:rPr b="1" i="1" lang="en-US" sz="1000" u="none" cap="none" strike="noStrike">
                <a:solidFill>
                  <a:srgbClr val="E97132"/>
                </a:solidFill>
                <a:latin typeface="Montserrat"/>
                <a:ea typeface="Montserrat"/>
                <a:cs typeface="Montserrat"/>
                <a:sym typeface="Montserrat"/>
              </a:rPr>
              <a:t>Unclassified data exposed.</a:t>
            </a:r>
            <a:endParaRPr i="0" sz="1000" u="none" cap="none" strike="noStrike">
              <a:solidFill>
                <a:schemeClr val="dk1"/>
              </a:solidFill>
              <a:latin typeface="Montserrat"/>
              <a:ea typeface="Montserrat"/>
              <a:cs typeface="Montserrat"/>
              <a:sym typeface="Montserrat"/>
            </a:endParaRPr>
          </a:p>
        </p:txBody>
      </p:sp>
      <p:sp>
        <p:nvSpPr>
          <p:cNvPr id="493" name="Google Shape;493;g3eaf5b54de6_1_2"/>
          <p:cNvSpPr/>
          <p:nvPr/>
        </p:nvSpPr>
        <p:spPr>
          <a:xfrm>
            <a:off x="7242048" y="4169664"/>
            <a:ext cx="2218944" cy="1889760"/>
          </a:xfrm>
          <a:prstGeom prst="rect">
            <a:avLst/>
          </a:prstGeom>
          <a:solidFill>
            <a:srgbClr val="FBEAF0"/>
          </a:solidFill>
          <a:ln cap="flat" cmpd="sng" w="9525">
            <a:solidFill>
              <a:srgbClr val="6D2E4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4" name="Google Shape;494;g3eaf5b54de6_1_2"/>
          <p:cNvSpPr/>
          <p:nvPr/>
        </p:nvSpPr>
        <p:spPr>
          <a:xfrm>
            <a:off x="7327392" y="4255008"/>
            <a:ext cx="2072640" cy="24384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D2E46"/>
              </a:buClr>
              <a:buSzPts val="900"/>
              <a:buFont typeface="Arial"/>
              <a:buNone/>
            </a:pPr>
            <a:r>
              <a:rPr b="1" i="0" lang="en-US" sz="900" u="none" cap="none" strike="noStrike">
                <a:solidFill>
                  <a:srgbClr val="6D2E46"/>
                </a:solidFill>
                <a:latin typeface="Montserrat"/>
                <a:ea typeface="Montserrat"/>
                <a:cs typeface="Montserrat"/>
                <a:sym typeface="Montserrat"/>
              </a:rPr>
              <a:t>RISK</a:t>
            </a:r>
            <a:endParaRPr i="0" sz="900" u="none" cap="none" strike="noStrike">
              <a:solidFill>
                <a:schemeClr val="dk1"/>
              </a:solidFill>
              <a:latin typeface="Montserrat"/>
              <a:ea typeface="Montserrat"/>
              <a:cs typeface="Montserrat"/>
              <a:sym typeface="Montserrat"/>
            </a:endParaRPr>
          </a:p>
        </p:txBody>
      </p:sp>
      <p:sp>
        <p:nvSpPr>
          <p:cNvPr id="495" name="Google Shape;495;g3eaf5b54de6_1_2"/>
          <p:cNvSpPr/>
          <p:nvPr/>
        </p:nvSpPr>
        <p:spPr>
          <a:xfrm>
            <a:off x="7327392" y="4535424"/>
            <a:ext cx="2072640" cy="115824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IP leaked to model</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provider. Restricted data</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accessed by unauthorized</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users. Vulnerable AI code</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shipped to production.</a:t>
            </a:r>
            <a:endParaRPr i="0" sz="1000" u="none" cap="none" strike="noStrike">
              <a:solidFill>
                <a:schemeClr val="dk1"/>
              </a:solidFill>
              <a:latin typeface="Montserrat"/>
              <a:ea typeface="Montserrat"/>
              <a:cs typeface="Montserrat"/>
              <a:sym typeface="Montserrat"/>
            </a:endParaRPr>
          </a:p>
        </p:txBody>
      </p:sp>
      <p:sp>
        <p:nvSpPr>
          <p:cNvPr id="496" name="Google Shape;496;g3eaf5b54de6_1_2"/>
          <p:cNvSpPr/>
          <p:nvPr/>
        </p:nvSpPr>
        <p:spPr>
          <a:xfrm>
            <a:off x="7327392" y="5718048"/>
            <a:ext cx="2072640" cy="26822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D2E46"/>
              </a:buClr>
              <a:buSzPts val="1000"/>
              <a:buFont typeface="Calibri"/>
              <a:buNone/>
            </a:pPr>
            <a:r>
              <a:rPr b="1" i="1" lang="en-US" sz="1000" u="none" cap="none" strike="noStrike">
                <a:solidFill>
                  <a:srgbClr val="6D2E46"/>
                </a:solidFill>
                <a:latin typeface="Montserrat"/>
                <a:ea typeface="Montserrat"/>
                <a:cs typeface="Montserrat"/>
                <a:sym typeface="Montserrat"/>
              </a:rPr>
              <a:t>Accumulated invisibly.</a:t>
            </a:r>
            <a:endParaRPr i="0" sz="1000" u="none" cap="none" strike="noStrike">
              <a:solidFill>
                <a:schemeClr val="dk1"/>
              </a:solidFill>
              <a:latin typeface="Montserrat"/>
              <a:ea typeface="Montserrat"/>
              <a:cs typeface="Montserrat"/>
              <a:sym typeface="Montserrat"/>
            </a:endParaRPr>
          </a:p>
        </p:txBody>
      </p:sp>
      <p:sp>
        <p:nvSpPr>
          <p:cNvPr id="497" name="Google Shape;497;g3eaf5b54de6_1_2"/>
          <p:cNvSpPr/>
          <p:nvPr/>
        </p:nvSpPr>
        <p:spPr>
          <a:xfrm>
            <a:off x="9582912" y="4169664"/>
            <a:ext cx="2218944" cy="1889760"/>
          </a:xfrm>
          <a:prstGeom prst="rect">
            <a:avLst/>
          </a:prstGeom>
          <a:solidFill>
            <a:srgbClr val="F4F4F4"/>
          </a:solidFill>
          <a:ln cap="flat" cmpd="sng" w="9525">
            <a:solidFill>
              <a:srgbClr val="0E284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8" name="Google Shape;498;g3eaf5b54de6_1_2"/>
          <p:cNvSpPr/>
          <p:nvPr/>
        </p:nvSpPr>
        <p:spPr>
          <a:xfrm>
            <a:off x="9668256" y="4255008"/>
            <a:ext cx="2072640" cy="24384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E2841"/>
              </a:buClr>
              <a:buSzPts val="900"/>
              <a:buFont typeface="Arial"/>
              <a:buNone/>
            </a:pPr>
            <a:r>
              <a:rPr b="1" i="0" lang="en-US" sz="900" u="none" cap="none" strike="noStrike">
                <a:solidFill>
                  <a:srgbClr val="0E2841"/>
                </a:solidFill>
                <a:latin typeface="Montserrat"/>
                <a:ea typeface="Montserrat"/>
                <a:cs typeface="Montserrat"/>
                <a:sym typeface="Montserrat"/>
              </a:rPr>
              <a:t>WHAT WAS NEEDED</a:t>
            </a:r>
            <a:endParaRPr i="0" sz="900" u="none" cap="none" strike="noStrike">
              <a:solidFill>
                <a:schemeClr val="dk1"/>
              </a:solidFill>
              <a:latin typeface="Montserrat"/>
              <a:ea typeface="Montserrat"/>
              <a:cs typeface="Montserrat"/>
              <a:sym typeface="Montserrat"/>
            </a:endParaRPr>
          </a:p>
        </p:txBody>
      </p:sp>
      <p:sp>
        <p:nvSpPr>
          <p:cNvPr id="499" name="Google Shape;499;g3eaf5b54de6_1_2"/>
          <p:cNvSpPr/>
          <p:nvPr/>
        </p:nvSpPr>
        <p:spPr>
          <a:xfrm>
            <a:off x="9668256" y="4535424"/>
            <a:ext cx="2072640" cy="115824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AI intake &amp; approval</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process. Data classification</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before chatbot connection.</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Policy on external model</a:t>
            </a:r>
            <a:endParaRPr i="0" sz="1000" u="none" cap="none" strike="noStrike">
              <a:solidFill>
                <a:schemeClr val="dk1"/>
              </a:solidFill>
              <a:latin typeface="Montserrat"/>
              <a:ea typeface="Montserrat"/>
              <a:cs typeface="Montserrat"/>
              <a:sym typeface="Montserrat"/>
            </a:endParaRPr>
          </a:p>
          <a:p>
            <a:pPr indent="0" lvl="0" marL="0" marR="0" rtl="0" algn="ctr">
              <a:spcBef>
                <a:spcPts val="0"/>
              </a:spcBef>
              <a:spcAft>
                <a:spcPts val="0"/>
              </a:spcAft>
              <a:buClr>
                <a:srgbClr val="1A1A1A"/>
              </a:buClr>
              <a:buSzPts val="1000"/>
              <a:buFont typeface="Calibri"/>
              <a:buNone/>
            </a:pPr>
            <a:r>
              <a:rPr i="0" lang="en-US" sz="1000" u="none" cap="none" strike="noStrike">
                <a:solidFill>
                  <a:srgbClr val="1A1A1A"/>
                </a:solidFill>
                <a:latin typeface="Montserrat"/>
                <a:ea typeface="Montserrat"/>
                <a:cs typeface="Montserrat"/>
                <a:sym typeface="Montserrat"/>
              </a:rPr>
              <a:t>data exposure.</a:t>
            </a:r>
            <a:endParaRPr i="0" sz="1000" u="none" cap="none" strike="noStrike">
              <a:solidFill>
                <a:schemeClr val="dk1"/>
              </a:solidFill>
              <a:latin typeface="Montserrat"/>
              <a:ea typeface="Montserrat"/>
              <a:cs typeface="Montserrat"/>
              <a:sym typeface="Montserrat"/>
            </a:endParaRPr>
          </a:p>
        </p:txBody>
      </p:sp>
      <p:sp>
        <p:nvSpPr>
          <p:cNvPr id="500" name="Google Shape;500;g3eaf5b54de6_1_2"/>
          <p:cNvSpPr/>
          <p:nvPr/>
        </p:nvSpPr>
        <p:spPr>
          <a:xfrm>
            <a:off x="9668256" y="5718048"/>
            <a:ext cx="2072640" cy="26822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E2841"/>
              </a:buClr>
              <a:buSzPts val="1000"/>
              <a:buFont typeface="Calibri"/>
              <a:buNone/>
            </a:pPr>
            <a:r>
              <a:rPr b="1" i="1" lang="en-US" sz="1000" u="none" cap="none" strike="noStrike">
                <a:solidFill>
                  <a:srgbClr val="0E2841"/>
                </a:solidFill>
                <a:latin typeface="Montserrat"/>
                <a:ea typeface="Montserrat"/>
                <a:cs typeface="Montserrat"/>
                <a:sym typeface="Montserrat"/>
              </a:rPr>
              <a:t>None existed.</a:t>
            </a:r>
            <a:endParaRPr i="0" sz="1000" u="none" cap="none" strike="noStrike">
              <a:solidFill>
                <a:schemeClr val="dk1"/>
              </a:solidFill>
              <a:latin typeface="Montserrat"/>
              <a:ea typeface="Montserrat"/>
              <a:cs typeface="Montserrat"/>
              <a:sym typeface="Montserrat"/>
            </a:endParaRPr>
          </a:p>
        </p:txBody>
      </p:sp>
      <p:sp>
        <p:nvSpPr>
          <p:cNvPr id="501" name="Google Shape;501;g3eaf5b54de6_1_2"/>
          <p:cNvSpPr/>
          <p:nvPr/>
        </p:nvSpPr>
        <p:spPr>
          <a:xfrm>
            <a:off x="219456" y="6144768"/>
            <a:ext cx="11753088" cy="24384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555555"/>
              </a:buClr>
              <a:buSzPts val="1100"/>
              <a:buFont typeface="Calibri"/>
              <a:buNone/>
            </a:pPr>
            <a:r>
              <a:rPr i="1" lang="en-US" sz="1100" u="none" cap="none" strike="noStrike">
                <a:solidFill>
                  <a:srgbClr val="555555"/>
                </a:solidFill>
                <a:latin typeface="Montserrat"/>
                <a:ea typeface="Montserrat"/>
                <a:cs typeface="Montserrat"/>
                <a:sym typeface="Montserrat"/>
              </a:rPr>
              <a:t>The challenge is no longer whether organizations will adopt AI. The challenge is governing the resulting risks.</a:t>
            </a:r>
            <a:endParaRPr i="0" sz="1100" u="none" cap="none" strike="noStrike">
              <a:solidFill>
                <a:schemeClr val="dk1"/>
              </a:solidFill>
              <a:latin typeface="Montserrat"/>
              <a:ea typeface="Montserrat"/>
              <a:cs typeface="Montserrat"/>
              <a:sym typeface="Montserrat"/>
            </a:endParaRPr>
          </a:p>
        </p:txBody>
      </p:sp>
      <p:sp>
        <p:nvSpPr>
          <p:cNvPr id="502" name="Google Shape;502;g3eaf5b54de6_1_2"/>
          <p:cNvSpPr/>
          <p:nvPr/>
        </p:nvSpPr>
        <p:spPr>
          <a:xfrm>
            <a:off x="182880" y="6437376"/>
            <a:ext cx="731520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000"/>
              <a:buFont typeface="Arial"/>
              <a:buNone/>
            </a:pPr>
            <a:r>
              <a:rPr b="1" i="0" lang="en-US" sz="1000" u="none" cap="none" strike="noStrike">
                <a:solidFill>
                  <a:srgbClr val="FFFFFF"/>
                </a:solidFill>
                <a:latin typeface="Montserrat"/>
                <a:ea typeface="Montserrat"/>
                <a:cs typeface="Montserrat"/>
                <a:sym typeface="Montserrat"/>
              </a:rPr>
              <a:t>T200 AI Leadership &amp; Governance Series  |  2026</a:t>
            </a:r>
            <a:endParaRPr i="0" sz="1000" u="none" cap="none" strike="noStrike">
              <a:solidFill>
                <a:schemeClr val="dk1"/>
              </a:solidFill>
              <a:latin typeface="Montserrat"/>
              <a:ea typeface="Montserrat"/>
              <a:cs typeface="Montserrat"/>
              <a:sym typeface="Montserrat"/>
            </a:endParaRPr>
          </a:p>
        </p:txBody>
      </p:sp>
      <p:sp>
        <p:nvSpPr>
          <p:cNvPr id="503" name="Google Shape;503;g3eaf5b54de6_1_2"/>
          <p:cNvSpPr/>
          <p:nvPr/>
        </p:nvSpPr>
        <p:spPr>
          <a:xfrm>
            <a:off x="9144000" y="6437376"/>
            <a:ext cx="2865120" cy="268224"/>
          </a:xfrm>
          <a:prstGeom prst="rect">
            <a:avLst/>
          </a:prstGeom>
          <a:noFill/>
          <a:ln>
            <a:noFill/>
          </a:ln>
        </p:spPr>
        <p:txBody>
          <a:bodyPr anchorCtr="0" anchor="ctr" bIns="60925" lIns="121900" spcFirstLastPara="1" rIns="121900" wrap="square" tIns="60925">
            <a:noAutofit/>
          </a:bodyPr>
          <a:lstStyle/>
          <a:p>
            <a:pPr indent="0" lvl="0" marL="0" marR="0" rtl="0" algn="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www.t200.org</a:t>
            </a:r>
            <a:endParaRPr b="0" i="0" sz="1000" u="none" cap="none" strike="noStrike">
              <a:solidFill>
                <a:schemeClr val="dk1"/>
              </a:solidFill>
              <a:latin typeface="Calibri"/>
              <a:ea typeface="Calibri"/>
              <a:cs typeface="Calibri"/>
              <a:sym typeface="Calibri"/>
            </a:endParaRPr>
          </a:p>
        </p:txBody>
      </p:sp>
      <p:sp>
        <p:nvSpPr>
          <p:cNvPr id="504" name="Google Shape;504;g3eaf5b54de6_1_2"/>
          <p:cNvSpPr/>
          <p:nvPr/>
        </p:nvSpPr>
        <p:spPr>
          <a:xfrm>
            <a:off x="365760" y="85344"/>
            <a:ext cx="10363200" cy="26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1300"/>
              <a:buFont typeface="Montserrat"/>
              <a:buNone/>
            </a:pPr>
            <a:r>
              <a:rPr b="1" lang="en-US" sz="1300">
                <a:solidFill>
                  <a:srgbClr val="E97132"/>
                </a:solidFill>
                <a:latin typeface="Montserrat"/>
                <a:ea typeface="Montserrat"/>
                <a:cs typeface="Montserrat"/>
                <a:sym typeface="Montserrat"/>
              </a:rPr>
              <a:t>TOPIC 2 OF 4  |  RISK &amp; REGULATORY LANDSCAPE</a:t>
            </a:r>
            <a:endParaRPr sz="1300">
              <a:solidFill>
                <a:schemeClr val="dk1"/>
              </a:solidFill>
              <a:latin typeface="Calibri"/>
              <a:ea typeface="Calibri"/>
              <a:cs typeface="Calibri"/>
              <a:sym typeface="Calibri"/>
            </a:endParaRPr>
          </a:p>
        </p:txBody>
      </p:sp>
      <p:pic>
        <p:nvPicPr>
          <p:cNvPr descr="preencoded.png" id="505" name="Google Shape;505;g3eaf5b54de6_1_2"/>
          <p:cNvPicPr preferRelativeResize="0"/>
          <p:nvPr/>
        </p:nvPicPr>
        <p:blipFill rotWithShape="1">
          <a:blip r:embed="rId3">
            <a:alphaModFix/>
          </a:blip>
          <a:srcRect b="0" l="0" r="0" t="0"/>
          <a:stretch/>
        </p:blipFill>
        <p:spPr>
          <a:xfrm>
            <a:off x="11033760" y="0"/>
            <a:ext cx="1036319" cy="1036321"/>
          </a:xfrm>
          <a:prstGeom prst="rect">
            <a:avLst/>
          </a:prstGeom>
          <a:noFill/>
          <a:ln>
            <a:noFill/>
          </a:ln>
        </p:spPr>
      </p:pic>
      <p:sp>
        <p:nvSpPr>
          <p:cNvPr id="506" name="Google Shape;506;g3eaf5b54de6_1_2"/>
          <p:cNvSpPr/>
          <p:nvPr/>
        </p:nvSpPr>
        <p:spPr>
          <a:xfrm>
            <a:off x="0" y="6368133"/>
            <a:ext cx="12216300" cy="489900"/>
          </a:xfrm>
          <a:prstGeom prst="round2SameRect">
            <a:avLst>
              <a:gd fmla="val 47728" name="adj1"/>
              <a:gd fmla="val 0" name="adj2"/>
            </a:avLst>
          </a:prstGeom>
          <a:solidFill>
            <a:srgbClr val="9BBB59"/>
          </a:solidFill>
          <a:ln cap="flat" cmpd="sng" w="9525">
            <a:solidFill>
              <a:srgbClr val="9BBB5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cap="none" strike="noStrike">
                <a:solidFill>
                  <a:schemeClr val="lt1"/>
                </a:solidFill>
                <a:latin typeface="Montserrat"/>
                <a:ea typeface="Montserrat"/>
                <a:cs typeface="Montserrat"/>
                <a:sym typeface="Montserrat"/>
              </a:rPr>
              <a:t>T200 AI Leadership &amp; Governance Series  |  2026								www.t200.org</a:t>
            </a:r>
            <a:endParaRPr b="1" i="0" sz="10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1" name="Shape 511"/>
        <p:cNvGrpSpPr/>
        <p:nvPr/>
      </p:nvGrpSpPr>
      <p:grpSpPr>
        <a:xfrm>
          <a:off x="0" y="0"/>
          <a:ext cx="0" cy="0"/>
          <a:chOff x="0" y="0"/>
          <a:chExt cx="0" cy="0"/>
        </a:xfrm>
      </p:grpSpPr>
      <p:sp>
        <p:nvSpPr>
          <p:cNvPr id="512" name="Google Shape;512;g3eaf5b54de6_3_46"/>
          <p:cNvSpPr/>
          <p:nvPr/>
        </p:nvSpPr>
        <p:spPr>
          <a:xfrm>
            <a:off x="182880" y="6437376"/>
            <a:ext cx="792480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T200 AI Leadership &amp; Governance Series  |  2026</a:t>
            </a:r>
            <a:endParaRPr b="0" i="0" sz="1000" u="none" cap="none" strike="noStrike">
              <a:solidFill>
                <a:schemeClr val="dk1"/>
              </a:solidFill>
              <a:latin typeface="Calibri"/>
              <a:ea typeface="Calibri"/>
              <a:cs typeface="Calibri"/>
              <a:sym typeface="Calibri"/>
            </a:endParaRPr>
          </a:p>
        </p:txBody>
      </p:sp>
      <p:sp>
        <p:nvSpPr>
          <p:cNvPr id="513" name="Google Shape;513;g3eaf5b54de6_3_46"/>
          <p:cNvSpPr/>
          <p:nvPr/>
        </p:nvSpPr>
        <p:spPr>
          <a:xfrm>
            <a:off x="9144000" y="6437376"/>
            <a:ext cx="2865120" cy="268224"/>
          </a:xfrm>
          <a:prstGeom prst="rect">
            <a:avLst/>
          </a:prstGeom>
          <a:noFill/>
          <a:ln>
            <a:noFill/>
          </a:ln>
        </p:spPr>
        <p:txBody>
          <a:bodyPr anchorCtr="0" anchor="ctr" bIns="60925" lIns="121900" spcFirstLastPara="1" rIns="121900" wrap="square" tIns="60925">
            <a:noAutofit/>
          </a:bodyPr>
          <a:lstStyle/>
          <a:p>
            <a:pPr indent="0" lvl="0" marL="0" marR="0" rtl="0" algn="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www.t200.org</a:t>
            </a:r>
            <a:endParaRPr b="0" i="0" sz="1000" u="none" cap="none" strike="noStrike">
              <a:solidFill>
                <a:schemeClr val="dk1"/>
              </a:solidFill>
              <a:latin typeface="Calibri"/>
              <a:ea typeface="Calibri"/>
              <a:cs typeface="Calibri"/>
              <a:sym typeface="Calibri"/>
            </a:endParaRPr>
          </a:p>
        </p:txBody>
      </p:sp>
      <p:sp>
        <p:nvSpPr>
          <p:cNvPr id="514" name="Google Shape;514;g3eaf5b54de6_3_46"/>
          <p:cNvSpPr/>
          <p:nvPr/>
        </p:nvSpPr>
        <p:spPr>
          <a:xfrm>
            <a:off x="365760" y="390144"/>
            <a:ext cx="10485120" cy="51206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E2841"/>
              </a:buClr>
              <a:buSzPts val="2900"/>
              <a:buFont typeface="Arial"/>
              <a:buNone/>
            </a:pPr>
            <a:r>
              <a:rPr b="1" i="0" lang="en-US" sz="2900" u="none" cap="none" strike="noStrike">
                <a:solidFill>
                  <a:srgbClr val="0E2841"/>
                </a:solidFill>
                <a:latin typeface="Montserrat"/>
                <a:ea typeface="Montserrat"/>
                <a:cs typeface="Montserrat"/>
                <a:sym typeface="Montserrat"/>
              </a:rPr>
              <a:t>Where AI Risk Actually Comes From</a:t>
            </a:r>
            <a:endParaRPr i="0" sz="2900" u="none" cap="none" strike="noStrike">
              <a:solidFill>
                <a:schemeClr val="dk1"/>
              </a:solidFill>
              <a:latin typeface="Montserrat"/>
              <a:ea typeface="Montserrat"/>
              <a:cs typeface="Montserrat"/>
              <a:sym typeface="Montserrat"/>
            </a:endParaRPr>
          </a:p>
        </p:txBody>
      </p:sp>
      <p:sp>
        <p:nvSpPr>
          <p:cNvPr id="515" name="Google Shape;515;g3eaf5b54de6_3_46"/>
          <p:cNvSpPr/>
          <p:nvPr/>
        </p:nvSpPr>
        <p:spPr>
          <a:xfrm>
            <a:off x="365760" y="902208"/>
            <a:ext cx="112167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555555"/>
              </a:buClr>
              <a:buSzPts val="1200"/>
              <a:buFont typeface="Calibri"/>
              <a:buNone/>
            </a:pPr>
            <a:r>
              <a:rPr i="1" lang="en-US" u="none" cap="none" strike="noStrike">
                <a:solidFill>
                  <a:srgbClr val="555555"/>
                </a:solidFill>
                <a:latin typeface="Montserrat"/>
                <a:ea typeface="Montserrat"/>
                <a:cs typeface="Montserrat"/>
                <a:sym typeface="Montserrat"/>
              </a:rPr>
              <a:t>Risk emerges throughout the AI architecture — not from a single component.</a:t>
            </a:r>
            <a:endParaRPr i="0" u="none" cap="none" strike="noStrike">
              <a:solidFill>
                <a:schemeClr val="dk1"/>
              </a:solidFill>
              <a:latin typeface="Montserrat"/>
              <a:ea typeface="Montserrat"/>
              <a:cs typeface="Montserrat"/>
              <a:sym typeface="Montserrat"/>
            </a:endParaRPr>
          </a:p>
        </p:txBody>
      </p:sp>
      <p:sp>
        <p:nvSpPr>
          <p:cNvPr id="516" name="Google Shape;516;g3eaf5b54de6_3_46"/>
          <p:cNvSpPr/>
          <p:nvPr/>
        </p:nvSpPr>
        <p:spPr>
          <a:xfrm>
            <a:off x="146304" y="1243584"/>
            <a:ext cx="2438400" cy="1511808"/>
          </a:xfrm>
          <a:prstGeom prst="rect">
            <a:avLst/>
          </a:prstGeom>
          <a:solidFill>
            <a:srgbClr val="F4F4F4"/>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7" name="Google Shape;517;g3eaf5b54de6_3_46"/>
          <p:cNvSpPr/>
          <p:nvPr/>
        </p:nvSpPr>
        <p:spPr>
          <a:xfrm>
            <a:off x="146304" y="1243584"/>
            <a:ext cx="2438400" cy="60960"/>
          </a:xfrm>
          <a:prstGeom prst="rect">
            <a:avLst/>
          </a:prstGeom>
          <a:solidFill>
            <a:srgbClr val="0E2841"/>
          </a:solidFill>
          <a:ln cap="flat" cmpd="sng" w="12700">
            <a:solidFill>
              <a:srgbClr val="0E284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8" name="Google Shape;518;g3eaf5b54de6_3_46"/>
          <p:cNvSpPr/>
          <p:nvPr/>
        </p:nvSpPr>
        <p:spPr>
          <a:xfrm>
            <a:off x="268224" y="1341120"/>
            <a:ext cx="22555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E2841"/>
              </a:buClr>
              <a:buSzPts val="1100"/>
              <a:buFont typeface="Arial"/>
              <a:buNone/>
            </a:pPr>
            <a:r>
              <a:rPr b="1" i="0" lang="en-US" sz="1100" u="none" cap="none" strike="noStrike">
                <a:solidFill>
                  <a:srgbClr val="0E2841"/>
                </a:solidFill>
                <a:latin typeface="Arial"/>
                <a:ea typeface="Arial"/>
                <a:cs typeface="Arial"/>
                <a:sym typeface="Arial"/>
              </a:rPr>
              <a:t>MODEL LAYER</a:t>
            </a:r>
            <a:endParaRPr b="0" i="0" sz="1100" u="none" cap="none" strike="noStrike">
              <a:solidFill>
                <a:schemeClr val="dk1"/>
              </a:solidFill>
              <a:latin typeface="Calibri"/>
              <a:ea typeface="Calibri"/>
              <a:cs typeface="Calibri"/>
              <a:sym typeface="Calibri"/>
            </a:endParaRPr>
          </a:p>
        </p:txBody>
      </p:sp>
      <p:sp>
        <p:nvSpPr>
          <p:cNvPr id="519" name="Google Shape;519;g3eaf5b54de6_3_46"/>
          <p:cNvSpPr/>
          <p:nvPr/>
        </p:nvSpPr>
        <p:spPr>
          <a:xfrm>
            <a:off x="268224" y="1633728"/>
            <a:ext cx="19507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Bias &amp; hallucinations</a:t>
            </a:r>
            <a:endParaRPr b="0" i="0" sz="1100" u="none" cap="none" strike="noStrike">
              <a:solidFill>
                <a:schemeClr val="dk1"/>
              </a:solidFill>
              <a:latin typeface="Calibri"/>
              <a:ea typeface="Calibri"/>
              <a:cs typeface="Calibri"/>
              <a:sym typeface="Calibri"/>
            </a:endParaRPr>
          </a:p>
        </p:txBody>
      </p:sp>
      <p:sp>
        <p:nvSpPr>
          <p:cNvPr id="520" name="Google Shape;520;g3eaf5b54de6_3_46"/>
          <p:cNvSpPr/>
          <p:nvPr/>
        </p:nvSpPr>
        <p:spPr>
          <a:xfrm>
            <a:off x="2072640" y="1633728"/>
            <a:ext cx="4632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E2841"/>
              </a:buClr>
              <a:buSzPts val="900"/>
              <a:buFont typeface="Calibri"/>
              <a:buNone/>
            </a:pPr>
            <a:r>
              <a:rPr b="1" i="1" lang="en-US" sz="900" u="none" cap="none" strike="noStrike">
                <a:solidFill>
                  <a:srgbClr val="0E2841"/>
                </a:solidFill>
                <a:latin typeface="Calibri"/>
                <a:ea typeface="Calibri"/>
                <a:cs typeface="Calibri"/>
                <a:sym typeface="Calibri"/>
              </a:rPr>
              <a:t>LLM09</a:t>
            </a:r>
            <a:endParaRPr b="0" i="0" sz="900" u="none" cap="none" strike="noStrike">
              <a:solidFill>
                <a:schemeClr val="dk1"/>
              </a:solidFill>
              <a:latin typeface="Calibri"/>
              <a:ea typeface="Calibri"/>
              <a:cs typeface="Calibri"/>
              <a:sym typeface="Calibri"/>
            </a:endParaRPr>
          </a:p>
        </p:txBody>
      </p:sp>
      <p:sp>
        <p:nvSpPr>
          <p:cNvPr id="521" name="Google Shape;521;g3eaf5b54de6_3_46"/>
          <p:cNvSpPr/>
          <p:nvPr/>
        </p:nvSpPr>
        <p:spPr>
          <a:xfrm>
            <a:off x="268224" y="1926336"/>
            <a:ext cx="19507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Model theft</a:t>
            </a:r>
            <a:endParaRPr b="0" i="0" sz="1100" u="none" cap="none" strike="noStrike">
              <a:solidFill>
                <a:schemeClr val="dk1"/>
              </a:solidFill>
              <a:latin typeface="Calibri"/>
              <a:ea typeface="Calibri"/>
              <a:cs typeface="Calibri"/>
              <a:sym typeface="Calibri"/>
            </a:endParaRPr>
          </a:p>
        </p:txBody>
      </p:sp>
      <p:sp>
        <p:nvSpPr>
          <p:cNvPr id="522" name="Google Shape;522;g3eaf5b54de6_3_46"/>
          <p:cNvSpPr/>
          <p:nvPr/>
        </p:nvSpPr>
        <p:spPr>
          <a:xfrm>
            <a:off x="2072640" y="1926336"/>
            <a:ext cx="4632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E2841"/>
              </a:buClr>
              <a:buSzPts val="900"/>
              <a:buFont typeface="Calibri"/>
              <a:buNone/>
            </a:pPr>
            <a:r>
              <a:rPr b="1" i="1" lang="en-US" sz="900" u="none" cap="none" strike="noStrike">
                <a:solidFill>
                  <a:srgbClr val="0E2841"/>
                </a:solidFill>
                <a:latin typeface="Calibri"/>
                <a:ea typeface="Calibri"/>
                <a:cs typeface="Calibri"/>
                <a:sym typeface="Calibri"/>
              </a:rPr>
              <a:t>LLM10</a:t>
            </a:r>
            <a:endParaRPr b="0" i="0" sz="900" u="none" cap="none" strike="noStrike">
              <a:solidFill>
                <a:schemeClr val="dk1"/>
              </a:solidFill>
              <a:latin typeface="Calibri"/>
              <a:ea typeface="Calibri"/>
              <a:cs typeface="Calibri"/>
              <a:sym typeface="Calibri"/>
            </a:endParaRPr>
          </a:p>
        </p:txBody>
      </p:sp>
      <p:sp>
        <p:nvSpPr>
          <p:cNvPr id="523" name="Google Shape;523;g3eaf5b54de6_3_46"/>
          <p:cNvSpPr/>
          <p:nvPr/>
        </p:nvSpPr>
        <p:spPr>
          <a:xfrm>
            <a:off x="268224" y="2218944"/>
            <a:ext cx="19507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Explainability gaps</a:t>
            </a:r>
            <a:endParaRPr b="0" i="0" sz="1100" u="none" cap="none" strike="noStrike">
              <a:solidFill>
                <a:schemeClr val="dk1"/>
              </a:solidFill>
              <a:latin typeface="Calibri"/>
              <a:ea typeface="Calibri"/>
              <a:cs typeface="Calibri"/>
              <a:sym typeface="Calibri"/>
            </a:endParaRPr>
          </a:p>
        </p:txBody>
      </p:sp>
      <p:sp>
        <p:nvSpPr>
          <p:cNvPr id="524" name="Google Shape;524;g3eaf5b54de6_3_46"/>
          <p:cNvSpPr/>
          <p:nvPr/>
        </p:nvSpPr>
        <p:spPr>
          <a:xfrm>
            <a:off x="268224" y="2511552"/>
            <a:ext cx="19507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Performance drift</a:t>
            </a:r>
            <a:endParaRPr b="0" i="0" sz="1100" u="none" cap="none" strike="noStrike">
              <a:solidFill>
                <a:schemeClr val="dk1"/>
              </a:solidFill>
              <a:latin typeface="Calibri"/>
              <a:ea typeface="Calibri"/>
              <a:cs typeface="Calibri"/>
              <a:sym typeface="Calibri"/>
            </a:endParaRPr>
          </a:p>
        </p:txBody>
      </p:sp>
      <p:sp>
        <p:nvSpPr>
          <p:cNvPr id="525" name="Google Shape;525;g3eaf5b54de6_3_46"/>
          <p:cNvSpPr/>
          <p:nvPr/>
        </p:nvSpPr>
        <p:spPr>
          <a:xfrm>
            <a:off x="2072640" y="2511552"/>
            <a:ext cx="4632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E2841"/>
              </a:buClr>
              <a:buSzPts val="900"/>
              <a:buFont typeface="Calibri"/>
              <a:buNone/>
            </a:pPr>
            <a:r>
              <a:rPr b="1" i="1" lang="en-US" sz="900" u="none" cap="none" strike="noStrike">
                <a:solidFill>
                  <a:srgbClr val="0E2841"/>
                </a:solidFill>
                <a:latin typeface="Calibri"/>
                <a:ea typeface="Calibri"/>
                <a:cs typeface="Calibri"/>
                <a:sym typeface="Calibri"/>
              </a:rPr>
              <a:t>LLM09</a:t>
            </a:r>
            <a:endParaRPr b="0" i="0" sz="900" u="none" cap="none" strike="noStrike">
              <a:solidFill>
                <a:schemeClr val="dk1"/>
              </a:solidFill>
              <a:latin typeface="Calibri"/>
              <a:ea typeface="Calibri"/>
              <a:cs typeface="Calibri"/>
              <a:sym typeface="Calibri"/>
            </a:endParaRPr>
          </a:p>
        </p:txBody>
      </p:sp>
      <p:sp>
        <p:nvSpPr>
          <p:cNvPr id="526" name="Google Shape;526;g3eaf5b54de6_3_46"/>
          <p:cNvSpPr/>
          <p:nvPr/>
        </p:nvSpPr>
        <p:spPr>
          <a:xfrm>
            <a:off x="146304" y="3048000"/>
            <a:ext cx="2438400" cy="1511808"/>
          </a:xfrm>
          <a:prstGeom prst="rect">
            <a:avLst/>
          </a:prstGeom>
          <a:solidFill>
            <a:srgbClr val="F4F4F4"/>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7" name="Google Shape;527;g3eaf5b54de6_3_46"/>
          <p:cNvSpPr/>
          <p:nvPr/>
        </p:nvSpPr>
        <p:spPr>
          <a:xfrm>
            <a:off x="146304" y="3048000"/>
            <a:ext cx="2438400" cy="60960"/>
          </a:xfrm>
          <a:prstGeom prst="rect">
            <a:avLst/>
          </a:prstGeom>
          <a:solidFill>
            <a:srgbClr val="6D2E46"/>
          </a:solidFill>
          <a:ln cap="flat" cmpd="sng" w="12700">
            <a:solidFill>
              <a:srgbClr val="6D2E4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8" name="Google Shape;528;g3eaf5b54de6_3_46"/>
          <p:cNvSpPr/>
          <p:nvPr/>
        </p:nvSpPr>
        <p:spPr>
          <a:xfrm>
            <a:off x="268224" y="3145536"/>
            <a:ext cx="22555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D2E46"/>
              </a:buClr>
              <a:buSzPts val="1100"/>
              <a:buFont typeface="Arial"/>
              <a:buNone/>
            </a:pPr>
            <a:r>
              <a:rPr b="1" i="0" lang="en-US" sz="1100" u="none" cap="none" strike="noStrike">
                <a:solidFill>
                  <a:srgbClr val="6D2E46"/>
                </a:solidFill>
                <a:latin typeface="Arial"/>
                <a:ea typeface="Arial"/>
                <a:cs typeface="Arial"/>
                <a:sym typeface="Arial"/>
              </a:rPr>
              <a:t>AGENT LAYER</a:t>
            </a:r>
            <a:endParaRPr b="0" i="0" sz="1100" u="none" cap="none" strike="noStrike">
              <a:solidFill>
                <a:schemeClr val="dk1"/>
              </a:solidFill>
              <a:latin typeface="Calibri"/>
              <a:ea typeface="Calibri"/>
              <a:cs typeface="Calibri"/>
              <a:sym typeface="Calibri"/>
            </a:endParaRPr>
          </a:p>
        </p:txBody>
      </p:sp>
      <p:sp>
        <p:nvSpPr>
          <p:cNvPr id="529" name="Google Shape;529;g3eaf5b54de6_3_46"/>
          <p:cNvSpPr/>
          <p:nvPr/>
        </p:nvSpPr>
        <p:spPr>
          <a:xfrm>
            <a:off x="268224" y="3438144"/>
            <a:ext cx="19507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Excessive agency</a:t>
            </a:r>
            <a:endParaRPr b="0" i="0" sz="1100" u="none" cap="none" strike="noStrike">
              <a:solidFill>
                <a:schemeClr val="dk1"/>
              </a:solidFill>
              <a:latin typeface="Calibri"/>
              <a:ea typeface="Calibri"/>
              <a:cs typeface="Calibri"/>
              <a:sym typeface="Calibri"/>
            </a:endParaRPr>
          </a:p>
        </p:txBody>
      </p:sp>
      <p:sp>
        <p:nvSpPr>
          <p:cNvPr id="530" name="Google Shape;530;g3eaf5b54de6_3_46"/>
          <p:cNvSpPr/>
          <p:nvPr/>
        </p:nvSpPr>
        <p:spPr>
          <a:xfrm>
            <a:off x="2072640" y="3438144"/>
            <a:ext cx="4632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D2E46"/>
              </a:buClr>
              <a:buSzPts val="900"/>
              <a:buFont typeface="Calibri"/>
              <a:buNone/>
            </a:pPr>
            <a:r>
              <a:rPr b="1" i="1" lang="en-US" sz="900" u="none" cap="none" strike="noStrike">
                <a:solidFill>
                  <a:srgbClr val="6D2E46"/>
                </a:solidFill>
                <a:latin typeface="Calibri"/>
                <a:ea typeface="Calibri"/>
                <a:cs typeface="Calibri"/>
                <a:sym typeface="Calibri"/>
              </a:rPr>
              <a:t>LLM08</a:t>
            </a:r>
            <a:endParaRPr b="0" i="0" sz="900" u="none" cap="none" strike="noStrike">
              <a:solidFill>
                <a:schemeClr val="dk1"/>
              </a:solidFill>
              <a:latin typeface="Calibri"/>
              <a:ea typeface="Calibri"/>
              <a:cs typeface="Calibri"/>
              <a:sym typeface="Calibri"/>
            </a:endParaRPr>
          </a:p>
        </p:txBody>
      </p:sp>
      <p:sp>
        <p:nvSpPr>
          <p:cNvPr id="531" name="Google Shape;531;g3eaf5b54de6_3_46"/>
          <p:cNvSpPr/>
          <p:nvPr/>
        </p:nvSpPr>
        <p:spPr>
          <a:xfrm>
            <a:off x="268224" y="3730752"/>
            <a:ext cx="19507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Tool misuse</a:t>
            </a:r>
            <a:endParaRPr b="0" i="0" sz="1100" u="none" cap="none" strike="noStrike">
              <a:solidFill>
                <a:schemeClr val="dk1"/>
              </a:solidFill>
              <a:latin typeface="Calibri"/>
              <a:ea typeface="Calibri"/>
              <a:cs typeface="Calibri"/>
              <a:sym typeface="Calibri"/>
            </a:endParaRPr>
          </a:p>
        </p:txBody>
      </p:sp>
      <p:sp>
        <p:nvSpPr>
          <p:cNvPr id="532" name="Google Shape;532;g3eaf5b54de6_3_46"/>
          <p:cNvSpPr/>
          <p:nvPr/>
        </p:nvSpPr>
        <p:spPr>
          <a:xfrm>
            <a:off x="2072640" y="3730752"/>
            <a:ext cx="4632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D2E46"/>
              </a:buClr>
              <a:buSzPts val="900"/>
              <a:buFont typeface="Calibri"/>
              <a:buNone/>
            </a:pPr>
            <a:r>
              <a:rPr b="1" i="1" lang="en-US" sz="900" u="none" cap="none" strike="noStrike">
                <a:solidFill>
                  <a:srgbClr val="6D2E46"/>
                </a:solidFill>
                <a:latin typeface="Calibri"/>
                <a:ea typeface="Calibri"/>
                <a:cs typeface="Calibri"/>
                <a:sym typeface="Calibri"/>
              </a:rPr>
              <a:t>LLM08</a:t>
            </a:r>
            <a:endParaRPr b="0" i="0" sz="900" u="none" cap="none" strike="noStrike">
              <a:solidFill>
                <a:schemeClr val="dk1"/>
              </a:solidFill>
              <a:latin typeface="Calibri"/>
              <a:ea typeface="Calibri"/>
              <a:cs typeface="Calibri"/>
              <a:sym typeface="Calibri"/>
            </a:endParaRPr>
          </a:p>
        </p:txBody>
      </p:sp>
      <p:sp>
        <p:nvSpPr>
          <p:cNvPr id="533" name="Google Shape;533;g3eaf5b54de6_3_46"/>
          <p:cNvSpPr/>
          <p:nvPr/>
        </p:nvSpPr>
        <p:spPr>
          <a:xfrm>
            <a:off x="268224" y="4023360"/>
            <a:ext cx="19507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Privilege escalation</a:t>
            </a:r>
            <a:endParaRPr b="0" i="0" sz="1100" u="none" cap="none" strike="noStrike">
              <a:solidFill>
                <a:schemeClr val="dk1"/>
              </a:solidFill>
              <a:latin typeface="Calibri"/>
              <a:ea typeface="Calibri"/>
              <a:cs typeface="Calibri"/>
              <a:sym typeface="Calibri"/>
            </a:endParaRPr>
          </a:p>
        </p:txBody>
      </p:sp>
      <p:sp>
        <p:nvSpPr>
          <p:cNvPr id="534" name="Google Shape;534;g3eaf5b54de6_3_46"/>
          <p:cNvSpPr/>
          <p:nvPr/>
        </p:nvSpPr>
        <p:spPr>
          <a:xfrm>
            <a:off x="2072640" y="4023360"/>
            <a:ext cx="4632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D2E46"/>
              </a:buClr>
              <a:buSzPts val="900"/>
              <a:buFont typeface="Calibri"/>
              <a:buNone/>
            </a:pPr>
            <a:r>
              <a:rPr b="1" i="1" lang="en-US" sz="900" u="none" cap="none" strike="noStrike">
                <a:solidFill>
                  <a:srgbClr val="6D2E46"/>
                </a:solidFill>
                <a:latin typeface="Calibri"/>
                <a:ea typeface="Calibri"/>
                <a:cs typeface="Calibri"/>
                <a:sym typeface="Calibri"/>
              </a:rPr>
              <a:t>LLM08</a:t>
            </a:r>
            <a:endParaRPr b="0" i="0" sz="900" u="none" cap="none" strike="noStrike">
              <a:solidFill>
                <a:schemeClr val="dk1"/>
              </a:solidFill>
              <a:latin typeface="Calibri"/>
              <a:ea typeface="Calibri"/>
              <a:cs typeface="Calibri"/>
              <a:sym typeface="Calibri"/>
            </a:endParaRPr>
          </a:p>
        </p:txBody>
      </p:sp>
      <p:sp>
        <p:nvSpPr>
          <p:cNvPr id="535" name="Google Shape;535;g3eaf5b54de6_3_46"/>
          <p:cNvSpPr/>
          <p:nvPr/>
        </p:nvSpPr>
        <p:spPr>
          <a:xfrm>
            <a:off x="268224" y="4315968"/>
            <a:ext cx="19507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Autonomous actions</a:t>
            </a:r>
            <a:endParaRPr b="0" i="0" sz="1100" u="none" cap="none" strike="noStrike">
              <a:solidFill>
                <a:schemeClr val="dk1"/>
              </a:solidFill>
              <a:latin typeface="Calibri"/>
              <a:ea typeface="Calibri"/>
              <a:cs typeface="Calibri"/>
              <a:sym typeface="Calibri"/>
            </a:endParaRPr>
          </a:p>
        </p:txBody>
      </p:sp>
      <p:sp>
        <p:nvSpPr>
          <p:cNvPr id="536" name="Google Shape;536;g3eaf5b54de6_3_46"/>
          <p:cNvSpPr/>
          <p:nvPr/>
        </p:nvSpPr>
        <p:spPr>
          <a:xfrm>
            <a:off x="2072640" y="4315968"/>
            <a:ext cx="4632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D2E46"/>
              </a:buClr>
              <a:buSzPts val="900"/>
              <a:buFont typeface="Calibri"/>
              <a:buNone/>
            </a:pPr>
            <a:r>
              <a:rPr b="1" i="1" lang="en-US" sz="900" u="none" cap="none" strike="noStrike">
                <a:solidFill>
                  <a:srgbClr val="6D2E46"/>
                </a:solidFill>
                <a:latin typeface="Calibri"/>
                <a:ea typeface="Calibri"/>
                <a:cs typeface="Calibri"/>
                <a:sym typeface="Calibri"/>
              </a:rPr>
              <a:t>LLM08</a:t>
            </a:r>
            <a:endParaRPr b="0" i="0" sz="900" u="none" cap="none" strike="noStrike">
              <a:solidFill>
                <a:schemeClr val="dk1"/>
              </a:solidFill>
              <a:latin typeface="Calibri"/>
              <a:ea typeface="Calibri"/>
              <a:cs typeface="Calibri"/>
              <a:sym typeface="Calibri"/>
            </a:endParaRPr>
          </a:p>
        </p:txBody>
      </p:sp>
      <p:sp>
        <p:nvSpPr>
          <p:cNvPr id="537" name="Google Shape;537;g3eaf5b54de6_3_46"/>
          <p:cNvSpPr/>
          <p:nvPr/>
        </p:nvSpPr>
        <p:spPr>
          <a:xfrm>
            <a:off x="146304" y="4803648"/>
            <a:ext cx="2438400" cy="1511808"/>
          </a:xfrm>
          <a:prstGeom prst="rect">
            <a:avLst/>
          </a:prstGeom>
          <a:solidFill>
            <a:srgbClr val="F4F4F4"/>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8" name="Google Shape;538;g3eaf5b54de6_3_46"/>
          <p:cNvSpPr/>
          <p:nvPr/>
        </p:nvSpPr>
        <p:spPr>
          <a:xfrm>
            <a:off x="146304" y="4803648"/>
            <a:ext cx="2438400" cy="6096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9" name="Google Shape;539;g3eaf5b54de6_3_46"/>
          <p:cNvSpPr/>
          <p:nvPr/>
        </p:nvSpPr>
        <p:spPr>
          <a:xfrm>
            <a:off x="268224" y="4901184"/>
            <a:ext cx="22555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E97132"/>
              </a:buClr>
              <a:buSzPts val="1100"/>
              <a:buFont typeface="Arial"/>
              <a:buNone/>
            </a:pPr>
            <a:r>
              <a:rPr b="1" i="0" lang="en-US" sz="1100" u="none" cap="none" strike="noStrike">
                <a:solidFill>
                  <a:srgbClr val="E97132"/>
                </a:solidFill>
                <a:latin typeface="Arial"/>
                <a:ea typeface="Arial"/>
                <a:cs typeface="Arial"/>
                <a:sym typeface="Arial"/>
              </a:rPr>
              <a:t>DATA LAYER</a:t>
            </a:r>
            <a:endParaRPr b="0" i="0" sz="1100" u="none" cap="none" strike="noStrike">
              <a:solidFill>
                <a:schemeClr val="dk1"/>
              </a:solidFill>
              <a:latin typeface="Calibri"/>
              <a:ea typeface="Calibri"/>
              <a:cs typeface="Calibri"/>
              <a:sym typeface="Calibri"/>
            </a:endParaRPr>
          </a:p>
        </p:txBody>
      </p:sp>
      <p:sp>
        <p:nvSpPr>
          <p:cNvPr id="540" name="Google Shape;540;g3eaf5b54de6_3_46"/>
          <p:cNvSpPr/>
          <p:nvPr/>
        </p:nvSpPr>
        <p:spPr>
          <a:xfrm>
            <a:off x="268224" y="5193792"/>
            <a:ext cx="19507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Data poisoning</a:t>
            </a:r>
            <a:endParaRPr b="0" i="0" sz="1100" u="none" cap="none" strike="noStrike">
              <a:solidFill>
                <a:schemeClr val="dk1"/>
              </a:solidFill>
              <a:latin typeface="Calibri"/>
              <a:ea typeface="Calibri"/>
              <a:cs typeface="Calibri"/>
              <a:sym typeface="Calibri"/>
            </a:endParaRPr>
          </a:p>
        </p:txBody>
      </p:sp>
      <p:sp>
        <p:nvSpPr>
          <p:cNvPr id="541" name="Google Shape;541;g3eaf5b54de6_3_46"/>
          <p:cNvSpPr/>
          <p:nvPr/>
        </p:nvSpPr>
        <p:spPr>
          <a:xfrm>
            <a:off x="2072640" y="5193792"/>
            <a:ext cx="4632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E97132"/>
              </a:buClr>
              <a:buSzPts val="900"/>
              <a:buFont typeface="Calibri"/>
              <a:buNone/>
            </a:pPr>
            <a:r>
              <a:rPr b="1" i="1" lang="en-US" sz="900" u="none" cap="none" strike="noStrike">
                <a:solidFill>
                  <a:srgbClr val="E97132"/>
                </a:solidFill>
                <a:latin typeface="Calibri"/>
                <a:ea typeface="Calibri"/>
                <a:cs typeface="Calibri"/>
                <a:sym typeface="Calibri"/>
              </a:rPr>
              <a:t>LLM03</a:t>
            </a:r>
            <a:endParaRPr b="0" i="0" sz="900" u="none" cap="none" strike="noStrike">
              <a:solidFill>
                <a:schemeClr val="dk1"/>
              </a:solidFill>
              <a:latin typeface="Calibri"/>
              <a:ea typeface="Calibri"/>
              <a:cs typeface="Calibri"/>
              <a:sym typeface="Calibri"/>
            </a:endParaRPr>
          </a:p>
        </p:txBody>
      </p:sp>
      <p:sp>
        <p:nvSpPr>
          <p:cNvPr id="542" name="Google Shape;542;g3eaf5b54de6_3_46"/>
          <p:cNvSpPr/>
          <p:nvPr/>
        </p:nvSpPr>
        <p:spPr>
          <a:xfrm>
            <a:off x="268224" y="5486400"/>
            <a:ext cx="19507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Privacy violations</a:t>
            </a:r>
            <a:endParaRPr b="0" i="0" sz="1100" u="none" cap="none" strike="noStrike">
              <a:solidFill>
                <a:schemeClr val="dk1"/>
              </a:solidFill>
              <a:latin typeface="Calibri"/>
              <a:ea typeface="Calibri"/>
              <a:cs typeface="Calibri"/>
              <a:sym typeface="Calibri"/>
            </a:endParaRPr>
          </a:p>
        </p:txBody>
      </p:sp>
      <p:sp>
        <p:nvSpPr>
          <p:cNvPr id="543" name="Google Shape;543;g3eaf5b54de6_3_46"/>
          <p:cNvSpPr/>
          <p:nvPr/>
        </p:nvSpPr>
        <p:spPr>
          <a:xfrm>
            <a:off x="2072640" y="5486400"/>
            <a:ext cx="4632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E97132"/>
              </a:buClr>
              <a:buSzPts val="900"/>
              <a:buFont typeface="Calibri"/>
              <a:buNone/>
            </a:pPr>
            <a:r>
              <a:rPr b="1" i="1" lang="en-US" sz="900" u="none" cap="none" strike="noStrike">
                <a:solidFill>
                  <a:srgbClr val="E97132"/>
                </a:solidFill>
                <a:latin typeface="Calibri"/>
                <a:ea typeface="Calibri"/>
                <a:cs typeface="Calibri"/>
                <a:sym typeface="Calibri"/>
              </a:rPr>
              <a:t>LLM02</a:t>
            </a:r>
            <a:endParaRPr b="0" i="0" sz="900" u="none" cap="none" strike="noStrike">
              <a:solidFill>
                <a:schemeClr val="dk1"/>
              </a:solidFill>
              <a:latin typeface="Calibri"/>
              <a:ea typeface="Calibri"/>
              <a:cs typeface="Calibri"/>
              <a:sym typeface="Calibri"/>
            </a:endParaRPr>
          </a:p>
        </p:txBody>
      </p:sp>
      <p:sp>
        <p:nvSpPr>
          <p:cNvPr id="544" name="Google Shape;544;g3eaf5b54de6_3_46"/>
          <p:cNvSpPr/>
          <p:nvPr/>
        </p:nvSpPr>
        <p:spPr>
          <a:xfrm>
            <a:off x="268224" y="5779008"/>
            <a:ext cx="19507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Poor data quality</a:t>
            </a:r>
            <a:endParaRPr b="0" i="0" sz="1100" u="none" cap="none" strike="noStrike">
              <a:solidFill>
                <a:schemeClr val="dk1"/>
              </a:solidFill>
              <a:latin typeface="Calibri"/>
              <a:ea typeface="Calibri"/>
              <a:cs typeface="Calibri"/>
              <a:sym typeface="Calibri"/>
            </a:endParaRPr>
          </a:p>
        </p:txBody>
      </p:sp>
      <p:sp>
        <p:nvSpPr>
          <p:cNvPr id="545" name="Google Shape;545;g3eaf5b54de6_3_46"/>
          <p:cNvSpPr/>
          <p:nvPr/>
        </p:nvSpPr>
        <p:spPr>
          <a:xfrm>
            <a:off x="268224" y="6071616"/>
            <a:ext cx="19507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Lineage failures</a:t>
            </a:r>
            <a:endParaRPr b="0" i="0" sz="1100" u="none" cap="none" strike="noStrike">
              <a:solidFill>
                <a:schemeClr val="dk1"/>
              </a:solidFill>
              <a:latin typeface="Calibri"/>
              <a:ea typeface="Calibri"/>
              <a:cs typeface="Calibri"/>
              <a:sym typeface="Calibri"/>
            </a:endParaRPr>
          </a:p>
        </p:txBody>
      </p:sp>
      <p:sp>
        <p:nvSpPr>
          <p:cNvPr id="546" name="Google Shape;546;g3eaf5b54de6_3_46"/>
          <p:cNvSpPr/>
          <p:nvPr/>
        </p:nvSpPr>
        <p:spPr>
          <a:xfrm>
            <a:off x="2072640" y="6071616"/>
            <a:ext cx="4632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E97132"/>
              </a:buClr>
              <a:buSzPts val="900"/>
              <a:buFont typeface="Calibri"/>
              <a:buNone/>
            </a:pPr>
            <a:r>
              <a:rPr b="1" i="1" lang="en-US" sz="900" u="none" cap="none" strike="noStrike">
                <a:solidFill>
                  <a:srgbClr val="E97132"/>
                </a:solidFill>
                <a:latin typeface="Calibri"/>
                <a:ea typeface="Calibri"/>
                <a:cs typeface="Calibri"/>
                <a:sym typeface="Calibri"/>
              </a:rPr>
              <a:t>LLM02</a:t>
            </a:r>
            <a:endParaRPr b="0" i="0" sz="900" u="none" cap="none" strike="noStrike">
              <a:solidFill>
                <a:schemeClr val="dk1"/>
              </a:solidFill>
              <a:latin typeface="Calibri"/>
              <a:ea typeface="Calibri"/>
              <a:cs typeface="Calibri"/>
              <a:sym typeface="Calibri"/>
            </a:endParaRPr>
          </a:p>
        </p:txBody>
      </p:sp>
      <p:sp>
        <p:nvSpPr>
          <p:cNvPr id="547" name="Google Shape;547;g3eaf5b54de6_3_46"/>
          <p:cNvSpPr/>
          <p:nvPr/>
        </p:nvSpPr>
        <p:spPr>
          <a:xfrm>
            <a:off x="2731008" y="1243584"/>
            <a:ext cx="6729984" cy="5096256"/>
          </a:xfrm>
          <a:prstGeom prst="rect">
            <a:avLst/>
          </a:prstGeom>
          <a:solidFill>
            <a:srgbClr val="F9F9F9"/>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8" name="Google Shape;548;g3eaf5b54de6_3_46"/>
          <p:cNvSpPr/>
          <p:nvPr/>
        </p:nvSpPr>
        <p:spPr>
          <a:xfrm>
            <a:off x="2852928" y="1341120"/>
            <a:ext cx="6486144" cy="316992"/>
          </a:xfrm>
          <a:prstGeom prst="rect">
            <a:avLst/>
          </a:prstGeom>
          <a:solidFill>
            <a:srgbClr val="0E2841"/>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9" name="Google Shape;549;g3eaf5b54de6_3_46"/>
          <p:cNvSpPr/>
          <p:nvPr/>
        </p:nvSpPr>
        <p:spPr>
          <a:xfrm>
            <a:off x="2913888" y="1341120"/>
            <a:ext cx="6364224" cy="316992"/>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Identity &amp; Authentication — Entra ID · Okta · SSO · Entitlement verification</a:t>
            </a:r>
            <a:endParaRPr b="0" i="0" sz="1000" u="none" cap="none" strike="noStrike">
              <a:solidFill>
                <a:schemeClr val="dk1"/>
              </a:solidFill>
              <a:latin typeface="Calibri"/>
              <a:ea typeface="Calibri"/>
              <a:cs typeface="Calibri"/>
              <a:sym typeface="Calibri"/>
            </a:endParaRPr>
          </a:p>
        </p:txBody>
      </p:sp>
      <p:sp>
        <p:nvSpPr>
          <p:cNvPr id="550" name="Google Shape;550;g3eaf5b54de6_3_46"/>
          <p:cNvSpPr/>
          <p:nvPr/>
        </p:nvSpPr>
        <p:spPr>
          <a:xfrm>
            <a:off x="2852928" y="1755648"/>
            <a:ext cx="6486144" cy="292608"/>
          </a:xfrm>
          <a:prstGeom prst="rect">
            <a:avLst/>
          </a:prstGeom>
          <a:solidFill>
            <a:srgbClr val="E6F1FB"/>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1" name="Google Shape;551;g3eaf5b54de6_3_46"/>
          <p:cNvSpPr/>
          <p:nvPr/>
        </p:nvSpPr>
        <p:spPr>
          <a:xfrm>
            <a:off x="2913888" y="1755648"/>
            <a:ext cx="6364224" cy="29260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C447C"/>
              </a:buClr>
              <a:buSzPts val="1000"/>
              <a:buFont typeface="Calibri"/>
              <a:buNone/>
            </a:pPr>
            <a:r>
              <a:rPr b="0" i="0" lang="en-US" sz="1000" u="none" cap="none" strike="noStrike">
                <a:solidFill>
                  <a:srgbClr val="0C447C"/>
                </a:solidFill>
                <a:latin typeface="Calibri"/>
                <a:ea typeface="Calibri"/>
                <a:cs typeface="Calibri"/>
                <a:sym typeface="Calibri"/>
              </a:rPr>
              <a:t>User / Application</a:t>
            </a:r>
            <a:endParaRPr b="0" i="0" sz="1000" u="none" cap="none" strike="noStrike">
              <a:solidFill>
                <a:schemeClr val="dk1"/>
              </a:solidFill>
              <a:latin typeface="Calibri"/>
              <a:ea typeface="Calibri"/>
              <a:cs typeface="Calibri"/>
              <a:sym typeface="Calibri"/>
            </a:endParaRPr>
          </a:p>
        </p:txBody>
      </p:sp>
      <p:sp>
        <p:nvSpPr>
          <p:cNvPr id="552" name="Google Shape;552;g3eaf5b54de6_3_46"/>
          <p:cNvSpPr/>
          <p:nvPr/>
        </p:nvSpPr>
        <p:spPr>
          <a:xfrm>
            <a:off x="2852928" y="2145792"/>
            <a:ext cx="6486144" cy="316992"/>
          </a:xfrm>
          <a:prstGeom prst="rect">
            <a:avLst/>
          </a:prstGeom>
          <a:solidFill>
            <a:srgbClr val="EAF3DE"/>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3" name="Google Shape;553;g3eaf5b54de6_3_46"/>
          <p:cNvSpPr/>
          <p:nvPr/>
        </p:nvSpPr>
        <p:spPr>
          <a:xfrm>
            <a:off x="2913888" y="2145792"/>
            <a:ext cx="6364224" cy="316992"/>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27500A"/>
              </a:buClr>
              <a:buSzPts val="1000"/>
              <a:buFont typeface="Calibri"/>
              <a:buNone/>
            </a:pPr>
            <a:r>
              <a:rPr b="0" i="0" lang="en-US" sz="1000" u="none" cap="none" strike="noStrike">
                <a:solidFill>
                  <a:srgbClr val="27500A"/>
                </a:solidFill>
                <a:latin typeface="Calibri"/>
                <a:ea typeface="Calibri"/>
                <a:cs typeface="Calibri"/>
                <a:sym typeface="Calibri"/>
              </a:rPr>
              <a:t>Model Gateway — Policy enforcement · Query filtering · HITL gate 1</a:t>
            </a:r>
            <a:endParaRPr b="0" i="0" sz="1000" u="none" cap="none" strike="noStrike">
              <a:solidFill>
                <a:schemeClr val="dk1"/>
              </a:solidFill>
              <a:latin typeface="Calibri"/>
              <a:ea typeface="Calibri"/>
              <a:cs typeface="Calibri"/>
              <a:sym typeface="Calibri"/>
            </a:endParaRPr>
          </a:p>
        </p:txBody>
      </p:sp>
      <p:sp>
        <p:nvSpPr>
          <p:cNvPr id="554" name="Google Shape;554;g3eaf5b54de6_3_46"/>
          <p:cNvSpPr/>
          <p:nvPr/>
        </p:nvSpPr>
        <p:spPr>
          <a:xfrm>
            <a:off x="2852928" y="2560320"/>
            <a:ext cx="6486144" cy="316992"/>
          </a:xfrm>
          <a:prstGeom prst="rect">
            <a:avLst/>
          </a:prstGeom>
          <a:solidFill>
            <a:srgbClr val="FAEEDA"/>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5" name="Google Shape;555;g3eaf5b54de6_3_46"/>
          <p:cNvSpPr/>
          <p:nvPr/>
        </p:nvSpPr>
        <p:spPr>
          <a:xfrm>
            <a:off x="2913888" y="2560320"/>
            <a:ext cx="6364224" cy="316992"/>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412402"/>
              </a:buClr>
              <a:buSzPts val="1000"/>
              <a:buFont typeface="Calibri"/>
              <a:buNone/>
            </a:pPr>
            <a:r>
              <a:rPr b="0" i="0" lang="en-US" sz="1000" u="none" cap="none" strike="noStrike">
                <a:solidFill>
                  <a:srgbClr val="412402"/>
                </a:solidFill>
                <a:latin typeface="Calibri"/>
                <a:ea typeface="Calibri"/>
                <a:cs typeface="Calibri"/>
                <a:sym typeface="Calibri"/>
              </a:rPr>
              <a:t>Orchestration Layer — Routes query → Foundation model · RAG retrieval · Agent</a:t>
            </a:r>
            <a:endParaRPr b="0" i="0" sz="1000" u="none" cap="none" strike="noStrike">
              <a:solidFill>
                <a:schemeClr val="dk1"/>
              </a:solidFill>
              <a:latin typeface="Calibri"/>
              <a:ea typeface="Calibri"/>
              <a:cs typeface="Calibri"/>
              <a:sym typeface="Calibri"/>
            </a:endParaRPr>
          </a:p>
        </p:txBody>
      </p:sp>
      <p:sp>
        <p:nvSpPr>
          <p:cNvPr id="556" name="Google Shape;556;g3eaf5b54de6_3_46"/>
          <p:cNvSpPr/>
          <p:nvPr/>
        </p:nvSpPr>
        <p:spPr>
          <a:xfrm>
            <a:off x="2852928" y="2974848"/>
            <a:ext cx="1828800" cy="658368"/>
          </a:xfrm>
          <a:prstGeom prst="rect">
            <a:avLst/>
          </a:prstGeom>
          <a:solidFill>
            <a:srgbClr val="E6F1FB"/>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7" name="Google Shape;557;g3eaf5b54de6_3_46"/>
          <p:cNvSpPr/>
          <p:nvPr/>
        </p:nvSpPr>
        <p:spPr>
          <a:xfrm>
            <a:off x="2913888" y="2974848"/>
            <a:ext cx="1706880" cy="65836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C447C"/>
              </a:buClr>
              <a:buSzPts val="1000"/>
              <a:buFont typeface="Calibri"/>
              <a:buNone/>
            </a:pPr>
            <a:r>
              <a:rPr b="0" i="0" lang="en-US" sz="1000" u="none" cap="none" strike="noStrike">
                <a:solidFill>
                  <a:srgbClr val="0C447C"/>
                </a:solidFill>
                <a:latin typeface="Calibri"/>
                <a:ea typeface="Calibri"/>
                <a:cs typeface="Calibri"/>
                <a:sym typeface="Calibri"/>
              </a:rPr>
              <a:t>RAG Retrieval</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C447C"/>
              </a:buClr>
              <a:buSzPts val="1000"/>
              <a:buFont typeface="Calibri"/>
              <a:buNone/>
            </a:pPr>
            <a:r>
              <a:rPr b="0" i="0" lang="en-US" sz="1000" u="none" cap="none" strike="noStrike">
                <a:solidFill>
                  <a:srgbClr val="0C447C"/>
                </a:solidFill>
                <a:latin typeface="Calibri"/>
                <a:ea typeface="Calibri"/>
                <a:cs typeface="Calibri"/>
                <a:sym typeface="Calibri"/>
              </a:rPr>
              <a:t>Entitlement-aware fetch</a:t>
            </a:r>
            <a:endParaRPr b="0" i="0" sz="1000" u="none" cap="none" strike="noStrike">
              <a:solidFill>
                <a:schemeClr val="dk1"/>
              </a:solidFill>
              <a:latin typeface="Calibri"/>
              <a:ea typeface="Calibri"/>
              <a:cs typeface="Calibri"/>
              <a:sym typeface="Calibri"/>
            </a:endParaRPr>
          </a:p>
        </p:txBody>
      </p:sp>
      <p:sp>
        <p:nvSpPr>
          <p:cNvPr id="558" name="Google Shape;558;g3eaf5b54de6_3_46"/>
          <p:cNvSpPr/>
          <p:nvPr/>
        </p:nvSpPr>
        <p:spPr>
          <a:xfrm>
            <a:off x="4876800" y="2974848"/>
            <a:ext cx="2438400" cy="658368"/>
          </a:xfrm>
          <a:prstGeom prst="rect">
            <a:avLst/>
          </a:prstGeom>
          <a:solidFill>
            <a:srgbClr val="FAEEDA"/>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9" name="Google Shape;559;g3eaf5b54de6_3_46"/>
          <p:cNvSpPr/>
          <p:nvPr/>
        </p:nvSpPr>
        <p:spPr>
          <a:xfrm>
            <a:off x="4937760" y="2974848"/>
            <a:ext cx="2316480" cy="65836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412402"/>
              </a:buClr>
              <a:buSzPts val="1000"/>
              <a:buFont typeface="Calibri"/>
              <a:buNone/>
            </a:pPr>
            <a:r>
              <a:rPr b="0" i="0" lang="en-US" sz="1000" u="none" cap="none" strike="noStrike">
                <a:solidFill>
                  <a:srgbClr val="412402"/>
                </a:solidFill>
                <a:latin typeface="Calibri"/>
                <a:ea typeface="Calibri"/>
                <a:cs typeface="Calibri"/>
                <a:sym typeface="Calibri"/>
              </a:rPr>
              <a:t>Foundation Model</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12402"/>
              </a:buClr>
              <a:buSzPts val="1000"/>
              <a:buFont typeface="Calibri"/>
              <a:buNone/>
            </a:pPr>
            <a:r>
              <a:rPr b="0" i="0" lang="en-US" sz="1000" u="none" cap="none" strike="noStrike">
                <a:solidFill>
                  <a:srgbClr val="412402"/>
                </a:solidFill>
                <a:latin typeface="Calibri"/>
                <a:ea typeface="Calibri"/>
                <a:cs typeface="Calibri"/>
                <a:sym typeface="Calibri"/>
              </a:rPr>
              <a:t>Model card required</a:t>
            </a:r>
            <a:endParaRPr b="0" i="0" sz="1000" u="none" cap="none" strike="noStrike">
              <a:solidFill>
                <a:schemeClr val="dk1"/>
              </a:solidFill>
              <a:latin typeface="Calibri"/>
              <a:ea typeface="Calibri"/>
              <a:cs typeface="Calibri"/>
              <a:sym typeface="Calibri"/>
            </a:endParaRPr>
          </a:p>
        </p:txBody>
      </p:sp>
      <p:sp>
        <p:nvSpPr>
          <p:cNvPr id="560" name="Google Shape;560;g3eaf5b54de6_3_46"/>
          <p:cNvSpPr/>
          <p:nvPr/>
        </p:nvSpPr>
        <p:spPr>
          <a:xfrm>
            <a:off x="7510272" y="2974848"/>
            <a:ext cx="1828800" cy="658368"/>
          </a:xfrm>
          <a:prstGeom prst="rect">
            <a:avLst/>
          </a:prstGeom>
          <a:solidFill>
            <a:srgbClr val="FCEBEB"/>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1" name="Google Shape;561;g3eaf5b54de6_3_46"/>
          <p:cNvSpPr/>
          <p:nvPr/>
        </p:nvSpPr>
        <p:spPr>
          <a:xfrm>
            <a:off x="7571232" y="2974848"/>
            <a:ext cx="1706880" cy="65836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501313"/>
              </a:buClr>
              <a:buSzPts val="1000"/>
              <a:buFont typeface="Calibri"/>
              <a:buNone/>
            </a:pPr>
            <a:r>
              <a:rPr b="0" i="0" lang="en-US" sz="1000" u="none" cap="none" strike="noStrike">
                <a:solidFill>
                  <a:srgbClr val="501313"/>
                </a:solidFill>
                <a:latin typeface="Calibri"/>
                <a:ea typeface="Calibri"/>
                <a:cs typeface="Calibri"/>
                <a:sym typeface="Calibri"/>
              </a:rPr>
              <a:t>Agent</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01313"/>
              </a:buClr>
              <a:buSzPts val="1000"/>
              <a:buFont typeface="Calibri"/>
              <a:buNone/>
            </a:pPr>
            <a:r>
              <a:rPr b="0" i="0" lang="en-US" sz="1000" u="none" cap="none" strike="noStrike">
                <a:solidFill>
                  <a:srgbClr val="501313"/>
                </a:solidFill>
                <a:latin typeface="Calibri"/>
                <a:ea typeface="Calibri"/>
                <a:cs typeface="Calibri"/>
                <a:sym typeface="Calibri"/>
              </a:rPr>
              <a:t>HITL gate 2</a:t>
            </a:r>
            <a:endParaRPr b="0" i="0" sz="1000" u="none" cap="none" strike="noStrike">
              <a:solidFill>
                <a:schemeClr val="dk1"/>
              </a:solidFill>
              <a:latin typeface="Calibri"/>
              <a:ea typeface="Calibri"/>
              <a:cs typeface="Calibri"/>
              <a:sym typeface="Calibri"/>
            </a:endParaRPr>
          </a:p>
        </p:txBody>
      </p:sp>
      <p:sp>
        <p:nvSpPr>
          <p:cNvPr id="562" name="Google Shape;562;g3eaf5b54de6_3_46"/>
          <p:cNvSpPr/>
          <p:nvPr/>
        </p:nvSpPr>
        <p:spPr>
          <a:xfrm>
            <a:off x="2852928" y="3730752"/>
            <a:ext cx="2926080" cy="512064"/>
          </a:xfrm>
          <a:prstGeom prst="rect">
            <a:avLst/>
          </a:prstGeom>
          <a:solidFill>
            <a:srgbClr val="EAF3DE"/>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3" name="Google Shape;563;g3eaf5b54de6_3_46"/>
          <p:cNvSpPr/>
          <p:nvPr/>
        </p:nvSpPr>
        <p:spPr>
          <a:xfrm>
            <a:off x="2926080" y="3730752"/>
            <a:ext cx="2779776" cy="51206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27500A"/>
              </a:buClr>
              <a:buSzPts val="1000"/>
              <a:buFont typeface="Calibri"/>
              <a:buNone/>
            </a:pPr>
            <a:r>
              <a:rPr b="0" i="0" lang="en-US" sz="1000" u="none" cap="none" strike="noStrike">
                <a:solidFill>
                  <a:srgbClr val="27500A"/>
                </a:solidFill>
                <a:latin typeface="Calibri"/>
                <a:ea typeface="Calibri"/>
                <a:cs typeface="Calibri"/>
                <a:sym typeface="Calibri"/>
              </a:rPr>
              <a:t>Document Store / Vector DB</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7500A"/>
              </a:buClr>
              <a:buSzPts val="1000"/>
              <a:buFont typeface="Calibri"/>
              <a:buNone/>
            </a:pPr>
            <a:r>
              <a:rPr b="0" i="0" lang="en-US" sz="1000" u="none" cap="none" strike="noStrike">
                <a:solidFill>
                  <a:srgbClr val="27500A"/>
                </a:solidFill>
                <a:latin typeface="Calibri"/>
                <a:ea typeface="Calibri"/>
                <a:cs typeface="Calibri"/>
                <a:sym typeface="Calibri"/>
              </a:rPr>
              <a:t>Knowledge base</a:t>
            </a:r>
            <a:endParaRPr b="0" i="0" sz="1000" u="none" cap="none" strike="noStrike">
              <a:solidFill>
                <a:schemeClr val="dk1"/>
              </a:solidFill>
              <a:latin typeface="Calibri"/>
              <a:ea typeface="Calibri"/>
              <a:cs typeface="Calibri"/>
              <a:sym typeface="Calibri"/>
            </a:endParaRPr>
          </a:p>
        </p:txBody>
      </p:sp>
      <p:sp>
        <p:nvSpPr>
          <p:cNvPr id="564" name="Google Shape;564;g3eaf5b54de6_3_46"/>
          <p:cNvSpPr/>
          <p:nvPr/>
        </p:nvSpPr>
        <p:spPr>
          <a:xfrm>
            <a:off x="5974080" y="3730752"/>
            <a:ext cx="3364992" cy="512064"/>
          </a:xfrm>
          <a:prstGeom prst="rect">
            <a:avLst/>
          </a:prstGeom>
          <a:solidFill>
            <a:srgbClr val="EEEDFE"/>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5" name="Google Shape;565;g3eaf5b54de6_3_46"/>
          <p:cNvSpPr/>
          <p:nvPr/>
        </p:nvSpPr>
        <p:spPr>
          <a:xfrm>
            <a:off x="6047232" y="3730752"/>
            <a:ext cx="3218688" cy="51206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26215C"/>
              </a:buClr>
              <a:buSzPts val="1000"/>
              <a:buFont typeface="Calibri"/>
              <a:buNone/>
            </a:pPr>
            <a:r>
              <a:rPr b="0" i="0" lang="en-US" sz="1000" u="none" cap="none" strike="noStrike">
                <a:solidFill>
                  <a:srgbClr val="26215C"/>
                </a:solidFill>
                <a:latin typeface="Calibri"/>
                <a:ea typeface="Calibri"/>
                <a:cs typeface="Calibri"/>
                <a:sym typeface="Calibri"/>
              </a:rPr>
              <a:t>Skills — Search · Summarize · Send</a:t>
            </a:r>
            <a:endParaRPr b="0" i="0" sz="1000" u="none" cap="none" strike="noStrike">
              <a:solidFill>
                <a:schemeClr val="dk1"/>
              </a:solidFill>
              <a:latin typeface="Calibri"/>
              <a:ea typeface="Calibri"/>
              <a:cs typeface="Calibri"/>
              <a:sym typeface="Calibri"/>
            </a:endParaRPr>
          </a:p>
        </p:txBody>
      </p:sp>
      <p:sp>
        <p:nvSpPr>
          <p:cNvPr id="566" name="Google Shape;566;g3eaf5b54de6_3_46"/>
          <p:cNvSpPr/>
          <p:nvPr/>
        </p:nvSpPr>
        <p:spPr>
          <a:xfrm>
            <a:off x="5974080" y="4315968"/>
            <a:ext cx="3364992" cy="365760"/>
          </a:xfrm>
          <a:prstGeom prst="rect">
            <a:avLst/>
          </a:prstGeom>
          <a:solidFill>
            <a:srgbClr val="EEEDFE"/>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7" name="Google Shape;567;g3eaf5b54de6_3_46"/>
          <p:cNvSpPr/>
          <p:nvPr/>
        </p:nvSpPr>
        <p:spPr>
          <a:xfrm>
            <a:off x="6047232" y="4315968"/>
            <a:ext cx="3218688" cy="36576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26215C"/>
              </a:buClr>
              <a:buSzPts val="900"/>
              <a:buFont typeface="Calibri"/>
              <a:buNone/>
            </a:pPr>
            <a:r>
              <a:rPr b="0" i="0" lang="en-US" sz="900" u="none" cap="none" strike="noStrike">
                <a:solidFill>
                  <a:srgbClr val="26215C"/>
                </a:solidFill>
                <a:latin typeface="Calibri"/>
                <a:ea typeface="Calibri"/>
                <a:cs typeface="Calibri"/>
                <a:sym typeface="Calibri"/>
              </a:rPr>
              <a:t>MCP Protocol Layer — Standardized tool interface</a:t>
            </a:r>
            <a:endParaRPr b="0" i="0" sz="900" u="none" cap="none" strike="noStrike">
              <a:solidFill>
                <a:schemeClr val="dk1"/>
              </a:solidFill>
              <a:latin typeface="Calibri"/>
              <a:ea typeface="Calibri"/>
              <a:cs typeface="Calibri"/>
              <a:sym typeface="Calibri"/>
            </a:endParaRPr>
          </a:p>
        </p:txBody>
      </p:sp>
      <p:sp>
        <p:nvSpPr>
          <p:cNvPr id="568" name="Google Shape;568;g3eaf5b54de6_3_46"/>
          <p:cNvSpPr/>
          <p:nvPr/>
        </p:nvSpPr>
        <p:spPr>
          <a:xfrm>
            <a:off x="5974080" y="4730496"/>
            <a:ext cx="3364992" cy="365760"/>
          </a:xfrm>
          <a:prstGeom prst="rect">
            <a:avLst/>
          </a:prstGeom>
          <a:solidFill>
            <a:srgbClr val="EEEDFE"/>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9" name="Google Shape;569;g3eaf5b54de6_3_46"/>
          <p:cNvSpPr/>
          <p:nvPr/>
        </p:nvSpPr>
        <p:spPr>
          <a:xfrm>
            <a:off x="6047232" y="4730496"/>
            <a:ext cx="3218688" cy="36576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26215C"/>
              </a:buClr>
              <a:buSzPts val="900"/>
              <a:buFont typeface="Calibri"/>
              <a:buNone/>
            </a:pPr>
            <a:r>
              <a:rPr b="0" i="0" lang="en-US" sz="900" u="none" cap="none" strike="noStrike">
                <a:solidFill>
                  <a:srgbClr val="26215C"/>
                </a:solidFill>
                <a:latin typeface="Calibri"/>
                <a:ea typeface="Calibri"/>
                <a:cs typeface="Calibri"/>
                <a:sym typeface="Calibri"/>
              </a:rPr>
              <a:t>APIs — Approved endpoints only</a:t>
            </a:r>
            <a:endParaRPr b="0" i="0" sz="900" u="none" cap="none" strike="noStrike">
              <a:solidFill>
                <a:schemeClr val="dk1"/>
              </a:solidFill>
              <a:latin typeface="Calibri"/>
              <a:ea typeface="Calibri"/>
              <a:cs typeface="Calibri"/>
              <a:sym typeface="Calibri"/>
            </a:endParaRPr>
          </a:p>
        </p:txBody>
      </p:sp>
      <p:sp>
        <p:nvSpPr>
          <p:cNvPr id="570" name="Google Shape;570;g3eaf5b54de6_3_46"/>
          <p:cNvSpPr/>
          <p:nvPr/>
        </p:nvSpPr>
        <p:spPr>
          <a:xfrm>
            <a:off x="2852928" y="5169408"/>
            <a:ext cx="6486144" cy="341376"/>
          </a:xfrm>
          <a:prstGeom prst="rect">
            <a:avLst/>
          </a:prstGeom>
          <a:solidFill>
            <a:srgbClr val="EAF3DE"/>
          </a:solidFill>
          <a:ln cap="flat" cmpd="sng" w="9525">
            <a:solidFill>
              <a:srgbClr val="C0DD9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1" name="Google Shape;571;g3eaf5b54de6_3_46"/>
          <p:cNvSpPr/>
          <p:nvPr/>
        </p:nvSpPr>
        <p:spPr>
          <a:xfrm>
            <a:off x="2913888" y="5169408"/>
            <a:ext cx="6364224" cy="34137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27500A"/>
              </a:buClr>
              <a:buSzPts val="1000"/>
              <a:buFont typeface="Calibri"/>
              <a:buNone/>
            </a:pPr>
            <a:r>
              <a:rPr b="0" i="0" lang="en-US" sz="1000" u="none" cap="none" strike="noStrike">
                <a:solidFill>
                  <a:srgbClr val="27500A"/>
                </a:solidFill>
                <a:latin typeface="Calibri"/>
                <a:ea typeface="Calibri"/>
                <a:cs typeface="Calibri"/>
                <a:sym typeface="Calibri"/>
              </a:rPr>
              <a:t>Data Pipeline — Ingest · Chunk · Embed · Index · Classify · Lineage</a:t>
            </a:r>
            <a:endParaRPr b="0" i="0" sz="1000" u="none" cap="none" strike="noStrike">
              <a:solidFill>
                <a:schemeClr val="dk1"/>
              </a:solidFill>
              <a:latin typeface="Calibri"/>
              <a:ea typeface="Calibri"/>
              <a:cs typeface="Calibri"/>
              <a:sym typeface="Calibri"/>
            </a:endParaRPr>
          </a:p>
        </p:txBody>
      </p:sp>
      <p:sp>
        <p:nvSpPr>
          <p:cNvPr id="572" name="Google Shape;572;g3eaf5b54de6_3_46"/>
          <p:cNvSpPr/>
          <p:nvPr/>
        </p:nvSpPr>
        <p:spPr>
          <a:xfrm>
            <a:off x="2852928" y="5608320"/>
            <a:ext cx="6486144" cy="609600"/>
          </a:xfrm>
          <a:prstGeom prst="rect">
            <a:avLst/>
          </a:prstGeom>
          <a:solidFill>
            <a:srgbClr val="0E2841"/>
          </a:solidFill>
          <a:ln cap="flat" cmpd="sng" w="12700">
            <a:solidFill>
              <a:srgbClr val="0E284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3" name="Google Shape;573;g3eaf5b54de6_3_46"/>
          <p:cNvSpPr/>
          <p:nvPr/>
        </p:nvSpPr>
        <p:spPr>
          <a:xfrm>
            <a:off x="2913888" y="5608320"/>
            <a:ext cx="6364224" cy="6096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Internal Docs · Databases · CMDB · Third-party APIs · IT Tools / Systems</a:t>
            </a:r>
            <a:endParaRPr b="0" i="0" sz="1000" u="none" cap="none" strike="noStrike">
              <a:solidFill>
                <a:schemeClr val="dk1"/>
              </a:solidFill>
              <a:latin typeface="Calibri"/>
              <a:ea typeface="Calibri"/>
              <a:cs typeface="Calibri"/>
              <a:sym typeface="Calibri"/>
            </a:endParaRPr>
          </a:p>
        </p:txBody>
      </p:sp>
      <p:sp>
        <p:nvSpPr>
          <p:cNvPr id="574" name="Google Shape;574;g3eaf5b54de6_3_46"/>
          <p:cNvSpPr/>
          <p:nvPr/>
        </p:nvSpPr>
        <p:spPr>
          <a:xfrm>
            <a:off x="9680448" y="1243584"/>
            <a:ext cx="2292096" cy="1780032"/>
          </a:xfrm>
          <a:prstGeom prst="rect">
            <a:avLst/>
          </a:prstGeom>
          <a:solidFill>
            <a:srgbClr val="F4F4F4"/>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5" name="Google Shape;575;g3eaf5b54de6_3_46"/>
          <p:cNvSpPr/>
          <p:nvPr/>
        </p:nvSpPr>
        <p:spPr>
          <a:xfrm>
            <a:off x="9680448" y="1243584"/>
            <a:ext cx="2292096" cy="60960"/>
          </a:xfrm>
          <a:prstGeom prst="rect">
            <a:avLst/>
          </a:prstGeom>
          <a:solidFill>
            <a:srgbClr val="156082"/>
          </a:solidFill>
          <a:ln cap="flat" cmpd="sng" w="12700">
            <a:solidFill>
              <a:srgbClr val="15608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6" name="Google Shape;576;g3eaf5b54de6_3_46"/>
          <p:cNvSpPr/>
          <p:nvPr/>
        </p:nvSpPr>
        <p:spPr>
          <a:xfrm>
            <a:off x="9802368" y="1341120"/>
            <a:ext cx="2109216"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56082"/>
              </a:buClr>
              <a:buSzPts val="1100"/>
              <a:buFont typeface="Arial"/>
              <a:buNone/>
            </a:pPr>
            <a:r>
              <a:rPr b="1" i="0" lang="en-US" sz="1100" u="none" cap="none" strike="noStrike">
                <a:solidFill>
                  <a:srgbClr val="156082"/>
                </a:solidFill>
                <a:latin typeface="Arial"/>
                <a:ea typeface="Arial"/>
                <a:cs typeface="Arial"/>
                <a:sym typeface="Arial"/>
              </a:rPr>
              <a:t>RUNTIME</a:t>
            </a:r>
            <a:endParaRPr b="0" i="0" sz="1100" u="none" cap="none" strike="noStrike">
              <a:solidFill>
                <a:schemeClr val="dk1"/>
              </a:solidFill>
              <a:latin typeface="Calibri"/>
              <a:ea typeface="Calibri"/>
              <a:cs typeface="Calibri"/>
              <a:sym typeface="Calibri"/>
            </a:endParaRPr>
          </a:p>
        </p:txBody>
      </p:sp>
      <p:sp>
        <p:nvSpPr>
          <p:cNvPr id="577" name="Google Shape;577;g3eaf5b54de6_3_46"/>
          <p:cNvSpPr/>
          <p:nvPr/>
        </p:nvSpPr>
        <p:spPr>
          <a:xfrm>
            <a:off x="9802368" y="1658112"/>
            <a:ext cx="1682496"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Prompt injection</a:t>
            </a:r>
            <a:endParaRPr b="0" i="0" sz="1100" u="none" cap="none" strike="noStrike">
              <a:solidFill>
                <a:schemeClr val="dk1"/>
              </a:solidFill>
              <a:latin typeface="Calibri"/>
              <a:ea typeface="Calibri"/>
              <a:cs typeface="Calibri"/>
              <a:sym typeface="Calibri"/>
            </a:endParaRPr>
          </a:p>
        </p:txBody>
      </p:sp>
      <p:sp>
        <p:nvSpPr>
          <p:cNvPr id="578" name="Google Shape;578;g3eaf5b54de6_3_46"/>
          <p:cNvSpPr/>
          <p:nvPr/>
        </p:nvSpPr>
        <p:spPr>
          <a:xfrm>
            <a:off x="11436096" y="1658112"/>
            <a:ext cx="4878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56082"/>
              </a:buClr>
              <a:buSzPts val="900"/>
              <a:buFont typeface="Calibri"/>
              <a:buNone/>
            </a:pPr>
            <a:r>
              <a:rPr b="1" i="1" lang="en-US" sz="900" u="none" cap="none" strike="noStrike">
                <a:solidFill>
                  <a:srgbClr val="156082"/>
                </a:solidFill>
                <a:latin typeface="Calibri"/>
                <a:ea typeface="Calibri"/>
                <a:cs typeface="Calibri"/>
                <a:sym typeface="Calibri"/>
              </a:rPr>
              <a:t>LLM01</a:t>
            </a:r>
            <a:endParaRPr b="0" i="0" sz="900" u="none" cap="none" strike="noStrike">
              <a:solidFill>
                <a:schemeClr val="dk1"/>
              </a:solidFill>
              <a:latin typeface="Calibri"/>
              <a:ea typeface="Calibri"/>
              <a:cs typeface="Calibri"/>
              <a:sym typeface="Calibri"/>
            </a:endParaRPr>
          </a:p>
        </p:txBody>
      </p:sp>
      <p:sp>
        <p:nvSpPr>
          <p:cNvPr id="579" name="Google Shape;579;g3eaf5b54de6_3_46"/>
          <p:cNvSpPr/>
          <p:nvPr/>
        </p:nvSpPr>
        <p:spPr>
          <a:xfrm>
            <a:off x="9802368" y="1975104"/>
            <a:ext cx="1682496"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Jailbreaks</a:t>
            </a:r>
            <a:endParaRPr b="0" i="0" sz="1100" u="none" cap="none" strike="noStrike">
              <a:solidFill>
                <a:schemeClr val="dk1"/>
              </a:solidFill>
              <a:latin typeface="Calibri"/>
              <a:ea typeface="Calibri"/>
              <a:cs typeface="Calibri"/>
              <a:sym typeface="Calibri"/>
            </a:endParaRPr>
          </a:p>
        </p:txBody>
      </p:sp>
      <p:sp>
        <p:nvSpPr>
          <p:cNvPr id="580" name="Google Shape;580;g3eaf5b54de6_3_46"/>
          <p:cNvSpPr/>
          <p:nvPr/>
        </p:nvSpPr>
        <p:spPr>
          <a:xfrm>
            <a:off x="11436096" y="1975104"/>
            <a:ext cx="4878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56082"/>
              </a:buClr>
              <a:buSzPts val="900"/>
              <a:buFont typeface="Calibri"/>
              <a:buNone/>
            </a:pPr>
            <a:r>
              <a:rPr b="1" i="1" lang="en-US" sz="900" u="none" cap="none" strike="noStrike">
                <a:solidFill>
                  <a:srgbClr val="156082"/>
                </a:solidFill>
                <a:latin typeface="Calibri"/>
                <a:ea typeface="Calibri"/>
                <a:cs typeface="Calibri"/>
                <a:sym typeface="Calibri"/>
              </a:rPr>
              <a:t>LLM01</a:t>
            </a:r>
            <a:endParaRPr b="0" i="0" sz="900" u="none" cap="none" strike="noStrike">
              <a:solidFill>
                <a:schemeClr val="dk1"/>
              </a:solidFill>
              <a:latin typeface="Calibri"/>
              <a:ea typeface="Calibri"/>
              <a:cs typeface="Calibri"/>
              <a:sym typeface="Calibri"/>
            </a:endParaRPr>
          </a:p>
        </p:txBody>
      </p:sp>
      <p:sp>
        <p:nvSpPr>
          <p:cNvPr id="581" name="Google Shape;581;g3eaf5b54de6_3_46"/>
          <p:cNvSpPr/>
          <p:nvPr/>
        </p:nvSpPr>
        <p:spPr>
          <a:xfrm>
            <a:off x="9802368" y="2292096"/>
            <a:ext cx="1682496"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Unauthorized access</a:t>
            </a:r>
            <a:endParaRPr b="0" i="0" sz="1100" u="none" cap="none" strike="noStrike">
              <a:solidFill>
                <a:schemeClr val="dk1"/>
              </a:solidFill>
              <a:latin typeface="Calibri"/>
              <a:ea typeface="Calibri"/>
              <a:cs typeface="Calibri"/>
              <a:sym typeface="Calibri"/>
            </a:endParaRPr>
          </a:p>
        </p:txBody>
      </p:sp>
      <p:sp>
        <p:nvSpPr>
          <p:cNvPr id="582" name="Google Shape;582;g3eaf5b54de6_3_46"/>
          <p:cNvSpPr/>
          <p:nvPr/>
        </p:nvSpPr>
        <p:spPr>
          <a:xfrm>
            <a:off x="11436096" y="2292096"/>
            <a:ext cx="4878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56082"/>
              </a:buClr>
              <a:buSzPts val="900"/>
              <a:buFont typeface="Calibri"/>
              <a:buNone/>
            </a:pPr>
            <a:r>
              <a:rPr b="1" i="1" lang="en-US" sz="900" u="none" cap="none" strike="noStrike">
                <a:solidFill>
                  <a:srgbClr val="156082"/>
                </a:solidFill>
                <a:latin typeface="Calibri"/>
                <a:ea typeface="Calibri"/>
                <a:cs typeface="Calibri"/>
                <a:sym typeface="Calibri"/>
              </a:rPr>
              <a:t>LLM05</a:t>
            </a:r>
            <a:endParaRPr b="0" i="0" sz="900" u="none" cap="none" strike="noStrike">
              <a:solidFill>
                <a:schemeClr val="dk1"/>
              </a:solidFill>
              <a:latin typeface="Calibri"/>
              <a:ea typeface="Calibri"/>
              <a:cs typeface="Calibri"/>
              <a:sym typeface="Calibri"/>
            </a:endParaRPr>
          </a:p>
        </p:txBody>
      </p:sp>
      <p:sp>
        <p:nvSpPr>
          <p:cNvPr id="583" name="Google Shape;583;g3eaf5b54de6_3_46"/>
          <p:cNvSpPr/>
          <p:nvPr/>
        </p:nvSpPr>
        <p:spPr>
          <a:xfrm>
            <a:off x="9802368" y="2609088"/>
            <a:ext cx="1682496"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Output manipulation</a:t>
            </a:r>
            <a:endParaRPr b="0" i="0" sz="1100" u="none" cap="none" strike="noStrike">
              <a:solidFill>
                <a:schemeClr val="dk1"/>
              </a:solidFill>
              <a:latin typeface="Calibri"/>
              <a:ea typeface="Calibri"/>
              <a:cs typeface="Calibri"/>
              <a:sym typeface="Calibri"/>
            </a:endParaRPr>
          </a:p>
        </p:txBody>
      </p:sp>
      <p:sp>
        <p:nvSpPr>
          <p:cNvPr id="584" name="Google Shape;584;g3eaf5b54de6_3_46"/>
          <p:cNvSpPr/>
          <p:nvPr/>
        </p:nvSpPr>
        <p:spPr>
          <a:xfrm>
            <a:off x="11436096" y="2609088"/>
            <a:ext cx="487800" cy="26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56082"/>
              </a:buClr>
              <a:buSzPts val="900"/>
              <a:buFont typeface="Calibri"/>
              <a:buNone/>
            </a:pPr>
            <a:r>
              <a:rPr b="1" i="1" lang="en-US" sz="900" u="none" cap="none" strike="noStrike">
                <a:solidFill>
                  <a:srgbClr val="156082"/>
                </a:solidFill>
                <a:latin typeface="Calibri"/>
                <a:ea typeface="Calibri"/>
                <a:cs typeface="Calibri"/>
                <a:sym typeface="Calibri"/>
              </a:rPr>
              <a:t>LLM02</a:t>
            </a:r>
            <a:endParaRPr b="0" i="0" sz="900" u="none" cap="none" strike="noStrike">
              <a:solidFill>
                <a:schemeClr val="dk1"/>
              </a:solidFill>
              <a:latin typeface="Calibri"/>
              <a:ea typeface="Calibri"/>
              <a:cs typeface="Calibri"/>
              <a:sym typeface="Calibri"/>
            </a:endParaRPr>
          </a:p>
        </p:txBody>
      </p:sp>
      <p:sp>
        <p:nvSpPr>
          <p:cNvPr id="585" name="Google Shape;585;g3eaf5b54de6_3_46"/>
          <p:cNvSpPr/>
          <p:nvPr/>
        </p:nvSpPr>
        <p:spPr>
          <a:xfrm>
            <a:off x="9680448" y="3096768"/>
            <a:ext cx="2292096" cy="1780032"/>
          </a:xfrm>
          <a:prstGeom prst="rect">
            <a:avLst/>
          </a:prstGeom>
          <a:solidFill>
            <a:srgbClr val="F4F4F4"/>
          </a:solidFill>
          <a:ln cap="flat" cmpd="sng" w="9525">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6" name="Google Shape;586;g3eaf5b54de6_3_46"/>
          <p:cNvSpPr/>
          <p:nvPr/>
        </p:nvSpPr>
        <p:spPr>
          <a:xfrm>
            <a:off x="9680448" y="3096768"/>
            <a:ext cx="2292096" cy="6096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7" name="Google Shape;587;g3eaf5b54de6_3_46"/>
          <p:cNvSpPr/>
          <p:nvPr/>
        </p:nvSpPr>
        <p:spPr>
          <a:xfrm>
            <a:off x="9802368" y="3194304"/>
            <a:ext cx="2109216"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4EA72E"/>
              </a:buClr>
              <a:buSzPts val="1100"/>
              <a:buFont typeface="Arial"/>
              <a:buNone/>
            </a:pPr>
            <a:r>
              <a:rPr b="1" i="0" lang="en-US" sz="1100" u="none" cap="none" strike="noStrike">
                <a:solidFill>
                  <a:srgbClr val="4EA72E"/>
                </a:solidFill>
                <a:latin typeface="Arial"/>
                <a:ea typeface="Arial"/>
                <a:cs typeface="Arial"/>
                <a:sym typeface="Arial"/>
              </a:rPr>
              <a:t>DECISION RISK</a:t>
            </a:r>
            <a:endParaRPr b="0" i="0" sz="1100" u="none" cap="none" strike="noStrike">
              <a:solidFill>
                <a:schemeClr val="dk1"/>
              </a:solidFill>
              <a:latin typeface="Calibri"/>
              <a:ea typeface="Calibri"/>
              <a:cs typeface="Calibri"/>
              <a:sym typeface="Calibri"/>
            </a:endParaRPr>
          </a:p>
        </p:txBody>
      </p:sp>
      <p:sp>
        <p:nvSpPr>
          <p:cNvPr id="588" name="Google Shape;588;g3eaf5b54de6_3_46"/>
          <p:cNvSpPr/>
          <p:nvPr/>
        </p:nvSpPr>
        <p:spPr>
          <a:xfrm>
            <a:off x="9802368" y="3511296"/>
            <a:ext cx="1682496"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Flawed decisions at scale</a:t>
            </a:r>
            <a:endParaRPr b="0" i="0" sz="1100" u="none" cap="none" strike="noStrike">
              <a:solidFill>
                <a:schemeClr val="dk1"/>
              </a:solidFill>
              <a:latin typeface="Calibri"/>
              <a:ea typeface="Calibri"/>
              <a:cs typeface="Calibri"/>
              <a:sym typeface="Calibri"/>
            </a:endParaRPr>
          </a:p>
        </p:txBody>
      </p:sp>
      <p:sp>
        <p:nvSpPr>
          <p:cNvPr id="589" name="Google Shape;589;g3eaf5b54de6_3_46"/>
          <p:cNvSpPr/>
          <p:nvPr/>
        </p:nvSpPr>
        <p:spPr>
          <a:xfrm>
            <a:off x="9802368" y="3828288"/>
            <a:ext cx="1682496"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Regulatory violations</a:t>
            </a:r>
            <a:endParaRPr b="0" i="0" sz="1100" u="none" cap="none" strike="noStrike">
              <a:solidFill>
                <a:schemeClr val="dk1"/>
              </a:solidFill>
              <a:latin typeface="Calibri"/>
              <a:ea typeface="Calibri"/>
              <a:cs typeface="Calibri"/>
              <a:sym typeface="Calibri"/>
            </a:endParaRPr>
          </a:p>
        </p:txBody>
      </p:sp>
      <p:sp>
        <p:nvSpPr>
          <p:cNvPr id="590" name="Google Shape;590;g3eaf5b54de6_3_46"/>
          <p:cNvSpPr/>
          <p:nvPr/>
        </p:nvSpPr>
        <p:spPr>
          <a:xfrm>
            <a:off x="9802368" y="4145280"/>
            <a:ext cx="1682496"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Financial exposure</a:t>
            </a:r>
            <a:endParaRPr b="0" i="0" sz="1100" u="none" cap="none" strike="noStrike">
              <a:solidFill>
                <a:schemeClr val="dk1"/>
              </a:solidFill>
              <a:latin typeface="Calibri"/>
              <a:ea typeface="Calibri"/>
              <a:cs typeface="Calibri"/>
              <a:sym typeface="Calibri"/>
            </a:endParaRPr>
          </a:p>
        </p:txBody>
      </p:sp>
      <p:sp>
        <p:nvSpPr>
          <p:cNvPr id="591" name="Google Shape;591;g3eaf5b54de6_3_46"/>
          <p:cNvSpPr/>
          <p:nvPr/>
        </p:nvSpPr>
        <p:spPr>
          <a:xfrm>
            <a:off x="9802368" y="4462272"/>
            <a:ext cx="1682496"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A1A1A"/>
              </a:buClr>
              <a:buSzPts val="1100"/>
              <a:buFont typeface="Calibri"/>
              <a:buNone/>
            </a:pPr>
            <a:r>
              <a:rPr b="0" i="0" lang="en-US" sz="1100" u="none" cap="none" strike="noStrike">
                <a:solidFill>
                  <a:srgbClr val="1A1A1A"/>
                </a:solidFill>
                <a:latin typeface="Calibri"/>
                <a:ea typeface="Calibri"/>
                <a:cs typeface="Calibri"/>
                <a:sym typeface="Calibri"/>
              </a:rPr>
              <a:t>•  Reputational harm</a:t>
            </a:r>
            <a:endParaRPr b="0" i="0" sz="1100" u="none" cap="none" strike="noStrike">
              <a:solidFill>
                <a:schemeClr val="dk1"/>
              </a:solidFill>
              <a:latin typeface="Calibri"/>
              <a:ea typeface="Calibri"/>
              <a:cs typeface="Calibri"/>
              <a:sym typeface="Calibri"/>
            </a:endParaRPr>
          </a:p>
        </p:txBody>
      </p:sp>
      <p:sp>
        <p:nvSpPr>
          <p:cNvPr id="592" name="Google Shape;592;g3eaf5b54de6_3_46"/>
          <p:cNvSpPr/>
          <p:nvPr/>
        </p:nvSpPr>
        <p:spPr>
          <a:xfrm>
            <a:off x="9680448" y="4803648"/>
            <a:ext cx="2292096" cy="1438656"/>
          </a:xfrm>
          <a:prstGeom prst="rect">
            <a:avLst/>
          </a:prstGeom>
          <a:solidFill>
            <a:srgbClr val="0E2841"/>
          </a:solidFill>
          <a:ln cap="flat" cmpd="sng" w="12700">
            <a:solidFill>
              <a:srgbClr val="0E284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93" name="Google Shape;593;g3eaf5b54de6_3_46"/>
          <p:cNvSpPr/>
          <p:nvPr/>
        </p:nvSpPr>
        <p:spPr>
          <a:xfrm>
            <a:off x="9680448" y="4803648"/>
            <a:ext cx="2292096" cy="6096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94" name="Google Shape;594;g3eaf5b54de6_3_46"/>
          <p:cNvSpPr/>
          <p:nvPr/>
        </p:nvSpPr>
        <p:spPr>
          <a:xfrm>
            <a:off x="9680448" y="4852416"/>
            <a:ext cx="2292096" cy="48768"/>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95" name="Google Shape;595;g3eaf5b54de6_3_46"/>
          <p:cNvSpPr/>
          <p:nvPr/>
        </p:nvSpPr>
        <p:spPr>
          <a:xfrm>
            <a:off x="9802368" y="4925568"/>
            <a:ext cx="2109216" cy="2438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E97132"/>
              </a:buClr>
              <a:buSzPts val="1000"/>
              <a:buFont typeface="Arial"/>
              <a:buNone/>
            </a:pPr>
            <a:r>
              <a:rPr b="1" i="0" lang="en-US" sz="1000" u="none" cap="none" strike="noStrike">
                <a:solidFill>
                  <a:srgbClr val="E97132"/>
                </a:solidFill>
                <a:latin typeface="Arial"/>
                <a:ea typeface="Arial"/>
                <a:cs typeface="Arial"/>
                <a:sym typeface="Arial"/>
              </a:rPr>
              <a:t>OWASP LLM TOP 10</a:t>
            </a:r>
            <a:endParaRPr b="0" i="0" sz="1000" u="none" cap="none" strike="noStrike">
              <a:solidFill>
                <a:schemeClr val="dk1"/>
              </a:solidFill>
              <a:latin typeface="Calibri"/>
              <a:ea typeface="Calibri"/>
              <a:cs typeface="Calibri"/>
              <a:sym typeface="Calibri"/>
            </a:endParaRPr>
          </a:p>
        </p:txBody>
      </p:sp>
      <p:sp>
        <p:nvSpPr>
          <p:cNvPr id="596" name="Google Shape;596;g3eaf5b54de6_3_46"/>
          <p:cNvSpPr/>
          <p:nvPr/>
        </p:nvSpPr>
        <p:spPr>
          <a:xfrm>
            <a:off x="9802368" y="5193792"/>
            <a:ext cx="2109216" cy="755904"/>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The industry reference for AI attack vectors. LLM01–LLM10 map directly to the risk layers shown here. Your security teams should be working from this list.</a:t>
            </a:r>
            <a:endParaRPr b="0" i="0" sz="1000" u="none" cap="none" strike="noStrike">
              <a:solidFill>
                <a:schemeClr val="dk1"/>
              </a:solidFill>
              <a:latin typeface="Calibri"/>
              <a:ea typeface="Calibri"/>
              <a:cs typeface="Calibri"/>
              <a:sym typeface="Calibri"/>
            </a:endParaRPr>
          </a:p>
        </p:txBody>
      </p:sp>
      <p:sp>
        <p:nvSpPr>
          <p:cNvPr id="597" name="Google Shape;597;g3eaf5b54de6_3_46"/>
          <p:cNvSpPr/>
          <p:nvPr/>
        </p:nvSpPr>
        <p:spPr>
          <a:xfrm>
            <a:off x="9802368" y="5974080"/>
            <a:ext cx="2109216" cy="195072"/>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888888"/>
              </a:buClr>
              <a:buSzPts val="900"/>
              <a:buFont typeface="Calibri"/>
              <a:buNone/>
            </a:pPr>
            <a:r>
              <a:rPr b="0" i="1" lang="en-US" sz="900" u="none" cap="none" strike="noStrike">
                <a:solidFill>
                  <a:srgbClr val="888888"/>
                </a:solidFill>
                <a:latin typeface="Calibri"/>
                <a:ea typeface="Calibri"/>
                <a:cs typeface="Calibri"/>
                <a:sym typeface="Calibri"/>
              </a:rPr>
              <a:t>owasp.org/LLM-top-10</a:t>
            </a:r>
            <a:endParaRPr b="0" i="0" sz="900" u="none" cap="none" strike="noStrike">
              <a:solidFill>
                <a:schemeClr val="dk1"/>
              </a:solidFill>
              <a:latin typeface="Calibri"/>
              <a:ea typeface="Calibri"/>
              <a:cs typeface="Calibri"/>
              <a:sym typeface="Calibri"/>
            </a:endParaRPr>
          </a:p>
        </p:txBody>
      </p:sp>
      <p:sp>
        <p:nvSpPr>
          <p:cNvPr id="598" name="Google Shape;598;g3eaf5b54de6_3_46"/>
          <p:cNvSpPr/>
          <p:nvPr/>
        </p:nvSpPr>
        <p:spPr>
          <a:xfrm>
            <a:off x="-12150" y="6361585"/>
            <a:ext cx="12216300" cy="489900"/>
          </a:xfrm>
          <a:prstGeom prst="round2SameRect">
            <a:avLst>
              <a:gd fmla="val 47728" name="adj1"/>
              <a:gd fmla="val 0" name="adj2"/>
            </a:avLst>
          </a:prstGeom>
          <a:solidFill>
            <a:srgbClr val="9BBB59"/>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cap="none" strike="noStrike">
                <a:solidFill>
                  <a:schemeClr val="lt1"/>
                </a:solidFill>
                <a:latin typeface="Montserrat"/>
                <a:ea typeface="Montserrat"/>
                <a:cs typeface="Montserrat"/>
                <a:sym typeface="Montserrat"/>
              </a:rPr>
              <a:t>T200 AI Leadership &amp; Governance Series  |  2026								www.t200.org</a:t>
            </a:r>
            <a:endParaRPr b="1" i="0" sz="1000" u="none" cap="none" strike="noStrike">
              <a:solidFill>
                <a:schemeClr val="lt1"/>
              </a:solidFill>
              <a:latin typeface="Montserrat"/>
              <a:ea typeface="Montserrat"/>
              <a:cs typeface="Montserrat"/>
              <a:sym typeface="Montserrat"/>
            </a:endParaRPr>
          </a:p>
        </p:txBody>
      </p:sp>
      <p:sp>
        <p:nvSpPr>
          <p:cNvPr id="599" name="Google Shape;599;g3eaf5b54de6_3_46"/>
          <p:cNvSpPr/>
          <p:nvPr/>
        </p:nvSpPr>
        <p:spPr>
          <a:xfrm>
            <a:off x="365760" y="85344"/>
            <a:ext cx="10363200" cy="26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1300"/>
              <a:buFont typeface="Montserrat"/>
              <a:buNone/>
            </a:pPr>
            <a:r>
              <a:rPr b="1" lang="en-US" sz="1300">
                <a:solidFill>
                  <a:srgbClr val="E97132"/>
                </a:solidFill>
                <a:latin typeface="Montserrat"/>
                <a:ea typeface="Montserrat"/>
                <a:cs typeface="Montserrat"/>
                <a:sym typeface="Montserrat"/>
              </a:rPr>
              <a:t>TOPIC 3 OF 4  |  AI RISK IN PRACTICE</a:t>
            </a:r>
            <a:endParaRPr sz="1300">
              <a:solidFill>
                <a:schemeClr val="dk1"/>
              </a:solidFill>
              <a:latin typeface="Calibri"/>
              <a:ea typeface="Calibri"/>
              <a:cs typeface="Calibri"/>
              <a:sym typeface="Calibri"/>
            </a:endParaRPr>
          </a:p>
        </p:txBody>
      </p:sp>
      <p:sp>
        <p:nvSpPr>
          <p:cNvPr id="600" name="Google Shape;600;g3eaf5b54de6_3_46"/>
          <p:cNvSpPr txBox="1"/>
          <p:nvPr/>
        </p:nvSpPr>
        <p:spPr>
          <a:xfrm>
            <a:off x="4868398" y="5983052"/>
            <a:ext cx="45717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lang="en-US" sz="800">
                <a:solidFill>
                  <a:schemeClr val="lt1"/>
                </a:solidFill>
                <a:latin typeface="Montserrat"/>
                <a:ea typeface="Montserrat"/>
                <a:cs typeface="Montserrat"/>
                <a:sym typeface="Montserrat"/>
              </a:rPr>
              <a:t>Jyoti Wadhwa, AI Governance Executive | ISO 42001 Lead Auditor.</a:t>
            </a:r>
            <a:endParaRPr sz="800">
              <a:solidFill>
                <a:schemeClr val="lt1"/>
              </a:solidFill>
              <a:latin typeface="Montserrat"/>
              <a:ea typeface="Montserrat"/>
              <a:cs typeface="Montserrat"/>
              <a:sym typeface="Montserrat"/>
            </a:endParaRPr>
          </a:p>
        </p:txBody>
      </p:sp>
      <p:sp>
        <p:nvSpPr>
          <p:cNvPr id="601" name="Google Shape;601;g3eaf5b54de6_3_46"/>
          <p:cNvSpPr txBox="1"/>
          <p:nvPr/>
        </p:nvSpPr>
        <p:spPr>
          <a:xfrm>
            <a:off x="11157200" y="421300"/>
            <a:ext cx="106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6" name="Shape 606"/>
        <p:cNvGrpSpPr/>
        <p:nvPr/>
      </p:nvGrpSpPr>
      <p:grpSpPr>
        <a:xfrm>
          <a:off x="0" y="0"/>
          <a:ext cx="0" cy="0"/>
          <a:chOff x="0" y="0"/>
          <a:chExt cx="0" cy="0"/>
        </a:xfrm>
      </p:grpSpPr>
      <p:pic>
        <p:nvPicPr>
          <p:cNvPr descr="preencoded.png" id="607" name="Google Shape;607;g3eae049a994_4_180"/>
          <p:cNvPicPr preferRelativeResize="0"/>
          <p:nvPr/>
        </p:nvPicPr>
        <p:blipFill rotWithShape="1">
          <a:blip r:embed="rId3">
            <a:alphaModFix/>
          </a:blip>
          <a:srcRect b="0" l="0" r="0" t="0"/>
          <a:stretch/>
        </p:blipFill>
        <p:spPr>
          <a:xfrm>
            <a:off x="11033760" y="0"/>
            <a:ext cx="1036320" cy="1036320"/>
          </a:xfrm>
          <a:prstGeom prst="rect">
            <a:avLst/>
          </a:prstGeom>
          <a:noFill/>
          <a:ln>
            <a:noFill/>
          </a:ln>
        </p:spPr>
      </p:pic>
      <p:sp>
        <p:nvSpPr>
          <p:cNvPr id="608" name="Google Shape;608;g3eae049a994_4_180"/>
          <p:cNvSpPr/>
          <p:nvPr/>
        </p:nvSpPr>
        <p:spPr>
          <a:xfrm>
            <a:off x="243840" y="6449568"/>
            <a:ext cx="7924800" cy="3413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Montserrat"/>
              <a:buNone/>
            </a:pPr>
            <a:r>
              <a:rPr b="1" lang="en-US" sz="1100">
                <a:solidFill>
                  <a:srgbClr val="FFFFFF"/>
                </a:solidFill>
                <a:latin typeface="Montserrat"/>
                <a:ea typeface="Montserrat"/>
                <a:cs typeface="Montserrat"/>
                <a:sym typeface="Montserrat"/>
              </a:rPr>
              <a:t>T200 AI Leadership &amp; Governance Series  |  2026</a:t>
            </a:r>
            <a:endParaRPr sz="1100">
              <a:solidFill>
                <a:schemeClr val="dk1"/>
              </a:solidFill>
              <a:latin typeface="Calibri"/>
              <a:ea typeface="Calibri"/>
              <a:cs typeface="Calibri"/>
              <a:sym typeface="Calibri"/>
            </a:endParaRPr>
          </a:p>
        </p:txBody>
      </p:sp>
      <p:sp>
        <p:nvSpPr>
          <p:cNvPr id="609" name="Google Shape;609;g3eae049a994_4_180"/>
          <p:cNvSpPr/>
          <p:nvPr/>
        </p:nvSpPr>
        <p:spPr>
          <a:xfrm>
            <a:off x="9144000" y="6449568"/>
            <a:ext cx="2804160" cy="3413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Montserrat"/>
              <a:buNone/>
            </a:pPr>
            <a:r>
              <a:rPr b="1" lang="en-US" sz="1100">
                <a:solidFill>
                  <a:srgbClr val="FFFFFF"/>
                </a:solidFill>
                <a:latin typeface="Montserrat"/>
                <a:ea typeface="Montserrat"/>
                <a:cs typeface="Montserrat"/>
                <a:sym typeface="Montserrat"/>
              </a:rPr>
              <a:t>www.t200.org</a:t>
            </a:r>
            <a:endParaRPr sz="1100">
              <a:solidFill>
                <a:schemeClr val="dk1"/>
              </a:solidFill>
              <a:latin typeface="Calibri"/>
              <a:ea typeface="Calibri"/>
              <a:cs typeface="Calibri"/>
              <a:sym typeface="Calibri"/>
            </a:endParaRPr>
          </a:p>
        </p:txBody>
      </p:sp>
      <p:sp>
        <p:nvSpPr>
          <p:cNvPr id="610" name="Google Shape;610;g3eae049a994_4_180"/>
          <p:cNvSpPr/>
          <p:nvPr/>
        </p:nvSpPr>
        <p:spPr>
          <a:xfrm>
            <a:off x="365760" y="85344"/>
            <a:ext cx="10363200" cy="2682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1300"/>
              <a:buFont typeface="Montserrat"/>
              <a:buNone/>
            </a:pPr>
            <a:r>
              <a:rPr b="1" lang="en-US" sz="1300">
                <a:solidFill>
                  <a:srgbClr val="E97132"/>
                </a:solidFill>
                <a:latin typeface="Montserrat"/>
                <a:ea typeface="Montserrat"/>
                <a:cs typeface="Montserrat"/>
                <a:sym typeface="Montserrat"/>
              </a:rPr>
              <a:t>TOPIC 4 OF 4  |  IMPLEMENTATION &amp; OVERSIGHT</a:t>
            </a:r>
            <a:endParaRPr sz="1300">
              <a:solidFill>
                <a:schemeClr val="dk1"/>
              </a:solidFill>
              <a:latin typeface="Calibri"/>
              <a:ea typeface="Calibri"/>
              <a:cs typeface="Calibri"/>
              <a:sym typeface="Calibri"/>
            </a:endParaRPr>
          </a:p>
        </p:txBody>
      </p:sp>
      <p:sp>
        <p:nvSpPr>
          <p:cNvPr id="611" name="Google Shape;611;g3eae049a994_4_180"/>
          <p:cNvSpPr/>
          <p:nvPr/>
        </p:nvSpPr>
        <p:spPr>
          <a:xfrm>
            <a:off x="365760" y="329184"/>
            <a:ext cx="10485120" cy="670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900"/>
              <a:buFont typeface="Montserrat"/>
              <a:buNone/>
            </a:pPr>
            <a:r>
              <a:rPr b="1" lang="en-US" sz="2900">
                <a:solidFill>
                  <a:srgbClr val="1A1A1A"/>
                </a:solidFill>
                <a:latin typeface="Montserrat"/>
                <a:ea typeface="Montserrat"/>
                <a:cs typeface="Montserrat"/>
                <a:sym typeface="Montserrat"/>
              </a:rPr>
              <a:t>A Practical Four-Step Governance Approach</a:t>
            </a:r>
            <a:endParaRPr sz="2900">
              <a:solidFill>
                <a:schemeClr val="dk1"/>
              </a:solidFill>
              <a:latin typeface="Calibri"/>
              <a:ea typeface="Calibri"/>
              <a:cs typeface="Calibri"/>
              <a:sym typeface="Calibri"/>
            </a:endParaRPr>
          </a:p>
        </p:txBody>
      </p:sp>
      <p:sp>
        <p:nvSpPr>
          <p:cNvPr id="612" name="Google Shape;612;g3eae049a994_4_180"/>
          <p:cNvSpPr/>
          <p:nvPr/>
        </p:nvSpPr>
        <p:spPr>
          <a:xfrm>
            <a:off x="465151" y="1048512"/>
            <a:ext cx="11216700" cy="34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400"/>
              <a:buFont typeface="Calibri"/>
              <a:buNone/>
            </a:pPr>
            <a:r>
              <a:rPr i="1" lang="en-US" sz="1500">
                <a:solidFill>
                  <a:srgbClr val="555555"/>
                </a:solidFill>
                <a:latin typeface="Montserrat"/>
                <a:ea typeface="Montserrat"/>
                <a:cs typeface="Montserrat"/>
                <a:sym typeface="Montserrat"/>
              </a:rPr>
              <a:t>Effective AI governance is a continuous lifecycle — not a one-time compliance exercise.</a:t>
            </a:r>
            <a:endParaRPr sz="1500">
              <a:solidFill>
                <a:schemeClr val="dk1"/>
              </a:solidFill>
              <a:latin typeface="Montserrat"/>
              <a:ea typeface="Montserrat"/>
              <a:cs typeface="Montserrat"/>
              <a:sym typeface="Montserrat"/>
            </a:endParaRPr>
          </a:p>
        </p:txBody>
      </p:sp>
      <p:sp>
        <p:nvSpPr>
          <p:cNvPr id="613" name="Google Shape;613;g3eae049a994_4_180"/>
          <p:cNvSpPr/>
          <p:nvPr/>
        </p:nvSpPr>
        <p:spPr>
          <a:xfrm>
            <a:off x="381658" y="1463050"/>
            <a:ext cx="2743200" cy="3779400"/>
          </a:xfrm>
          <a:prstGeom prst="rect">
            <a:avLst/>
          </a:prstGeom>
          <a:solidFill>
            <a:srgbClr val="F4F4F4"/>
          </a:solidFill>
          <a:ln cap="flat" cmpd="sng" w="9525">
            <a:solidFill>
              <a:srgbClr val="D9D9D9"/>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4" name="Google Shape;614;g3eae049a994_4_180"/>
          <p:cNvSpPr/>
          <p:nvPr/>
        </p:nvSpPr>
        <p:spPr>
          <a:xfrm>
            <a:off x="381663" y="1463040"/>
            <a:ext cx="2743200" cy="670500"/>
          </a:xfrm>
          <a:prstGeom prst="rect">
            <a:avLst/>
          </a:prstGeom>
          <a:solidFill>
            <a:srgbClr val="E97132"/>
          </a:solidFill>
          <a:ln cap="flat" cmpd="sng" w="12700">
            <a:solidFill>
              <a:srgbClr val="E9713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5" name="Google Shape;615;g3eae049a994_4_180"/>
          <p:cNvSpPr/>
          <p:nvPr/>
        </p:nvSpPr>
        <p:spPr>
          <a:xfrm>
            <a:off x="564543" y="1511808"/>
            <a:ext cx="670500" cy="57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Montserrat"/>
              <a:buNone/>
            </a:pPr>
            <a:r>
              <a:rPr b="1" lang="en-US" sz="2800">
                <a:solidFill>
                  <a:srgbClr val="FFFFFF"/>
                </a:solidFill>
                <a:latin typeface="Montserrat"/>
                <a:ea typeface="Montserrat"/>
                <a:cs typeface="Montserrat"/>
                <a:sym typeface="Montserrat"/>
              </a:rPr>
              <a:t>01</a:t>
            </a:r>
            <a:endParaRPr sz="2800">
              <a:solidFill>
                <a:schemeClr val="dk1"/>
              </a:solidFill>
              <a:latin typeface="Montserrat"/>
              <a:ea typeface="Montserrat"/>
              <a:cs typeface="Montserrat"/>
              <a:sym typeface="Montserrat"/>
            </a:endParaRPr>
          </a:p>
        </p:txBody>
      </p:sp>
      <p:sp>
        <p:nvSpPr>
          <p:cNvPr id="616" name="Google Shape;616;g3eae049a994_4_180"/>
          <p:cNvSpPr/>
          <p:nvPr/>
        </p:nvSpPr>
        <p:spPr>
          <a:xfrm>
            <a:off x="1174143" y="1633728"/>
            <a:ext cx="1828800" cy="34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Montserrat"/>
              <a:buNone/>
            </a:pPr>
            <a:r>
              <a:rPr b="1" lang="en-US" sz="1200">
                <a:solidFill>
                  <a:srgbClr val="FFFFFF"/>
                </a:solidFill>
                <a:latin typeface="Montserrat"/>
                <a:ea typeface="Montserrat"/>
                <a:cs typeface="Montserrat"/>
                <a:sym typeface="Montserrat"/>
              </a:rPr>
              <a:t>DISCOVER</a:t>
            </a:r>
            <a:endParaRPr sz="1200">
              <a:solidFill>
                <a:schemeClr val="dk1"/>
              </a:solidFill>
              <a:latin typeface="Montserrat"/>
              <a:ea typeface="Montserrat"/>
              <a:cs typeface="Montserrat"/>
              <a:sym typeface="Montserrat"/>
            </a:endParaRPr>
          </a:p>
        </p:txBody>
      </p:sp>
      <p:sp>
        <p:nvSpPr>
          <p:cNvPr id="617" name="Google Shape;617;g3eae049a994_4_180"/>
          <p:cNvSpPr/>
          <p:nvPr/>
        </p:nvSpPr>
        <p:spPr>
          <a:xfrm>
            <a:off x="564543" y="2255520"/>
            <a:ext cx="2438400" cy="42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Montserrat"/>
              <a:buNone/>
            </a:pPr>
            <a:r>
              <a:rPr b="1" lang="en-US" sz="1600">
                <a:solidFill>
                  <a:srgbClr val="1A1A1A"/>
                </a:solidFill>
                <a:latin typeface="Montserrat"/>
                <a:ea typeface="Montserrat"/>
                <a:cs typeface="Montserrat"/>
                <a:sym typeface="Montserrat"/>
              </a:rPr>
              <a:t>Know what you have</a:t>
            </a:r>
            <a:endParaRPr sz="1600">
              <a:solidFill>
                <a:schemeClr val="dk1"/>
              </a:solidFill>
              <a:latin typeface="Montserrat"/>
              <a:ea typeface="Montserrat"/>
              <a:cs typeface="Montserrat"/>
              <a:sym typeface="Montserrat"/>
            </a:endParaRPr>
          </a:p>
        </p:txBody>
      </p:sp>
      <p:sp>
        <p:nvSpPr>
          <p:cNvPr id="618" name="Google Shape;618;g3eae049a994_4_180"/>
          <p:cNvSpPr/>
          <p:nvPr/>
        </p:nvSpPr>
        <p:spPr>
          <a:xfrm>
            <a:off x="564543" y="2767584"/>
            <a:ext cx="2438400" cy="2950500"/>
          </a:xfrm>
          <a:prstGeom prst="rect">
            <a:avLst/>
          </a:prstGeom>
          <a:noFill/>
          <a:ln>
            <a:noFill/>
          </a:ln>
        </p:spPr>
        <p:txBody>
          <a:bodyPr anchorCtr="0" anchor="t" bIns="0" lIns="0" spcFirstLastPara="1" rIns="0" wrap="square" tIns="0">
            <a:noAutofit/>
          </a:bodyPr>
          <a:lstStyle/>
          <a:p>
            <a:pPr indent="-469900" lvl="0" marL="457200" marR="0" rtl="0" algn="l">
              <a:spcBef>
                <a:spcPts val="0"/>
              </a:spcBef>
              <a:spcAft>
                <a:spcPts val="0"/>
              </a:spcAft>
              <a:buClr>
                <a:srgbClr val="1A1A1A"/>
              </a:buClr>
              <a:buSzPts val="1400"/>
              <a:buFont typeface="Montserrat"/>
              <a:buChar char="•"/>
            </a:pPr>
            <a:r>
              <a:rPr lang="en-US">
                <a:solidFill>
                  <a:srgbClr val="1A1A1A"/>
                </a:solidFill>
                <a:latin typeface="Montserrat"/>
                <a:ea typeface="Montserrat"/>
                <a:cs typeface="Montserrat"/>
                <a:sym typeface="Montserrat"/>
              </a:rPr>
              <a:t>AI inventory</a:t>
            </a:r>
            <a:endParaRPr>
              <a:solidFill>
                <a:schemeClr val="dk1"/>
              </a:solidFill>
              <a:latin typeface="Montserrat"/>
              <a:ea typeface="Montserrat"/>
              <a:cs typeface="Montserrat"/>
              <a:sym typeface="Montserrat"/>
            </a:endParaRPr>
          </a:p>
          <a:p>
            <a:pPr indent="-469900" lvl="0" marL="457200" marR="0" rtl="0" algn="l">
              <a:spcBef>
                <a:spcPts val="900"/>
              </a:spcBef>
              <a:spcAft>
                <a:spcPts val="0"/>
              </a:spcAft>
              <a:buClr>
                <a:srgbClr val="1A1A1A"/>
              </a:buClr>
              <a:buSzPts val="1400"/>
              <a:buFont typeface="Montserrat"/>
              <a:buChar char="•"/>
            </a:pPr>
            <a:r>
              <a:rPr lang="en-US">
                <a:solidFill>
                  <a:srgbClr val="1A1A1A"/>
                </a:solidFill>
                <a:latin typeface="Montserrat"/>
                <a:ea typeface="Montserrat"/>
                <a:cs typeface="Montserrat"/>
                <a:sym typeface="Montserrat"/>
              </a:rPr>
              <a:t>Shadow AI discovery</a:t>
            </a:r>
            <a:endParaRPr>
              <a:solidFill>
                <a:schemeClr val="dk1"/>
              </a:solidFill>
              <a:latin typeface="Montserrat"/>
              <a:ea typeface="Montserrat"/>
              <a:cs typeface="Montserrat"/>
              <a:sym typeface="Montserrat"/>
            </a:endParaRPr>
          </a:p>
          <a:p>
            <a:pPr indent="-469900" lvl="0" marL="457200" marR="0" rtl="0" algn="l">
              <a:spcBef>
                <a:spcPts val="900"/>
              </a:spcBef>
              <a:spcAft>
                <a:spcPts val="0"/>
              </a:spcAft>
              <a:buClr>
                <a:srgbClr val="1A1A1A"/>
              </a:buClr>
              <a:buSzPts val="1400"/>
              <a:buFont typeface="Montserrat"/>
              <a:buChar char="•"/>
            </a:pPr>
            <a:r>
              <a:rPr lang="en-US">
                <a:solidFill>
                  <a:srgbClr val="1A1A1A"/>
                </a:solidFill>
                <a:latin typeface="Montserrat"/>
                <a:ea typeface="Montserrat"/>
                <a:cs typeface="Montserrat"/>
                <a:sym typeface="Montserrat"/>
              </a:rPr>
              <a:t>Third-party AI identification</a:t>
            </a:r>
            <a:endParaRPr>
              <a:solidFill>
                <a:schemeClr val="dk1"/>
              </a:solidFill>
              <a:latin typeface="Montserrat"/>
              <a:ea typeface="Montserrat"/>
              <a:cs typeface="Montserrat"/>
              <a:sym typeface="Montserrat"/>
            </a:endParaRPr>
          </a:p>
          <a:p>
            <a:pPr indent="-469900" lvl="0" marL="457200" marR="0" rtl="0" algn="l">
              <a:spcBef>
                <a:spcPts val="900"/>
              </a:spcBef>
              <a:spcAft>
                <a:spcPts val="0"/>
              </a:spcAft>
              <a:buClr>
                <a:srgbClr val="1A1A1A"/>
              </a:buClr>
              <a:buSzPts val="1400"/>
              <a:buFont typeface="Montserrat"/>
              <a:buChar char="•"/>
            </a:pPr>
            <a:r>
              <a:rPr lang="en-US">
                <a:solidFill>
                  <a:srgbClr val="1A1A1A"/>
                </a:solidFill>
                <a:latin typeface="Montserrat"/>
                <a:ea typeface="Montserrat"/>
                <a:cs typeface="Montserrat"/>
                <a:sym typeface="Montserrat"/>
              </a:rPr>
              <a:t>Map AI system</a:t>
            </a:r>
            <a:endParaRPr>
              <a:solidFill>
                <a:schemeClr val="dk1"/>
              </a:solidFill>
              <a:latin typeface="Montserrat"/>
              <a:ea typeface="Montserrat"/>
              <a:cs typeface="Montserrat"/>
              <a:sym typeface="Montserrat"/>
            </a:endParaRPr>
          </a:p>
        </p:txBody>
      </p:sp>
      <p:sp>
        <p:nvSpPr>
          <p:cNvPr id="619" name="Google Shape;619;g3eae049a994_4_180"/>
          <p:cNvSpPr/>
          <p:nvPr/>
        </p:nvSpPr>
        <p:spPr>
          <a:xfrm>
            <a:off x="3246782" y="1463050"/>
            <a:ext cx="2743200" cy="3779400"/>
          </a:xfrm>
          <a:prstGeom prst="rect">
            <a:avLst/>
          </a:prstGeom>
          <a:solidFill>
            <a:srgbClr val="F4F4F4"/>
          </a:solidFill>
          <a:ln cap="flat" cmpd="sng" w="9525">
            <a:solidFill>
              <a:srgbClr val="D9D9D9"/>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0" name="Google Shape;620;g3eae049a994_4_180"/>
          <p:cNvSpPr/>
          <p:nvPr/>
        </p:nvSpPr>
        <p:spPr>
          <a:xfrm>
            <a:off x="3246783" y="1463040"/>
            <a:ext cx="2743200" cy="670500"/>
          </a:xfrm>
          <a:prstGeom prst="rect">
            <a:avLst/>
          </a:prstGeom>
          <a:solidFill>
            <a:srgbClr val="156082"/>
          </a:solidFill>
          <a:ln cap="flat" cmpd="sng" w="12700">
            <a:solidFill>
              <a:srgbClr val="15608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1" name="Google Shape;621;g3eae049a994_4_180"/>
          <p:cNvSpPr/>
          <p:nvPr/>
        </p:nvSpPr>
        <p:spPr>
          <a:xfrm>
            <a:off x="3429663" y="1511808"/>
            <a:ext cx="670500" cy="57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Montserrat"/>
              <a:buNone/>
            </a:pPr>
            <a:r>
              <a:rPr b="1" lang="en-US" sz="2800">
                <a:solidFill>
                  <a:srgbClr val="FFFFFF"/>
                </a:solidFill>
                <a:latin typeface="Montserrat"/>
                <a:ea typeface="Montserrat"/>
                <a:cs typeface="Montserrat"/>
                <a:sym typeface="Montserrat"/>
              </a:rPr>
              <a:t>02</a:t>
            </a:r>
            <a:endParaRPr sz="2800">
              <a:solidFill>
                <a:schemeClr val="dk1"/>
              </a:solidFill>
              <a:latin typeface="Montserrat"/>
              <a:ea typeface="Montserrat"/>
              <a:cs typeface="Montserrat"/>
              <a:sym typeface="Montserrat"/>
            </a:endParaRPr>
          </a:p>
        </p:txBody>
      </p:sp>
      <p:sp>
        <p:nvSpPr>
          <p:cNvPr id="622" name="Google Shape;622;g3eae049a994_4_180"/>
          <p:cNvSpPr/>
          <p:nvPr/>
        </p:nvSpPr>
        <p:spPr>
          <a:xfrm>
            <a:off x="4039263" y="1633728"/>
            <a:ext cx="1828800" cy="34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Montserrat"/>
              <a:buNone/>
            </a:pPr>
            <a:r>
              <a:rPr b="1" lang="en-US" sz="1200">
                <a:solidFill>
                  <a:srgbClr val="FFFFFF"/>
                </a:solidFill>
                <a:latin typeface="Montserrat"/>
                <a:ea typeface="Montserrat"/>
                <a:cs typeface="Montserrat"/>
                <a:sym typeface="Montserrat"/>
              </a:rPr>
              <a:t>GOVERN</a:t>
            </a:r>
            <a:endParaRPr sz="1200">
              <a:solidFill>
                <a:schemeClr val="dk1"/>
              </a:solidFill>
              <a:latin typeface="Montserrat"/>
              <a:ea typeface="Montserrat"/>
              <a:cs typeface="Montserrat"/>
              <a:sym typeface="Montserrat"/>
            </a:endParaRPr>
          </a:p>
        </p:txBody>
      </p:sp>
      <p:sp>
        <p:nvSpPr>
          <p:cNvPr id="623" name="Google Shape;623;g3eae049a994_4_180"/>
          <p:cNvSpPr/>
          <p:nvPr/>
        </p:nvSpPr>
        <p:spPr>
          <a:xfrm>
            <a:off x="3429663" y="2255520"/>
            <a:ext cx="2438400" cy="42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Montserrat"/>
              <a:buNone/>
            </a:pPr>
            <a:r>
              <a:rPr b="1" lang="en-US" sz="1600">
                <a:solidFill>
                  <a:srgbClr val="1A1A1A"/>
                </a:solidFill>
                <a:latin typeface="Montserrat"/>
                <a:ea typeface="Montserrat"/>
                <a:cs typeface="Montserrat"/>
                <a:sym typeface="Montserrat"/>
              </a:rPr>
              <a:t>Establish process</a:t>
            </a:r>
            <a:endParaRPr sz="1600">
              <a:solidFill>
                <a:schemeClr val="dk1"/>
              </a:solidFill>
              <a:latin typeface="Montserrat"/>
              <a:ea typeface="Montserrat"/>
              <a:cs typeface="Montserrat"/>
              <a:sym typeface="Montserrat"/>
            </a:endParaRPr>
          </a:p>
        </p:txBody>
      </p:sp>
      <p:sp>
        <p:nvSpPr>
          <p:cNvPr id="624" name="Google Shape;624;g3eae049a994_4_180"/>
          <p:cNvSpPr/>
          <p:nvPr/>
        </p:nvSpPr>
        <p:spPr>
          <a:xfrm>
            <a:off x="3429663" y="2767584"/>
            <a:ext cx="2438400" cy="2950500"/>
          </a:xfrm>
          <a:prstGeom prst="rect">
            <a:avLst/>
          </a:prstGeom>
          <a:noFill/>
          <a:ln>
            <a:noFill/>
          </a:ln>
        </p:spPr>
        <p:txBody>
          <a:bodyPr anchorCtr="0" anchor="t" bIns="0" lIns="0" spcFirstLastPara="1" rIns="0" wrap="square" tIns="0">
            <a:noAutofit/>
          </a:bodyPr>
          <a:lstStyle/>
          <a:p>
            <a:pPr indent="-469900" lvl="0" marL="457200" marR="0" rtl="0" algn="l">
              <a:lnSpc>
                <a:spcPct val="100000"/>
              </a:lnSpc>
              <a:spcBef>
                <a:spcPts val="0"/>
              </a:spcBef>
              <a:spcAft>
                <a:spcPts val="0"/>
              </a:spcAft>
              <a:buClr>
                <a:srgbClr val="1A1A1A"/>
              </a:buClr>
              <a:buSzPts val="1400"/>
              <a:buFont typeface="Montserrat"/>
              <a:buChar char="•"/>
            </a:pPr>
            <a:r>
              <a:rPr lang="en-US">
                <a:solidFill>
                  <a:srgbClr val="1A1A1A"/>
                </a:solidFill>
                <a:latin typeface="Montserrat"/>
                <a:ea typeface="Montserrat"/>
                <a:cs typeface="Montserrat"/>
                <a:sym typeface="Montserrat"/>
              </a:rPr>
              <a:t>Steering committee review</a:t>
            </a:r>
            <a:endParaRPr>
              <a:solidFill>
                <a:srgbClr val="1A1A1A"/>
              </a:solidFill>
              <a:latin typeface="Montserrat"/>
              <a:ea typeface="Montserrat"/>
              <a:cs typeface="Montserrat"/>
              <a:sym typeface="Montserrat"/>
            </a:endParaRPr>
          </a:p>
          <a:p>
            <a:pPr indent="-469900" lvl="0" marL="457200" marR="0" rtl="0" algn="l">
              <a:lnSpc>
                <a:spcPct val="100000"/>
              </a:lnSpc>
              <a:spcBef>
                <a:spcPts val="1000"/>
              </a:spcBef>
              <a:spcAft>
                <a:spcPts val="0"/>
              </a:spcAft>
              <a:buClr>
                <a:srgbClr val="1A1A1A"/>
              </a:buClr>
              <a:buSzPts val="1400"/>
              <a:buFont typeface="Montserrat"/>
              <a:buChar char="•"/>
            </a:pPr>
            <a:r>
              <a:rPr lang="en-US">
                <a:solidFill>
                  <a:srgbClr val="1A1A1A"/>
                </a:solidFill>
                <a:latin typeface="Montserrat"/>
                <a:ea typeface="Montserrat"/>
                <a:cs typeface="Montserrat"/>
                <a:sym typeface="Montserrat"/>
              </a:rPr>
              <a:t>Business case approval process</a:t>
            </a:r>
            <a:endParaRPr>
              <a:solidFill>
                <a:srgbClr val="1A1A1A"/>
              </a:solidFill>
              <a:latin typeface="Montserrat"/>
              <a:ea typeface="Montserrat"/>
              <a:cs typeface="Montserrat"/>
              <a:sym typeface="Montserrat"/>
            </a:endParaRPr>
          </a:p>
          <a:p>
            <a:pPr indent="-469900" lvl="0" marL="457200" marR="0" rtl="0" algn="l">
              <a:lnSpc>
                <a:spcPct val="100000"/>
              </a:lnSpc>
              <a:spcBef>
                <a:spcPts val="1000"/>
              </a:spcBef>
              <a:spcAft>
                <a:spcPts val="0"/>
              </a:spcAft>
              <a:buClr>
                <a:srgbClr val="1A1A1A"/>
              </a:buClr>
              <a:buSzPts val="1400"/>
              <a:buFont typeface="Montserrat"/>
              <a:buChar char="•"/>
            </a:pPr>
            <a:r>
              <a:rPr lang="en-US">
                <a:solidFill>
                  <a:srgbClr val="1A1A1A"/>
                </a:solidFill>
                <a:latin typeface="Montserrat"/>
                <a:ea typeface="Montserrat"/>
                <a:cs typeface="Montserrat"/>
                <a:sym typeface="Montserrat"/>
              </a:rPr>
              <a:t>Impact a</a:t>
            </a:r>
            <a:r>
              <a:rPr lang="en-US">
                <a:solidFill>
                  <a:srgbClr val="1A1A1A"/>
                </a:solidFill>
                <a:latin typeface="Montserrat"/>
                <a:ea typeface="Montserrat"/>
                <a:cs typeface="Montserrat"/>
                <a:sym typeface="Montserrat"/>
              </a:rPr>
              <a:t>ssessment</a:t>
            </a:r>
            <a:endParaRPr>
              <a:solidFill>
                <a:srgbClr val="1A1A1A"/>
              </a:solidFill>
              <a:latin typeface="Montserrat"/>
              <a:ea typeface="Montserrat"/>
              <a:cs typeface="Montserrat"/>
              <a:sym typeface="Montserrat"/>
            </a:endParaRPr>
          </a:p>
          <a:p>
            <a:pPr indent="-469900" lvl="0" marL="457200" marR="0" rtl="0" algn="l">
              <a:lnSpc>
                <a:spcPct val="100000"/>
              </a:lnSpc>
              <a:spcBef>
                <a:spcPts val="1000"/>
              </a:spcBef>
              <a:spcAft>
                <a:spcPts val="0"/>
              </a:spcAft>
              <a:buClr>
                <a:srgbClr val="1A1A1A"/>
              </a:buClr>
              <a:buSzPts val="1400"/>
              <a:buFont typeface="Montserrat"/>
              <a:buChar char="•"/>
            </a:pPr>
            <a:r>
              <a:rPr lang="en-US">
                <a:solidFill>
                  <a:srgbClr val="1A1A1A"/>
                </a:solidFill>
                <a:latin typeface="Montserrat"/>
                <a:ea typeface="Montserrat"/>
                <a:cs typeface="Montserrat"/>
                <a:sym typeface="Montserrat"/>
              </a:rPr>
              <a:t>Assign ownership</a:t>
            </a:r>
            <a:endParaRPr>
              <a:solidFill>
                <a:srgbClr val="1A1A1A"/>
              </a:solidFill>
              <a:latin typeface="Montserrat"/>
              <a:ea typeface="Montserrat"/>
              <a:cs typeface="Montserrat"/>
              <a:sym typeface="Montserrat"/>
            </a:endParaRPr>
          </a:p>
        </p:txBody>
      </p:sp>
      <p:sp>
        <p:nvSpPr>
          <p:cNvPr id="625" name="Google Shape;625;g3eae049a994_4_180"/>
          <p:cNvSpPr/>
          <p:nvPr/>
        </p:nvSpPr>
        <p:spPr>
          <a:xfrm>
            <a:off x="6111907" y="1463050"/>
            <a:ext cx="2743200" cy="3779400"/>
          </a:xfrm>
          <a:prstGeom prst="rect">
            <a:avLst/>
          </a:prstGeom>
          <a:solidFill>
            <a:srgbClr val="F4F4F4"/>
          </a:solidFill>
          <a:ln cap="flat" cmpd="sng" w="9525">
            <a:solidFill>
              <a:srgbClr val="D9D9D9"/>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6" name="Google Shape;626;g3eae049a994_4_180"/>
          <p:cNvSpPr/>
          <p:nvPr/>
        </p:nvSpPr>
        <p:spPr>
          <a:xfrm>
            <a:off x="6111903" y="1463040"/>
            <a:ext cx="2743200" cy="670500"/>
          </a:xfrm>
          <a:prstGeom prst="rect">
            <a:avLst/>
          </a:prstGeom>
          <a:solidFill>
            <a:srgbClr val="0E2841"/>
          </a:solidFill>
          <a:ln cap="flat" cmpd="sng" w="12700">
            <a:solidFill>
              <a:srgbClr val="0E2841"/>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7" name="Google Shape;627;g3eae049a994_4_180"/>
          <p:cNvSpPr/>
          <p:nvPr/>
        </p:nvSpPr>
        <p:spPr>
          <a:xfrm>
            <a:off x="6294783" y="1511808"/>
            <a:ext cx="670500" cy="57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Montserrat"/>
              <a:buNone/>
            </a:pPr>
            <a:r>
              <a:rPr b="1" lang="en-US" sz="2800">
                <a:solidFill>
                  <a:srgbClr val="FFFFFF"/>
                </a:solidFill>
                <a:latin typeface="Montserrat"/>
                <a:ea typeface="Montserrat"/>
                <a:cs typeface="Montserrat"/>
                <a:sym typeface="Montserrat"/>
              </a:rPr>
              <a:t>03</a:t>
            </a:r>
            <a:endParaRPr sz="2800">
              <a:solidFill>
                <a:schemeClr val="dk1"/>
              </a:solidFill>
              <a:latin typeface="Montserrat"/>
              <a:ea typeface="Montserrat"/>
              <a:cs typeface="Montserrat"/>
              <a:sym typeface="Montserrat"/>
            </a:endParaRPr>
          </a:p>
        </p:txBody>
      </p:sp>
      <p:sp>
        <p:nvSpPr>
          <p:cNvPr id="628" name="Google Shape;628;g3eae049a994_4_180"/>
          <p:cNvSpPr/>
          <p:nvPr/>
        </p:nvSpPr>
        <p:spPr>
          <a:xfrm>
            <a:off x="6904383" y="1633728"/>
            <a:ext cx="1828800" cy="34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Montserrat"/>
              <a:buNone/>
            </a:pPr>
            <a:r>
              <a:rPr b="1" lang="en-US" sz="1200">
                <a:solidFill>
                  <a:srgbClr val="FFFFFF"/>
                </a:solidFill>
                <a:latin typeface="Montserrat"/>
                <a:ea typeface="Montserrat"/>
                <a:cs typeface="Montserrat"/>
                <a:sym typeface="Montserrat"/>
              </a:rPr>
              <a:t>CONTROL</a:t>
            </a:r>
            <a:endParaRPr sz="1200">
              <a:solidFill>
                <a:schemeClr val="dk1"/>
              </a:solidFill>
              <a:latin typeface="Montserrat"/>
              <a:ea typeface="Montserrat"/>
              <a:cs typeface="Montserrat"/>
              <a:sym typeface="Montserrat"/>
            </a:endParaRPr>
          </a:p>
        </p:txBody>
      </p:sp>
      <p:sp>
        <p:nvSpPr>
          <p:cNvPr id="629" name="Google Shape;629;g3eae049a994_4_180"/>
          <p:cNvSpPr/>
          <p:nvPr/>
        </p:nvSpPr>
        <p:spPr>
          <a:xfrm>
            <a:off x="6294783" y="2255520"/>
            <a:ext cx="2438400" cy="42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Montserrat"/>
              <a:buNone/>
            </a:pPr>
            <a:r>
              <a:rPr b="1" lang="en-US" sz="1600">
                <a:solidFill>
                  <a:srgbClr val="1A1A1A"/>
                </a:solidFill>
                <a:latin typeface="Montserrat"/>
                <a:ea typeface="Montserrat"/>
                <a:cs typeface="Montserrat"/>
                <a:sym typeface="Montserrat"/>
              </a:rPr>
              <a:t>Build the controls</a:t>
            </a:r>
            <a:endParaRPr sz="1600">
              <a:solidFill>
                <a:schemeClr val="dk1"/>
              </a:solidFill>
              <a:latin typeface="Montserrat"/>
              <a:ea typeface="Montserrat"/>
              <a:cs typeface="Montserrat"/>
              <a:sym typeface="Montserrat"/>
            </a:endParaRPr>
          </a:p>
        </p:txBody>
      </p:sp>
      <p:sp>
        <p:nvSpPr>
          <p:cNvPr id="630" name="Google Shape;630;g3eae049a994_4_180"/>
          <p:cNvSpPr/>
          <p:nvPr/>
        </p:nvSpPr>
        <p:spPr>
          <a:xfrm>
            <a:off x="6294783" y="2767584"/>
            <a:ext cx="2438400" cy="2950500"/>
          </a:xfrm>
          <a:prstGeom prst="rect">
            <a:avLst/>
          </a:prstGeom>
          <a:noFill/>
          <a:ln>
            <a:noFill/>
          </a:ln>
        </p:spPr>
        <p:txBody>
          <a:bodyPr anchorCtr="0" anchor="t" bIns="0" lIns="0" spcFirstLastPara="1" rIns="0" wrap="square" tIns="0">
            <a:noAutofit/>
          </a:bodyPr>
          <a:lstStyle/>
          <a:p>
            <a:pPr indent="-469900" lvl="0" marL="457200" marR="0" rtl="0" algn="l">
              <a:spcBef>
                <a:spcPts val="0"/>
              </a:spcBef>
              <a:spcAft>
                <a:spcPts val="0"/>
              </a:spcAft>
              <a:buClr>
                <a:srgbClr val="1A1A1A"/>
              </a:buClr>
              <a:buSzPts val="1400"/>
              <a:buFont typeface="Montserrat"/>
              <a:buChar char="•"/>
            </a:pPr>
            <a:r>
              <a:rPr lang="en-US">
                <a:solidFill>
                  <a:srgbClr val="1A1A1A"/>
                </a:solidFill>
                <a:latin typeface="Montserrat"/>
                <a:ea typeface="Montserrat"/>
                <a:cs typeface="Montserrat"/>
                <a:sym typeface="Montserrat"/>
              </a:rPr>
              <a:t>Risk assessments</a:t>
            </a:r>
            <a:endParaRPr>
              <a:solidFill>
                <a:schemeClr val="dk1"/>
              </a:solidFill>
              <a:latin typeface="Montserrat"/>
              <a:ea typeface="Montserrat"/>
              <a:cs typeface="Montserrat"/>
              <a:sym typeface="Montserrat"/>
            </a:endParaRPr>
          </a:p>
          <a:p>
            <a:pPr indent="-469900" lvl="0" marL="457200" marR="0" rtl="0" algn="l">
              <a:spcBef>
                <a:spcPts val="900"/>
              </a:spcBef>
              <a:spcAft>
                <a:spcPts val="0"/>
              </a:spcAft>
              <a:buClr>
                <a:srgbClr val="1A1A1A"/>
              </a:buClr>
              <a:buSzPts val="1400"/>
              <a:buFont typeface="Montserrat"/>
              <a:buChar char="•"/>
            </a:pPr>
            <a:r>
              <a:rPr lang="en-US">
                <a:solidFill>
                  <a:srgbClr val="1A1A1A"/>
                </a:solidFill>
                <a:latin typeface="Montserrat"/>
                <a:ea typeface="Montserrat"/>
                <a:cs typeface="Montserrat"/>
                <a:sym typeface="Montserrat"/>
              </a:rPr>
              <a:t>Model cards &amp; data lineage</a:t>
            </a:r>
            <a:endParaRPr>
              <a:solidFill>
                <a:srgbClr val="1A1A1A"/>
              </a:solidFill>
              <a:latin typeface="Montserrat"/>
              <a:ea typeface="Montserrat"/>
              <a:cs typeface="Montserrat"/>
              <a:sym typeface="Montserrat"/>
            </a:endParaRPr>
          </a:p>
          <a:p>
            <a:pPr indent="-349250" lvl="0" marL="457200" rtl="0" algn="l">
              <a:spcBef>
                <a:spcPts val="1000"/>
              </a:spcBef>
              <a:spcAft>
                <a:spcPts val="0"/>
              </a:spcAft>
              <a:buClr>
                <a:srgbClr val="1A1A1A"/>
              </a:buClr>
              <a:buSzPts val="1900"/>
              <a:buFont typeface="Montserrat"/>
              <a:buChar char="•"/>
            </a:pPr>
            <a:r>
              <a:rPr lang="en-US">
                <a:solidFill>
                  <a:srgbClr val="1A1A1A"/>
                </a:solidFill>
                <a:latin typeface="Montserrat"/>
                <a:ea typeface="Montserrat"/>
                <a:cs typeface="Montserrat"/>
                <a:sym typeface="Montserrat"/>
              </a:rPr>
              <a:t>Centralized model registry</a:t>
            </a:r>
            <a:endParaRPr>
              <a:solidFill>
                <a:srgbClr val="1A1A1A"/>
              </a:solidFill>
              <a:latin typeface="Montserrat"/>
              <a:ea typeface="Montserrat"/>
              <a:cs typeface="Montserrat"/>
              <a:sym typeface="Montserrat"/>
            </a:endParaRPr>
          </a:p>
          <a:p>
            <a:pPr indent="-469900" lvl="0" marL="457200" marR="0" rtl="0" algn="l">
              <a:spcBef>
                <a:spcPts val="900"/>
              </a:spcBef>
              <a:spcAft>
                <a:spcPts val="0"/>
              </a:spcAft>
              <a:buClr>
                <a:srgbClr val="1A1A1A"/>
              </a:buClr>
              <a:buSzPts val="1400"/>
              <a:buFont typeface="Montserrat"/>
              <a:buChar char="•"/>
            </a:pPr>
            <a:r>
              <a:rPr lang="en-US">
                <a:solidFill>
                  <a:srgbClr val="1A1A1A"/>
                </a:solidFill>
                <a:latin typeface="Montserrat"/>
                <a:ea typeface="Montserrat"/>
                <a:cs typeface="Montserrat"/>
                <a:sym typeface="Montserrat"/>
              </a:rPr>
              <a:t>Security controls</a:t>
            </a:r>
            <a:endParaRPr>
              <a:solidFill>
                <a:schemeClr val="dk1"/>
              </a:solidFill>
              <a:latin typeface="Montserrat"/>
              <a:ea typeface="Montserrat"/>
              <a:cs typeface="Montserrat"/>
              <a:sym typeface="Montserrat"/>
            </a:endParaRPr>
          </a:p>
          <a:p>
            <a:pPr indent="0" lvl="0" marL="0" marR="0" rtl="0" algn="l">
              <a:spcBef>
                <a:spcPts val="900"/>
              </a:spcBef>
              <a:spcAft>
                <a:spcPts val="0"/>
              </a:spcAft>
              <a:buNone/>
            </a:pPr>
            <a:r>
              <a:t/>
            </a:r>
            <a:endParaRPr>
              <a:solidFill>
                <a:schemeClr val="dk1"/>
              </a:solidFill>
              <a:latin typeface="Montserrat"/>
              <a:ea typeface="Montserrat"/>
              <a:cs typeface="Montserrat"/>
              <a:sym typeface="Montserrat"/>
            </a:endParaRPr>
          </a:p>
        </p:txBody>
      </p:sp>
      <p:sp>
        <p:nvSpPr>
          <p:cNvPr id="631" name="Google Shape;631;g3eae049a994_4_180"/>
          <p:cNvSpPr/>
          <p:nvPr/>
        </p:nvSpPr>
        <p:spPr>
          <a:xfrm>
            <a:off x="8977032" y="1463050"/>
            <a:ext cx="2743200" cy="3779400"/>
          </a:xfrm>
          <a:prstGeom prst="rect">
            <a:avLst/>
          </a:prstGeom>
          <a:solidFill>
            <a:srgbClr val="F4F4F4"/>
          </a:solidFill>
          <a:ln cap="flat" cmpd="sng" w="9525">
            <a:solidFill>
              <a:srgbClr val="D9D9D9"/>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2" name="Google Shape;632;g3eae049a994_4_180"/>
          <p:cNvSpPr/>
          <p:nvPr/>
        </p:nvSpPr>
        <p:spPr>
          <a:xfrm>
            <a:off x="8977023" y="1463040"/>
            <a:ext cx="2743200" cy="670500"/>
          </a:xfrm>
          <a:prstGeom prst="rect">
            <a:avLst/>
          </a:prstGeom>
          <a:solidFill>
            <a:srgbClr val="6D2E46"/>
          </a:solidFill>
          <a:ln cap="flat" cmpd="sng" w="12700">
            <a:solidFill>
              <a:srgbClr val="6D2E46"/>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3" name="Google Shape;633;g3eae049a994_4_180"/>
          <p:cNvSpPr/>
          <p:nvPr/>
        </p:nvSpPr>
        <p:spPr>
          <a:xfrm>
            <a:off x="9159903" y="1511808"/>
            <a:ext cx="670500" cy="57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Montserrat"/>
              <a:buNone/>
            </a:pPr>
            <a:r>
              <a:rPr b="1" lang="en-US" sz="2800">
                <a:solidFill>
                  <a:srgbClr val="FFFFFF"/>
                </a:solidFill>
                <a:latin typeface="Montserrat"/>
                <a:ea typeface="Montserrat"/>
                <a:cs typeface="Montserrat"/>
                <a:sym typeface="Montserrat"/>
              </a:rPr>
              <a:t>04</a:t>
            </a:r>
            <a:endParaRPr sz="2800">
              <a:solidFill>
                <a:schemeClr val="dk1"/>
              </a:solidFill>
              <a:latin typeface="Montserrat"/>
              <a:ea typeface="Montserrat"/>
              <a:cs typeface="Montserrat"/>
              <a:sym typeface="Montserrat"/>
            </a:endParaRPr>
          </a:p>
        </p:txBody>
      </p:sp>
      <p:sp>
        <p:nvSpPr>
          <p:cNvPr id="634" name="Google Shape;634;g3eae049a994_4_180"/>
          <p:cNvSpPr/>
          <p:nvPr/>
        </p:nvSpPr>
        <p:spPr>
          <a:xfrm>
            <a:off x="9769503" y="1633728"/>
            <a:ext cx="1828800" cy="34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Montserrat"/>
              <a:buNone/>
            </a:pPr>
            <a:r>
              <a:rPr b="1" lang="en-US" sz="1200">
                <a:solidFill>
                  <a:srgbClr val="FFFFFF"/>
                </a:solidFill>
                <a:latin typeface="Montserrat"/>
                <a:ea typeface="Montserrat"/>
                <a:cs typeface="Montserrat"/>
                <a:sym typeface="Montserrat"/>
              </a:rPr>
              <a:t>MONITOR</a:t>
            </a:r>
            <a:endParaRPr sz="1200">
              <a:solidFill>
                <a:schemeClr val="dk1"/>
              </a:solidFill>
              <a:latin typeface="Montserrat"/>
              <a:ea typeface="Montserrat"/>
              <a:cs typeface="Montserrat"/>
              <a:sym typeface="Montserrat"/>
            </a:endParaRPr>
          </a:p>
        </p:txBody>
      </p:sp>
      <p:sp>
        <p:nvSpPr>
          <p:cNvPr id="635" name="Google Shape;635;g3eae049a994_4_180"/>
          <p:cNvSpPr/>
          <p:nvPr/>
        </p:nvSpPr>
        <p:spPr>
          <a:xfrm>
            <a:off x="9159903" y="2255520"/>
            <a:ext cx="2438400" cy="42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Montserrat"/>
              <a:buNone/>
            </a:pPr>
            <a:r>
              <a:rPr b="1" lang="en-US" sz="1600">
                <a:solidFill>
                  <a:srgbClr val="1A1A1A"/>
                </a:solidFill>
                <a:latin typeface="Montserrat"/>
                <a:ea typeface="Montserrat"/>
                <a:cs typeface="Montserrat"/>
                <a:sym typeface="Montserrat"/>
              </a:rPr>
              <a:t>Sustain and improve</a:t>
            </a:r>
            <a:endParaRPr sz="1600">
              <a:solidFill>
                <a:schemeClr val="dk1"/>
              </a:solidFill>
              <a:latin typeface="Montserrat"/>
              <a:ea typeface="Montserrat"/>
              <a:cs typeface="Montserrat"/>
              <a:sym typeface="Montserrat"/>
            </a:endParaRPr>
          </a:p>
        </p:txBody>
      </p:sp>
      <p:sp>
        <p:nvSpPr>
          <p:cNvPr id="636" name="Google Shape;636;g3eae049a994_4_180"/>
          <p:cNvSpPr/>
          <p:nvPr/>
        </p:nvSpPr>
        <p:spPr>
          <a:xfrm>
            <a:off x="9159903" y="2767584"/>
            <a:ext cx="2438400" cy="2950500"/>
          </a:xfrm>
          <a:prstGeom prst="rect">
            <a:avLst/>
          </a:prstGeom>
          <a:noFill/>
          <a:ln>
            <a:noFill/>
          </a:ln>
        </p:spPr>
        <p:txBody>
          <a:bodyPr anchorCtr="0" anchor="t" bIns="0" lIns="0" spcFirstLastPara="1" rIns="0" wrap="square" tIns="0">
            <a:noAutofit/>
          </a:bodyPr>
          <a:lstStyle/>
          <a:p>
            <a:pPr indent="-469900" lvl="0" marL="457200" marR="0" rtl="0" algn="l">
              <a:spcBef>
                <a:spcPts val="0"/>
              </a:spcBef>
              <a:spcAft>
                <a:spcPts val="0"/>
              </a:spcAft>
              <a:buClr>
                <a:srgbClr val="1A1A1A"/>
              </a:buClr>
              <a:buSzPts val="1400"/>
              <a:buFont typeface="Montserrat"/>
              <a:buChar char="•"/>
            </a:pPr>
            <a:r>
              <a:rPr lang="en-US">
                <a:solidFill>
                  <a:srgbClr val="1A1A1A"/>
                </a:solidFill>
                <a:latin typeface="Montserrat"/>
                <a:ea typeface="Montserrat"/>
                <a:cs typeface="Montserrat"/>
                <a:sym typeface="Montserrat"/>
              </a:rPr>
              <a:t>Drift monitoring</a:t>
            </a:r>
            <a:endParaRPr>
              <a:solidFill>
                <a:schemeClr val="dk1"/>
              </a:solidFill>
              <a:latin typeface="Montserrat"/>
              <a:ea typeface="Montserrat"/>
              <a:cs typeface="Montserrat"/>
              <a:sym typeface="Montserrat"/>
            </a:endParaRPr>
          </a:p>
          <a:p>
            <a:pPr indent="-469900" lvl="0" marL="457200" marR="0" rtl="0" algn="l">
              <a:spcBef>
                <a:spcPts val="900"/>
              </a:spcBef>
              <a:spcAft>
                <a:spcPts val="0"/>
              </a:spcAft>
              <a:buClr>
                <a:srgbClr val="1A1A1A"/>
              </a:buClr>
              <a:buSzPts val="1400"/>
              <a:buFont typeface="Montserrat"/>
              <a:buChar char="•"/>
            </a:pPr>
            <a:r>
              <a:rPr lang="en-US">
                <a:solidFill>
                  <a:srgbClr val="1A1A1A"/>
                </a:solidFill>
                <a:latin typeface="Montserrat"/>
                <a:ea typeface="Montserrat"/>
                <a:cs typeface="Montserrat"/>
                <a:sym typeface="Montserrat"/>
              </a:rPr>
              <a:t>Runtime monitoring</a:t>
            </a:r>
            <a:endParaRPr>
              <a:solidFill>
                <a:schemeClr val="dk1"/>
              </a:solidFill>
              <a:latin typeface="Montserrat"/>
              <a:ea typeface="Montserrat"/>
              <a:cs typeface="Montserrat"/>
              <a:sym typeface="Montserrat"/>
            </a:endParaRPr>
          </a:p>
          <a:p>
            <a:pPr indent="-469900" lvl="0" marL="457200" marR="0" rtl="0" algn="l">
              <a:spcBef>
                <a:spcPts val="900"/>
              </a:spcBef>
              <a:spcAft>
                <a:spcPts val="0"/>
              </a:spcAft>
              <a:buClr>
                <a:srgbClr val="1A1A1A"/>
              </a:buClr>
              <a:buSzPts val="1400"/>
              <a:buFont typeface="Montserrat"/>
              <a:buChar char="•"/>
            </a:pPr>
            <a:r>
              <a:rPr lang="en-US">
                <a:solidFill>
                  <a:srgbClr val="1A1A1A"/>
                </a:solidFill>
                <a:latin typeface="Montserrat"/>
                <a:ea typeface="Montserrat"/>
                <a:cs typeface="Montserrat"/>
                <a:sym typeface="Montserrat"/>
              </a:rPr>
              <a:t>Incident management</a:t>
            </a:r>
            <a:endParaRPr>
              <a:solidFill>
                <a:schemeClr val="dk1"/>
              </a:solidFill>
              <a:latin typeface="Montserrat"/>
              <a:ea typeface="Montserrat"/>
              <a:cs typeface="Montserrat"/>
              <a:sym typeface="Montserrat"/>
            </a:endParaRPr>
          </a:p>
          <a:p>
            <a:pPr indent="-469900" lvl="0" marL="457200" marR="0" rtl="0" algn="l">
              <a:spcBef>
                <a:spcPts val="900"/>
              </a:spcBef>
              <a:spcAft>
                <a:spcPts val="0"/>
              </a:spcAft>
              <a:buClr>
                <a:srgbClr val="1A1A1A"/>
              </a:buClr>
              <a:buSzPts val="1400"/>
              <a:buFont typeface="Montserrat"/>
              <a:buChar char="•"/>
            </a:pPr>
            <a:r>
              <a:rPr lang="en-US">
                <a:solidFill>
                  <a:srgbClr val="1A1A1A"/>
                </a:solidFill>
                <a:latin typeface="Montserrat"/>
                <a:ea typeface="Montserrat"/>
                <a:cs typeface="Montserrat"/>
                <a:sym typeface="Montserrat"/>
              </a:rPr>
              <a:t>Compliance reporting</a:t>
            </a:r>
            <a:endParaRPr>
              <a:solidFill>
                <a:schemeClr val="dk1"/>
              </a:solidFill>
              <a:latin typeface="Montserrat"/>
              <a:ea typeface="Montserrat"/>
              <a:cs typeface="Montserrat"/>
              <a:sym typeface="Montserrat"/>
            </a:endParaRPr>
          </a:p>
        </p:txBody>
      </p:sp>
      <p:sp>
        <p:nvSpPr>
          <p:cNvPr id="637" name="Google Shape;637;g3eae049a994_4_180"/>
          <p:cNvSpPr/>
          <p:nvPr/>
        </p:nvSpPr>
        <p:spPr>
          <a:xfrm>
            <a:off x="365750" y="5242675"/>
            <a:ext cx="11354700" cy="1036200"/>
          </a:xfrm>
          <a:prstGeom prst="rect">
            <a:avLst/>
          </a:prstGeom>
          <a:solidFill>
            <a:srgbClr val="0E2841"/>
          </a:solidFill>
          <a:ln cap="flat" cmpd="sng" w="12700">
            <a:solidFill>
              <a:srgbClr val="0E2841"/>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8" name="Google Shape;638;g3eae049a994_4_180"/>
          <p:cNvSpPr/>
          <p:nvPr/>
        </p:nvSpPr>
        <p:spPr>
          <a:xfrm>
            <a:off x="465141" y="5242540"/>
            <a:ext cx="11094600" cy="1036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500">
                <a:solidFill>
                  <a:srgbClr val="FFFFFF"/>
                </a:solidFill>
                <a:latin typeface="Montserrat"/>
                <a:ea typeface="Montserrat"/>
                <a:cs typeface="Montserrat"/>
                <a:sym typeface="Montserrat"/>
              </a:rPr>
              <a:t>Frameworks:  ISO/IEC 42001  ·  NIST AI RMF  ·  OECD AI Principles  ·  Cloud Security Alliance Trusted AI </a:t>
            </a:r>
            <a:r>
              <a:rPr b="1" lang="en-US" sz="1500">
                <a:solidFill>
                  <a:schemeClr val="lt1"/>
                </a:solidFill>
                <a:latin typeface="Montserrat"/>
                <a:ea typeface="Montserrat"/>
                <a:cs typeface="Montserrat"/>
                <a:sym typeface="Montserrat"/>
              </a:rPr>
              <a:t>·  ISACA</a:t>
            </a:r>
            <a:endParaRPr sz="1500">
              <a:solidFill>
                <a:schemeClr val="dk1"/>
              </a:solidFill>
              <a:latin typeface="Montserrat"/>
              <a:ea typeface="Montserrat"/>
              <a:cs typeface="Montserrat"/>
              <a:sym typeface="Montserrat"/>
            </a:endParaRPr>
          </a:p>
        </p:txBody>
      </p:sp>
      <p:sp>
        <p:nvSpPr>
          <p:cNvPr id="639" name="Google Shape;639;g3eae049a994_4_180"/>
          <p:cNvSpPr/>
          <p:nvPr/>
        </p:nvSpPr>
        <p:spPr>
          <a:xfrm>
            <a:off x="-12150" y="6352108"/>
            <a:ext cx="12216300" cy="489900"/>
          </a:xfrm>
          <a:prstGeom prst="round2SameRect">
            <a:avLst>
              <a:gd fmla="val 47728" name="adj1"/>
              <a:gd fmla="val 0" name="adj2"/>
            </a:avLst>
          </a:prstGeom>
          <a:solidFill>
            <a:srgbClr val="9BBB59"/>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cap="none" strike="noStrike">
                <a:solidFill>
                  <a:schemeClr val="lt1"/>
                </a:solidFill>
                <a:latin typeface="Montserrat"/>
                <a:ea typeface="Montserrat"/>
                <a:cs typeface="Montserrat"/>
                <a:sym typeface="Montserrat"/>
              </a:rPr>
              <a:t>T200 AI Leadership &amp; Governance Series  |  2026								www.t200.org</a:t>
            </a:r>
            <a:endParaRPr b="1" i="0" sz="1000" u="none" cap="none" strike="noStrike">
              <a:solidFill>
                <a:schemeClr val="lt1"/>
              </a:solidFill>
              <a:latin typeface="Montserrat"/>
              <a:ea typeface="Montserrat"/>
              <a:cs typeface="Montserrat"/>
              <a:sym typeface="Montserrat"/>
            </a:endParaRPr>
          </a:p>
        </p:txBody>
      </p:sp>
      <p:sp>
        <p:nvSpPr>
          <p:cNvPr id="640" name="Google Shape;640;g3eae049a994_4_180"/>
          <p:cNvSpPr txBox="1"/>
          <p:nvPr/>
        </p:nvSpPr>
        <p:spPr>
          <a:xfrm>
            <a:off x="8953025" y="4693975"/>
            <a:ext cx="28041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US" sz="1100">
                <a:solidFill>
                  <a:schemeClr val="dk1"/>
                </a:solidFill>
                <a:latin typeface="Montserrat"/>
                <a:ea typeface="Montserrat"/>
                <a:cs typeface="Montserrat"/>
                <a:sym typeface="Montserrat"/>
              </a:rPr>
              <a:t>When did we last audit our AI outputs for drift or bias?"</a:t>
            </a:r>
            <a:endParaRPr b="1" i="1" sz="1100">
              <a:solidFill>
                <a:schemeClr val="dk1"/>
              </a:solidFill>
              <a:latin typeface="Montserrat"/>
              <a:ea typeface="Montserrat"/>
              <a:cs typeface="Montserrat"/>
              <a:sym typeface="Montserrat"/>
            </a:endParaRPr>
          </a:p>
        </p:txBody>
      </p:sp>
      <p:sp>
        <p:nvSpPr>
          <p:cNvPr id="641" name="Google Shape;641;g3eae049a994_4_180"/>
          <p:cNvSpPr txBox="1"/>
          <p:nvPr/>
        </p:nvSpPr>
        <p:spPr>
          <a:xfrm>
            <a:off x="452150" y="4693975"/>
            <a:ext cx="26598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i="1" lang="en-US" sz="1100">
                <a:solidFill>
                  <a:schemeClr val="dk1"/>
                </a:solidFill>
                <a:latin typeface="Montserrat"/>
                <a:ea typeface="Montserrat"/>
                <a:cs typeface="Montserrat"/>
                <a:sym typeface="Montserrat"/>
              </a:rPr>
              <a:t>Can you show me every AI tool currently in production?"</a:t>
            </a:r>
            <a:endParaRPr b="1">
              <a:latin typeface="Montserrat"/>
              <a:ea typeface="Montserrat"/>
              <a:cs typeface="Montserrat"/>
              <a:sym typeface="Montserrat"/>
            </a:endParaRPr>
          </a:p>
        </p:txBody>
      </p:sp>
      <p:sp>
        <p:nvSpPr>
          <p:cNvPr id="642" name="Google Shape;642;g3eae049a994_4_180"/>
          <p:cNvSpPr txBox="1"/>
          <p:nvPr/>
        </p:nvSpPr>
        <p:spPr>
          <a:xfrm>
            <a:off x="3209874" y="4678227"/>
            <a:ext cx="28041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i="1" lang="en-US" sz="1100">
                <a:solidFill>
                  <a:schemeClr val="dk1"/>
                </a:solidFill>
                <a:latin typeface="Montserrat"/>
                <a:ea typeface="Montserrat"/>
                <a:cs typeface="Montserrat"/>
                <a:sym typeface="Montserrat"/>
              </a:rPr>
              <a:t>Who has sign-off authority before an AI system goes live?"</a:t>
            </a:r>
            <a:endParaRPr b="1">
              <a:latin typeface="Montserrat"/>
              <a:ea typeface="Montserrat"/>
              <a:cs typeface="Montserrat"/>
              <a:sym typeface="Montserrat"/>
            </a:endParaRPr>
          </a:p>
        </p:txBody>
      </p:sp>
      <p:sp>
        <p:nvSpPr>
          <p:cNvPr id="643" name="Google Shape;643;g3eae049a994_4_180"/>
          <p:cNvSpPr txBox="1"/>
          <p:nvPr/>
        </p:nvSpPr>
        <p:spPr>
          <a:xfrm>
            <a:off x="6086949" y="4693975"/>
            <a:ext cx="27432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i="1" lang="en-US" sz="1100">
                <a:solidFill>
                  <a:schemeClr val="dk1"/>
                </a:solidFill>
                <a:latin typeface="Montserrat"/>
                <a:ea typeface="Montserrat"/>
                <a:cs typeface="Montserrat"/>
                <a:sym typeface="Montserrat"/>
              </a:rPr>
              <a:t>Do we have a model card for every AI system we own?"</a:t>
            </a:r>
            <a:endParaRPr b="1">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8" name="Shape 648"/>
        <p:cNvGrpSpPr/>
        <p:nvPr/>
      </p:nvGrpSpPr>
      <p:grpSpPr>
        <a:xfrm>
          <a:off x="0" y="0"/>
          <a:ext cx="0" cy="0"/>
          <a:chOff x="0" y="0"/>
          <a:chExt cx="0" cy="0"/>
        </a:xfrm>
      </p:grpSpPr>
      <p:sp>
        <p:nvSpPr>
          <p:cNvPr id="649" name="Google Shape;649;g3eaf5b54de6_3_141"/>
          <p:cNvSpPr/>
          <p:nvPr/>
        </p:nvSpPr>
        <p:spPr>
          <a:xfrm>
            <a:off x="182880" y="0"/>
            <a:ext cx="10728960" cy="316992"/>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E97132"/>
                </a:solidFill>
                <a:latin typeface="Montserrat"/>
                <a:ea typeface="Montserrat"/>
                <a:cs typeface="Montserrat"/>
                <a:sym typeface="Montserrat"/>
              </a:rPr>
              <a:t>SPOTLIGHT SERIES 1  |  COUNCIL WRAP</a:t>
            </a:r>
            <a:endParaRPr i="0" sz="1100" u="none" cap="none" strike="noStrike">
              <a:solidFill>
                <a:srgbClr val="E97132"/>
              </a:solidFill>
              <a:latin typeface="Montserrat"/>
              <a:ea typeface="Montserrat"/>
              <a:cs typeface="Montserrat"/>
              <a:sym typeface="Montserrat"/>
            </a:endParaRPr>
          </a:p>
        </p:txBody>
      </p:sp>
      <p:sp>
        <p:nvSpPr>
          <p:cNvPr id="650" name="Google Shape;650;g3eaf5b54de6_3_141"/>
          <p:cNvSpPr/>
          <p:nvPr/>
        </p:nvSpPr>
        <p:spPr>
          <a:xfrm>
            <a:off x="182880" y="6437376"/>
            <a:ext cx="792480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T200 AI Leadership &amp; Governance Series  |  2026</a:t>
            </a:r>
            <a:endParaRPr b="0" i="0" sz="1000" u="none" cap="none" strike="noStrike">
              <a:solidFill>
                <a:schemeClr val="dk1"/>
              </a:solidFill>
              <a:latin typeface="Calibri"/>
              <a:ea typeface="Calibri"/>
              <a:cs typeface="Calibri"/>
              <a:sym typeface="Calibri"/>
            </a:endParaRPr>
          </a:p>
        </p:txBody>
      </p:sp>
      <p:sp>
        <p:nvSpPr>
          <p:cNvPr id="651" name="Google Shape;651;g3eaf5b54de6_3_141"/>
          <p:cNvSpPr/>
          <p:nvPr/>
        </p:nvSpPr>
        <p:spPr>
          <a:xfrm>
            <a:off x="9144000" y="6437376"/>
            <a:ext cx="2865120" cy="268224"/>
          </a:xfrm>
          <a:prstGeom prst="rect">
            <a:avLst/>
          </a:prstGeom>
          <a:noFill/>
          <a:ln>
            <a:noFill/>
          </a:ln>
        </p:spPr>
        <p:txBody>
          <a:bodyPr anchorCtr="0" anchor="ctr" bIns="60925" lIns="121900" spcFirstLastPara="1" rIns="121900" wrap="square" tIns="60925">
            <a:noAutofit/>
          </a:bodyPr>
          <a:lstStyle/>
          <a:p>
            <a:pPr indent="0" lvl="0" marL="0" marR="0" rtl="0" algn="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www.t200.org</a:t>
            </a:r>
            <a:endParaRPr b="0" i="0" sz="1000" u="none" cap="none" strike="noStrike">
              <a:solidFill>
                <a:schemeClr val="dk1"/>
              </a:solidFill>
              <a:latin typeface="Calibri"/>
              <a:ea typeface="Calibri"/>
              <a:cs typeface="Calibri"/>
              <a:sym typeface="Calibri"/>
            </a:endParaRPr>
          </a:p>
        </p:txBody>
      </p:sp>
      <p:sp>
        <p:nvSpPr>
          <p:cNvPr id="652" name="Google Shape;652;g3eaf5b54de6_3_141"/>
          <p:cNvSpPr/>
          <p:nvPr/>
        </p:nvSpPr>
        <p:spPr>
          <a:xfrm>
            <a:off x="365760" y="390144"/>
            <a:ext cx="10485120" cy="51206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E2841"/>
              </a:buClr>
              <a:buSzPts val="2900"/>
              <a:buFont typeface="Arial"/>
              <a:buNone/>
            </a:pPr>
            <a:r>
              <a:rPr b="1" i="0" lang="en-US" sz="2900" u="none" cap="none" strike="noStrike">
                <a:solidFill>
                  <a:srgbClr val="0E2841"/>
                </a:solidFill>
                <a:latin typeface="Arial"/>
                <a:ea typeface="Arial"/>
                <a:cs typeface="Arial"/>
                <a:sym typeface="Arial"/>
              </a:rPr>
              <a:t>From Governance to Runtime</a:t>
            </a:r>
            <a:endParaRPr b="0" i="0" sz="2900" u="none" cap="none" strike="noStrike">
              <a:solidFill>
                <a:schemeClr val="dk1"/>
              </a:solidFill>
              <a:latin typeface="Calibri"/>
              <a:ea typeface="Calibri"/>
              <a:cs typeface="Calibri"/>
              <a:sym typeface="Calibri"/>
            </a:endParaRPr>
          </a:p>
        </p:txBody>
      </p:sp>
      <p:sp>
        <p:nvSpPr>
          <p:cNvPr id="653" name="Google Shape;653;g3eaf5b54de6_3_141"/>
          <p:cNvSpPr/>
          <p:nvPr/>
        </p:nvSpPr>
        <p:spPr>
          <a:xfrm>
            <a:off x="365760" y="902208"/>
            <a:ext cx="1121664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555555"/>
              </a:buClr>
              <a:buSzPts val="1200"/>
              <a:buFont typeface="Calibri"/>
              <a:buNone/>
            </a:pPr>
            <a:r>
              <a:rPr i="1" lang="en-US" sz="1300" u="none" cap="none" strike="noStrike">
                <a:solidFill>
                  <a:srgbClr val="555555"/>
                </a:solidFill>
                <a:latin typeface="Montserrat"/>
                <a:ea typeface="Montserrat"/>
                <a:cs typeface="Montserrat"/>
                <a:sym typeface="Montserrat"/>
              </a:rPr>
              <a:t>Where accountability matters — governance must carry through the full lifecycle</a:t>
            </a:r>
            <a:endParaRPr i="0" sz="1300" u="none" cap="none" strike="noStrike">
              <a:solidFill>
                <a:schemeClr val="dk1"/>
              </a:solidFill>
              <a:latin typeface="Montserrat"/>
              <a:ea typeface="Montserrat"/>
              <a:cs typeface="Montserrat"/>
              <a:sym typeface="Montserrat"/>
            </a:endParaRPr>
          </a:p>
        </p:txBody>
      </p:sp>
      <p:sp>
        <p:nvSpPr>
          <p:cNvPr id="654" name="Google Shape;654;g3eaf5b54de6_3_141"/>
          <p:cNvSpPr/>
          <p:nvPr/>
        </p:nvSpPr>
        <p:spPr>
          <a:xfrm>
            <a:off x="205018" y="1267975"/>
            <a:ext cx="3344700" cy="1072800"/>
          </a:xfrm>
          <a:prstGeom prst="rect">
            <a:avLst/>
          </a:prstGeom>
          <a:solidFill>
            <a:srgbClr val="F4F4F4"/>
          </a:solidFill>
          <a:ln cap="flat" cmpd="sng" w="19050">
            <a:solidFill>
              <a:srgbClr val="0E284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5" name="Google Shape;655;g3eaf5b54de6_3_141"/>
          <p:cNvSpPr/>
          <p:nvPr/>
        </p:nvSpPr>
        <p:spPr>
          <a:xfrm>
            <a:off x="219450" y="1237925"/>
            <a:ext cx="3344700" cy="103200"/>
          </a:xfrm>
          <a:prstGeom prst="rect">
            <a:avLst/>
          </a:prstGeom>
          <a:solidFill>
            <a:srgbClr val="0E2841"/>
          </a:solidFill>
          <a:ln cap="flat" cmpd="sng" w="12700">
            <a:solidFill>
              <a:srgbClr val="0E284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6" name="Google Shape;656;g3eaf5b54de6_3_141"/>
          <p:cNvSpPr/>
          <p:nvPr/>
        </p:nvSpPr>
        <p:spPr>
          <a:xfrm>
            <a:off x="341376" y="1414272"/>
            <a:ext cx="3169920" cy="34137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E2841"/>
              </a:buClr>
              <a:buSzPts val="1500"/>
              <a:buFont typeface="Arial"/>
              <a:buNone/>
            </a:pPr>
            <a:r>
              <a:rPr b="1" i="0" lang="en-US" sz="1600" u="none" cap="none" strike="noStrike">
                <a:solidFill>
                  <a:srgbClr val="0E2841"/>
                </a:solidFill>
                <a:latin typeface="Montserrat"/>
                <a:ea typeface="Montserrat"/>
                <a:cs typeface="Montserrat"/>
                <a:sym typeface="Montserrat"/>
              </a:rPr>
              <a:t>Governance &amp; Standards</a:t>
            </a:r>
            <a:endParaRPr i="0" sz="1600" u="none" cap="none" strike="noStrike">
              <a:solidFill>
                <a:schemeClr val="dk1"/>
              </a:solidFill>
              <a:latin typeface="Montserrat"/>
              <a:ea typeface="Montserrat"/>
              <a:cs typeface="Montserrat"/>
              <a:sym typeface="Montserrat"/>
            </a:endParaRPr>
          </a:p>
        </p:txBody>
      </p:sp>
      <p:sp>
        <p:nvSpPr>
          <p:cNvPr id="657" name="Google Shape;657;g3eaf5b54de6_3_141"/>
          <p:cNvSpPr/>
          <p:nvPr/>
        </p:nvSpPr>
        <p:spPr>
          <a:xfrm>
            <a:off x="341376" y="1804416"/>
            <a:ext cx="3169920" cy="24384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555555"/>
              </a:buClr>
              <a:buSzPts val="1100"/>
              <a:buFont typeface="Calibri"/>
              <a:buNone/>
            </a:pPr>
            <a:r>
              <a:rPr i="0" lang="en-US" sz="1200" u="none" cap="none" strike="noStrike">
                <a:solidFill>
                  <a:srgbClr val="555555"/>
                </a:solidFill>
                <a:latin typeface="Montserrat"/>
                <a:ea typeface="Montserrat"/>
                <a:cs typeface="Montserrat"/>
                <a:sym typeface="Montserrat"/>
              </a:rPr>
              <a:t>POLICY / INTENT</a:t>
            </a:r>
            <a:endParaRPr i="0" sz="1200" u="none" cap="none" strike="noStrike">
              <a:solidFill>
                <a:schemeClr val="dk1"/>
              </a:solidFill>
              <a:latin typeface="Montserrat"/>
              <a:ea typeface="Montserrat"/>
              <a:cs typeface="Montserrat"/>
              <a:sym typeface="Montserrat"/>
            </a:endParaRPr>
          </a:p>
        </p:txBody>
      </p:sp>
      <p:sp>
        <p:nvSpPr>
          <p:cNvPr id="658" name="Google Shape;658;g3eaf5b54de6_3_141"/>
          <p:cNvSpPr/>
          <p:nvPr/>
        </p:nvSpPr>
        <p:spPr>
          <a:xfrm>
            <a:off x="341376" y="2048256"/>
            <a:ext cx="3169920" cy="21945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888888"/>
              </a:buClr>
              <a:buSzPts val="1100"/>
              <a:buFont typeface="Calibri"/>
              <a:buNone/>
            </a:pPr>
            <a:r>
              <a:rPr i="1" lang="en-US" sz="1200" u="none" cap="none" strike="noStrike">
                <a:solidFill>
                  <a:srgbClr val="888888"/>
                </a:solidFill>
                <a:latin typeface="Montserrat"/>
                <a:ea typeface="Montserrat"/>
                <a:cs typeface="Montserrat"/>
                <a:sym typeface="Montserrat"/>
              </a:rPr>
              <a:t>The what and why</a:t>
            </a:r>
            <a:endParaRPr i="0" sz="1200" u="none" cap="none" strike="noStrike">
              <a:solidFill>
                <a:schemeClr val="dk1"/>
              </a:solidFill>
              <a:latin typeface="Montserrat"/>
              <a:ea typeface="Montserrat"/>
              <a:cs typeface="Montserrat"/>
              <a:sym typeface="Montserrat"/>
            </a:endParaRPr>
          </a:p>
        </p:txBody>
      </p:sp>
      <p:sp>
        <p:nvSpPr>
          <p:cNvPr id="659" name="Google Shape;659;g3eaf5b54de6_3_141"/>
          <p:cNvSpPr/>
          <p:nvPr/>
        </p:nvSpPr>
        <p:spPr>
          <a:xfrm>
            <a:off x="4572000" y="1267975"/>
            <a:ext cx="3108900" cy="1072800"/>
          </a:xfrm>
          <a:prstGeom prst="rect">
            <a:avLst/>
          </a:prstGeom>
          <a:solidFill>
            <a:srgbClr val="F4F4F4"/>
          </a:solidFill>
          <a:ln cap="flat" cmpd="sng" w="19050">
            <a:solidFill>
              <a:srgbClr val="E9713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0" name="Google Shape;660;g3eaf5b54de6_3_141"/>
          <p:cNvSpPr/>
          <p:nvPr/>
        </p:nvSpPr>
        <p:spPr>
          <a:xfrm>
            <a:off x="4572000" y="1237950"/>
            <a:ext cx="3108900" cy="10320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1" name="Google Shape;661;g3eaf5b54de6_3_141"/>
          <p:cNvSpPr/>
          <p:nvPr/>
        </p:nvSpPr>
        <p:spPr>
          <a:xfrm>
            <a:off x="4511040" y="1414272"/>
            <a:ext cx="3169920" cy="34137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E2841"/>
              </a:buClr>
              <a:buSzPts val="1500"/>
              <a:buFont typeface="Arial"/>
              <a:buNone/>
            </a:pPr>
            <a:r>
              <a:rPr b="1" i="0" lang="en-US" sz="1600" u="none" cap="none" strike="noStrike">
                <a:solidFill>
                  <a:srgbClr val="0E2841"/>
                </a:solidFill>
                <a:latin typeface="Montserrat"/>
                <a:ea typeface="Montserrat"/>
                <a:cs typeface="Montserrat"/>
                <a:sym typeface="Montserrat"/>
              </a:rPr>
              <a:t>Build &amp; Deploy</a:t>
            </a:r>
            <a:endParaRPr i="0" sz="1600" u="none" cap="none" strike="noStrike">
              <a:solidFill>
                <a:schemeClr val="dk1"/>
              </a:solidFill>
              <a:latin typeface="Montserrat"/>
              <a:ea typeface="Montserrat"/>
              <a:cs typeface="Montserrat"/>
              <a:sym typeface="Montserrat"/>
            </a:endParaRPr>
          </a:p>
        </p:txBody>
      </p:sp>
      <p:sp>
        <p:nvSpPr>
          <p:cNvPr id="662" name="Google Shape;662;g3eaf5b54de6_3_141"/>
          <p:cNvSpPr/>
          <p:nvPr/>
        </p:nvSpPr>
        <p:spPr>
          <a:xfrm>
            <a:off x="4511040" y="1804416"/>
            <a:ext cx="3169920" cy="24384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555555"/>
              </a:buClr>
              <a:buSzPts val="1100"/>
              <a:buFont typeface="Calibri"/>
              <a:buNone/>
            </a:pPr>
            <a:r>
              <a:rPr i="0" lang="en-US" sz="1200" u="none" cap="none" strike="noStrike">
                <a:solidFill>
                  <a:srgbClr val="555555"/>
                </a:solidFill>
                <a:latin typeface="Montserrat"/>
                <a:ea typeface="Montserrat"/>
                <a:cs typeface="Montserrat"/>
                <a:sym typeface="Montserrat"/>
              </a:rPr>
              <a:t>ENGINEERING / DECISIONS</a:t>
            </a:r>
            <a:endParaRPr i="0" sz="1200" u="none" cap="none" strike="noStrike">
              <a:solidFill>
                <a:schemeClr val="dk1"/>
              </a:solidFill>
              <a:latin typeface="Montserrat"/>
              <a:ea typeface="Montserrat"/>
              <a:cs typeface="Montserrat"/>
              <a:sym typeface="Montserrat"/>
            </a:endParaRPr>
          </a:p>
        </p:txBody>
      </p:sp>
      <p:sp>
        <p:nvSpPr>
          <p:cNvPr id="663" name="Google Shape;663;g3eaf5b54de6_3_141"/>
          <p:cNvSpPr/>
          <p:nvPr/>
        </p:nvSpPr>
        <p:spPr>
          <a:xfrm>
            <a:off x="4511040" y="2048256"/>
            <a:ext cx="3169920" cy="21945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888888"/>
              </a:buClr>
              <a:buSzPts val="1100"/>
              <a:buFont typeface="Calibri"/>
              <a:buNone/>
            </a:pPr>
            <a:r>
              <a:rPr i="1" lang="en-US" sz="1200" u="none" cap="none" strike="noStrike">
                <a:solidFill>
                  <a:srgbClr val="888888"/>
                </a:solidFill>
                <a:latin typeface="Montserrat"/>
                <a:ea typeface="Montserrat"/>
                <a:cs typeface="Montserrat"/>
                <a:sym typeface="Montserrat"/>
              </a:rPr>
              <a:t>Controls embedded in the build</a:t>
            </a:r>
            <a:endParaRPr i="0" sz="1200" u="none" cap="none" strike="noStrike">
              <a:solidFill>
                <a:schemeClr val="dk1"/>
              </a:solidFill>
              <a:latin typeface="Montserrat"/>
              <a:ea typeface="Montserrat"/>
              <a:cs typeface="Montserrat"/>
              <a:sym typeface="Montserrat"/>
            </a:endParaRPr>
          </a:p>
        </p:txBody>
      </p:sp>
      <p:grpSp>
        <p:nvGrpSpPr>
          <p:cNvPr id="664" name="Google Shape;664;g3eaf5b54de6_3_141"/>
          <p:cNvGrpSpPr/>
          <p:nvPr/>
        </p:nvGrpSpPr>
        <p:grpSpPr>
          <a:xfrm>
            <a:off x="7625708" y="1713025"/>
            <a:ext cx="1036500" cy="243900"/>
            <a:chOff x="7625708" y="1713025"/>
            <a:chExt cx="1036500" cy="243900"/>
          </a:xfrm>
        </p:grpSpPr>
        <p:sp>
          <p:nvSpPr>
            <p:cNvPr id="665" name="Google Shape;665;g3eaf5b54de6_3_141"/>
            <p:cNvSpPr/>
            <p:nvPr/>
          </p:nvSpPr>
          <p:spPr>
            <a:xfrm>
              <a:off x="7747499" y="1713025"/>
              <a:ext cx="792900" cy="24390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6" name="Google Shape;666;g3eaf5b54de6_3_141"/>
            <p:cNvSpPr/>
            <p:nvPr/>
          </p:nvSpPr>
          <p:spPr>
            <a:xfrm>
              <a:off x="7625708" y="1713025"/>
              <a:ext cx="1036500" cy="243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900"/>
                <a:buFont typeface="Arial"/>
                <a:buNone/>
              </a:pPr>
              <a:r>
                <a:rPr b="1" i="0" lang="en-US" sz="1000" u="none" cap="none" strike="noStrike">
                  <a:solidFill>
                    <a:srgbClr val="FFFFFF"/>
                  </a:solidFill>
                  <a:latin typeface="Montserrat"/>
                  <a:ea typeface="Montserrat"/>
                  <a:cs typeface="Montserrat"/>
                  <a:sym typeface="Montserrat"/>
                </a:rPr>
                <a:t>CONNECT</a:t>
              </a:r>
              <a:endParaRPr i="0" sz="1000" u="none" cap="none" strike="noStrike">
                <a:solidFill>
                  <a:schemeClr val="dk1"/>
                </a:solidFill>
                <a:latin typeface="Montserrat"/>
                <a:ea typeface="Montserrat"/>
                <a:cs typeface="Montserrat"/>
                <a:sym typeface="Montserrat"/>
              </a:endParaRPr>
            </a:p>
          </p:txBody>
        </p:sp>
      </p:grpSp>
      <p:sp>
        <p:nvSpPr>
          <p:cNvPr id="667" name="Google Shape;667;g3eaf5b54de6_3_141"/>
          <p:cNvSpPr/>
          <p:nvPr/>
        </p:nvSpPr>
        <p:spPr>
          <a:xfrm>
            <a:off x="8635185" y="1267975"/>
            <a:ext cx="3344700" cy="1072800"/>
          </a:xfrm>
          <a:prstGeom prst="rect">
            <a:avLst/>
          </a:prstGeom>
          <a:solidFill>
            <a:srgbClr val="F4F4F4"/>
          </a:solidFill>
          <a:ln cap="flat" cmpd="sng" w="19050">
            <a:solidFill>
              <a:srgbClr val="4EA72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8" name="Google Shape;668;g3eaf5b54de6_3_141"/>
          <p:cNvSpPr/>
          <p:nvPr/>
        </p:nvSpPr>
        <p:spPr>
          <a:xfrm>
            <a:off x="8627850" y="1213678"/>
            <a:ext cx="3344700" cy="10320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9" name="Google Shape;669;g3eaf5b54de6_3_141"/>
          <p:cNvSpPr/>
          <p:nvPr/>
        </p:nvSpPr>
        <p:spPr>
          <a:xfrm>
            <a:off x="8680704" y="1414272"/>
            <a:ext cx="3169920" cy="34137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E2841"/>
              </a:buClr>
              <a:buSzPts val="1500"/>
              <a:buFont typeface="Arial"/>
              <a:buNone/>
            </a:pPr>
            <a:r>
              <a:rPr b="1" i="0" lang="en-US" sz="1600" u="none" cap="none" strike="noStrike">
                <a:solidFill>
                  <a:srgbClr val="0E2841"/>
                </a:solidFill>
                <a:latin typeface="Montserrat"/>
                <a:ea typeface="Montserrat"/>
                <a:cs typeface="Montserrat"/>
                <a:sym typeface="Montserrat"/>
              </a:rPr>
              <a:t>Runtime Behavior</a:t>
            </a:r>
            <a:endParaRPr i="0" sz="1600" u="none" cap="none" strike="noStrike">
              <a:solidFill>
                <a:schemeClr val="dk1"/>
              </a:solidFill>
              <a:latin typeface="Montserrat"/>
              <a:ea typeface="Montserrat"/>
              <a:cs typeface="Montserrat"/>
              <a:sym typeface="Montserrat"/>
            </a:endParaRPr>
          </a:p>
        </p:txBody>
      </p:sp>
      <p:sp>
        <p:nvSpPr>
          <p:cNvPr id="670" name="Google Shape;670;g3eaf5b54de6_3_141"/>
          <p:cNvSpPr/>
          <p:nvPr/>
        </p:nvSpPr>
        <p:spPr>
          <a:xfrm>
            <a:off x="8680704" y="1804416"/>
            <a:ext cx="3169920" cy="24384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555555"/>
              </a:buClr>
              <a:buSzPts val="1100"/>
              <a:buFont typeface="Calibri"/>
              <a:buNone/>
            </a:pPr>
            <a:r>
              <a:rPr i="0" lang="en-US" sz="1200" u="none" cap="none" strike="noStrike">
                <a:solidFill>
                  <a:srgbClr val="555555"/>
                </a:solidFill>
                <a:latin typeface="Montserrat"/>
                <a:ea typeface="Montserrat"/>
                <a:cs typeface="Montserrat"/>
                <a:sym typeface="Montserrat"/>
              </a:rPr>
              <a:t>BEHAVIOR / OUTCOMES</a:t>
            </a:r>
            <a:endParaRPr i="0" sz="1200" u="none" cap="none" strike="noStrike">
              <a:solidFill>
                <a:schemeClr val="dk1"/>
              </a:solidFill>
              <a:latin typeface="Montserrat"/>
              <a:ea typeface="Montserrat"/>
              <a:cs typeface="Montserrat"/>
              <a:sym typeface="Montserrat"/>
            </a:endParaRPr>
          </a:p>
        </p:txBody>
      </p:sp>
      <p:sp>
        <p:nvSpPr>
          <p:cNvPr id="671" name="Google Shape;671;g3eaf5b54de6_3_141"/>
          <p:cNvSpPr/>
          <p:nvPr/>
        </p:nvSpPr>
        <p:spPr>
          <a:xfrm>
            <a:off x="8680704" y="2048256"/>
            <a:ext cx="3169920" cy="21945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888888"/>
              </a:buClr>
              <a:buSzPts val="1100"/>
              <a:buFont typeface="Calibri"/>
              <a:buNone/>
            </a:pPr>
            <a:r>
              <a:rPr i="1" lang="en-US" sz="1200" u="none" cap="none" strike="noStrike">
                <a:solidFill>
                  <a:srgbClr val="888888"/>
                </a:solidFill>
                <a:latin typeface="Montserrat"/>
                <a:ea typeface="Montserrat"/>
                <a:cs typeface="Montserrat"/>
                <a:sym typeface="Montserrat"/>
              </a:rPr>
              <a:t>Where risk becomes real</a:t>
            </a:r>
            <a:endParaRPr i="0" sz="1200" u="none" cap="none" strike="noStrike">
              <a:solidFill>
                <a:schemeClr val="dk1"/>
              </a:solidFill>
              <a:latin typeface="Montserrat"/>
              <a:ea typeface="Montserrat"/>
              <a:cs typeface="Montserrat"/>
              <a:sym typeface="Montserrat"/>
            </a:endParaRPr>
          </a:p>
        </p:txBody>
      </p:sp>
      <p:sp>
        <p:nvSpPr>
          <p:cNvPr id="672" name="Google Shape;672;g3eaf5b54de6_3_141"/>
          <p:cNvSpPr/>
          <p:nvPr/>
        </p:nvSpPr>
        <p:spPr>
          <a:xfrm>
            <a:off x="219456" y="2511552"/>
            <a:ext cx="3657600" cy="316992"/>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E97132"/>
              </a:buClr>
              <a:buSzPts val="1300"/>
              <a:buFont typeface="Arial"/>
              <a:buNone/>
            </a:pPr>
            <a:r>
              <a:rPr b="1" i="0" lang="en-US" u="none" cap="none" strike="noStrike">
                <a:solidFill>
                  <a:srgbClr val="E97132"/>
                </a:solidFill>
                <a:latin typeface="Montserrat"/>
                <a:ea typeface="Montserrat"/>
                <a:cs typeface="Montserrat"/>
                <a:sym typeface="Montserrat"/>
              </a:rPr>
              <a:t>3 KEY TAKEAWAYS</a:t>
            </a:r>
            <a:endParaRPr i="0" u="none" cap="none" strike="noStrike">
              <a:solidFill>
                <a:schemeClr val="dk1"/>
              </a:solidFill>
              <a:latin typeface="Montserrat"/>
              <a:ea typeface="Montserrat"/>
              <a:cs typeface="Montserrat"/>
              <a:sym typeface="Montserrat"/>
            </a:endParaRPr>
          </a:p>
        </p:txBody>
      </p:sp>
      <p:sp>
        <p:nvSpPr>
          <p:cNvPr id="673" name="Google Shape;673;g3eaf5b54de6_3_141"/>
          <p:cNvSpPr/>
          <p:nvPr/>
        </p:nvSpPr>
        <p:spPr>
          <a:xfrm>
            <a:off x="219456" y="2901696"/>
            <a:ext cx="536448" cy="438912"/>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4" name="Google Shape;674;g3eaf5b54de6_3_141"/>
          <p:cNvSpPr/>
          <p:nvPr/>
        </p:nvSpPr>
        <p:spPr>
          <a:xfrm>
            <a:off x="219456" y="2901696"/>
            <a:ext cx="536448" cy="438912"/>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500"/>
              <a:buFont typeface="Arial"/>
              <a:buNone/>
            </a:pPr>
            <a:r>
              <a:rPr b="1" i="0" lang="en-US" sz="1600" u="none" cap="none" strike="noStrike">
                <a:solidFill>
                  <a:srgbClr val="FFFFFF"/>
                </a:solidFill>
                <a:latin typeface="Montserrat"/>
                <a:ea typeface="Montserrat"/>
                <a:cs typeface="Montserrat"/>
                <a:sym typeface="Montserrat"/>
              </a:rPr>
              <a:t>01</a:t>
            </a:r>
            <a:endParaRPr i="0" sz="1600" u="none" cap="none" strike="noStrike">
              <a:solidFill>
                <a:schemeClr val="dk1"/>
              </a:solidFill>
              <a:latin typeface="Montserrat"/>
              <a:ea typeface="Montserrat"/>
              <a:cs typeface="Montserrat"/>
              <a:sym typeface="Montserrat"/>
            </a:endParaRPr>
          </a:p>
        </p:txBody>
      </p:sp>
      <p:sp>
        <p:nvSpPr>
          <p:cNvPr id="675" name="Google Shape;675;g3eaf5b54de6_3_141"/>
          <p:cNvSpPr/>
          <p:nvPr/>
        </p:nvSpPr>
        <p:spPr>
          <a:xfrm>
            <a:off x="877824" y="2901696"/>
            <a:ext cx="11094720" cy="292608"/>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E2841"/>
              </a:buClr>
              <a:buSzPts val="1300"/>
              <a:buFont typeface="Arial"/>
              <a:buNone/>
            </a:pPr>
            <a:r>
              <a:rPr b="1" i="0" lang="en-US" u="none" cap="none" strike="noStrike">
                <a:solidFill>
                  <a:srgbClr val="0E2841"/>
                </a:solidFill>
                <a:latin typeface="Montserrat"/>
                <a:ea typeface="Montserrat"/>
                <a:cs typeface="Montserrat"/>
                <a:sym typeface="Montserrat"/>
              </a:rPr>
              <a:t>Governance must carry through the full lifecycle</a:t>
            </a:r>
            <a:endParaRPr i="0" u="none" cap="none" strike="noStrike">
              <a:solidFill>
                <a:schemeClr val="dk1"/>
              </a:solidFill>
              <a:latin typeface="Montserrat"/>
              <a:ea typeface="Montserrat"/>
              <a:cs typeface="Montserrat"/>
              <a:sym typeface="Montserrat"/>
            </a:endParaRPr>
          </a:p>
        </p:txBody>
      </p:sp>
      <p:sp>
        <p:nvSpPr>
          <p:cNvPr id="676" name="Google Shape;676;g3eaf5b54de6_3_141"/>
          <p:cNvSpPr/>
          <p:nvPr/>
        </p:nvSpPr>
        <p:spPr>
          <a:xfrm>
            <a:off x="877824" y="3218688"/>
            <a:ext cx="11094720" cy="341376"/>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Clr>
                <a:srgbClr val="555555"/>
              </a:buClr>
              <a:buSzPts val="1100"/>
              <a:buFont typeface="Calibri"/>
              <a:buNone/>
            </a:pPr>
            <a:r>
              <a:rPr i="0" lang="en-US" sz="1200" u="none" cap="none" strike="noStrike">
                <a:solidFill>
                  <a:srgbClr val="555555"/>
                </a:solidFill>
                <a:latin typeface="Montserrat"/>
                <a:ea typeface="Montserrat"/>
                <a:cs typeface="Montserrat"/>
                <a:sym typeface="Montserrat"/>
              </a:rPr>
              <a:t>Policy intent is not enough — controls must be embedded at every stage from design to runtime.</a:t>
            </a:r>
            <a:endParaRPr i="0" sz="1200" u="none" cap="none" strike="noStrike">
              <a:solidFill>
                <a:schemeClr val="dk1"/>
              </a:solidFill>
              <a:latin typeface="Montserrat"/>
              <a:ea typeface="Montserrat"/>
              <a:cs typeface="Montserrat"/>
              <a:sym typeface="Montserrat"/>
            </a:endParaRPr>
          </a:p>
        </p:txBody>
      </p:sp>
      <p:sp>
        <p:nvSpPr>
          <p:cNvPr id="677" name="Google Shape;677;g3eaf5b54de6_3_141"/>
          <p:cNvSpPr/>
          <p:nvPr/>
        </p:nvSpPr>
        <p:spPr>
          <a:xfrm>
            <a:off x="219456" y="3901440"/>
            <a:ext cx="536448" cy="438912"/>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8" name="Google Shape;678;g3eaf5b54de6_3_141"/>
          <p:cNvSpPr/>
          <p:nvPr/>
        </p:nvSpPr>
        <p:spPr>
          <a:xfrm>
            <a:off x="219456" y="3901440"/>
            <a:ext cx="536448" cy="438912"/>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500"/>
              <a:buFont typeface="Arial"/>
              <a:buNone/>
            </a:pPr>
            <a:r>
              <a:rPr b="1" i="0" lang="en-US" sz="1600" u="none" cap="none" strike="noStrike">
                <a:solidFill>
                  <a:srgbClr val="FFFFFF"/>
                </a:solidFill>
                <a:latin typeface="Montserrat"/>
                <a:ea typeface="Montserrat"/>
                <a:cs typeface="Montserrat"/>
                <a:sym typeface="Montserrat"/>
              </a:rPr>
              <a:t>02</a:t>
            </a:r>
            <a:endParaRPr i="0" sz="1600" u="none" cap="none" strike="noStrike">
              <a:solidFill>
                <a:schemeClr val="dk1"/>
              </a:solidFill>
              <a:latin typeface="Montserrat"/>
              <a:ea typeface="Montserrat"/>
              <a:cs typeface="Montserrat"/>
              <a:sym typeface="Montserrat"/>
            </a:endParaRPr>
          </a:p>
        </p:txBody>
      </p:sp>
      <p:sp>
        <p:nvSpPr>
          <p:cNvPr id="679" name="Google Shape;679;g3eaf5b54de6_3_141"/>
          <p:cNvSpPr/>
          <p:nvPr/>
        </p:nvSpPr>
        <p:spPr>
          <a:xfrm>
            <a:off x="877824" y="3901440"/>
            <a:ext cx="11094720" cy="292608"/>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E2841"/>
              </a:buClr>
              <a:buSzPts val="1300"/>
              <a:buFont typeface="Arial"/>
              <a:buNone/>
            </a:pPr>
            <a:r>
              <a:rPr b="1" i="0" lang="en-US" u="none" cap="none" strike="noStrike">
                <a:solidFill>
                  <a:srgbClr val="0E2841"/>
                </a:solidFill>
                <a:latin typeface="Montserrat"/>
                <a:ea typeface="Montserrat"/>
                <a:cs typeface="Montserrat"/>
                <a:sym typeface="Montserrat"/>
              </a:rPr>
              <a:t>Risk is created in the disconnects</a:t>
            </a:r>
            <a:endParaRPr i="0" u="none" cap="none" strike="noStrike">
              <a:solidFill>
                <a:schemeClr val="dk1"/>
              </a:solidFill>
              <a:latin typeface="Montserrat"/>
              <a:ea typeface="Montserrat"/>
              <a:cs typeface="Montserrat"/>
              <a:sym typeface="Montserrat"/>
            </a:endParaRPr>
          </a:p>
        </p:txBody>
      </p:sp>
      <p:sp>
        <p:nvSpPr>
          <p:cNvPr id="680" name="Google Shape;680;g3eaf5b54de6_3_141"/>
          <p:cNvSpPr/>
          <p:nvPr/>
        </p:nvSpPr>
        <p:spPr>
          <a:xfrm>
            <a:off x="877824" y="4218432"/>
            <a:ext cx="11094720" cy="341376"/>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Clr>
                <a:srgbClr val="555555"/>
              </a:buClr>
              <a:buSzPts val="1100"/>
              <a:buFont typeface="Calibri"/>
              <a:buNone/>
            </a:pPr>
            <a:r>
              <a:rPr i="0" lang="en-US" sz="1200" u="none" cap="none" strike="noStrike">
                <a:solidFill>
                  <a:srgbClr val="555555"/>
                </a:solidFill>
                <a:latin typeface="Montserrat"/>
                <a:ea typeface="Montserrat"/>
                <a:cs typeface="Montserrat"/>
                <a:sym typeface="Montserrat"/>
              </a:rPr>
              <a:t>AI doesn't fail at one point. It fails where governance stops and engineering continues without it.</a:t>
            </a:r>
            <a:endParaRPr i="0" sz="1200" u="none" cap="none" strike="noStrike">
              <a:solidFill>
                <a:schemeClr val="dk1"/>
              </a:solidFill>
              <a:latin typeface="Montserrat"/>
              <a:ea typeface="Montserrat"/>
              <a:cs typeface="Montserrat"/>
              <a:sym typeface="Montserrat"/>
            </a:endParaRPr>
          </a:p>
        </p:txBody>
      </p:sp>
      <p:sp>
        <p:nvSpPr>
          <p:cNvPr id="681" name="Google Shape;681;g3eaf5b54de6_3_141"/>
          <p:cNvSpPr/>
          <p:nvPr/>
        </p:nvSpPr>
        <p:spPr>
          <a:xfrm>
            <a:off x="219456" y="4901184"/>
            <a:ext cx="536448" cy="438912"/>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2" name="Google Shape;682;g3eaf5b54de6_3_141"/>
          <p:cNvSpPr/>
          <p:nvPr/>
        </p:nvSpPr>
        <p:spPr>
          <a:xfrm>
            <a:off x="219456" y="4901184"/>
            <a:ext cx="536448" cy="438912"/>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500"/>
              <a:buFont typeface="Arial"/>
              <a:buNone/>
            </a:pPr>
            <a:r>
              <a:rPr b="1" i="0" lang="en-US" sz="1600" u="none" cap="none" strike="noStrike">
                <a:solidFill>
                  <a:srgbClr val="FFFFFF"/>
                </a:solidFill>
                <a:latin typeface="Montserrat"/>
                <a:ea typeface="Montserrat"/>
                <a:cs typeface="Montserrat"/>
                <a:sym typeface="Montserrat"/>
              </a:rPr>
              <a:t>03</a:t>
            </a:r>
            <a:endParaRPr i="0" sz="1600" u="none" cap="none" strike="noStrike">
              <a:solidFill>
                <a:schemeClr val="dk1"/>
              </a:solidFill>
              <a:latin typeface="Montserrat"/>
              <a:ea typeface="Montserrat"/>
              <a:cs typeface="Montserrat"/>
              <a:sym typeface="Montserrat"/>
            </a:endParaRPr>
          </a:p>
        </p:txBody>
      </p:sp>
      <p:sp>
        <p:nvSpPr>
          <p:cNvPr id="683" name="Google Shape;683;g3eaf5b54de6_3_141"/>
          <p:cNvSpPr/>
          <p:nvPr/>
        </p:nvSpPr>
        <p:spPr>
          <a:xfrm>
            <a:off x="877824" y="4901184"/>
            <a:ext cx="11094720" cy="292608"/>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E2841"/>
              </a:buClr>
              <a:buSzPts val="1300"/>
              <a:buFont typeface="Arial"/>
              <a:buNone/>
            </a:pPr>
            <a:r>
              <a:rPr b="1" i="0" lang="en-US" u="none" cap="none" strike="noStrike">
                <a:solidFill>
                  <a:srgbClr val="0E2841"/>
                </a:solidFill>
                <a:latin typeface="Montserrat"/>
                <a:ea typeface="Montserrat"/>
                <a:cs typeface="Montserrat"/>
                <a:sym typeface="Montserrat"/>
              </a:rPr>
              <a:t>Accountability must span the system</a:t>
            </a:r>
            <a:endParaRPr i="0" u="none" cap="none" strike="noStrike">
              <a:solidFill>
                <a:schemeClr val="dk1"/>
              </a:solidFill>
              <a:latin typeface="Montserrat"/>
              <a:ea typeface="Montserrat"/>
              <a:cs typeface="Montserrat"/>
              <a:sym typeface="Montserrat"/>
            </a:endParaRPr>
          </a:p>
        </p:txBody>
      </p:sp>
      <p:sp>
        <p:nvSpPr>
          <p:cNvPr id="684" name="Google Shape;684;g3eaf5b54de6_3_141"/>
          <p:cNvSpPr/>
          <p:nvPr/>
        </p:nvSpPr>
        <p:spPr>
          <a:xfrm>
            <a:off x="877824" y="5218176"/>
            <a:ext cx="11094720" cy="341376"/>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Clr>
                <a:srgbClr val="555555"/>
              </a:buClr>
              <a:buSzPts val="1100"/>
              <a:buFont typeface="Calibri"/>
              <a:buNone/>
            </a:pPr>
            <a:r>
              <a:rPr i="0" lang="en-US" sz="1200" u="none" cap="none" strike="noStrike">
                <a:solidFill>
                  <a:srgbClr val="555555"/>
                </a:solidFill>
                <a:latin typeface="Montserrat"/>
                <a:ea typeface="Montserrat"/>
                <a:cs typeface="Montserrat"/>
                <a:sym typeface="Montserrat"/>
              </a:rPr>
              <a:t>No single team owns AI risk. Legal, Security, Engineering, and the business share accountability at every stage.</a:t>
            </a:r>
            <a:endParaRPr i="0" sz="1200" u="none" cap="none" strike="noStrike">
              <a:solidFill>
                <a:schemeClr val="dk1"/>
              </a:solidFill>
              <a:latin typeface="Montserrat"/>
              <a:ea typeface="Montserrat"/>
              <a:cs typeface="Montserrat"/>
              <a:sym typeface="Montserrat"/>
            </a:endParaRPr>
          </a:p>
        </p:txBody>
      </p:sp>
      <p:sp>
        <p:nvSpPr>
          <p:cNvPr id="685" name="Google Shape;685;g3eaf5b54de6_3_141"/>
          <p:cNvSpPr/>
          <p:nvPr/>
        </p:nvSpPr>
        <p:spPr>
          <a:xfrm>
            <a:off x="219456" y="5730240"/>
            <a:ext cx="11753088" cy="585216"/>
          </a:xfrm>
          <a:prstGeom prst="rect">
            <a:avLst/>
          </a:prstGeom>
          <a:solidFill>
            <a:srgbClr val="0E2841"/>
          </a:solidFill>
          <a:ln cap="flat" cmpd="sng" w="12700">
            <a:solidFill>
              <a:srgbClr val="0E284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6" name="Google Shape;686;g3eaf5b54de6_3_141"/>
          <p:cNvSpPr/>
          <p:nvPr/>
        </p:nvSpPr>
        <p:spPr>
          <a:xfrm>
            <a:off x="219456" y="5730240"/>
            <a:ext cx="11753088" cy="58521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Montserrat"/>
                <a:ea typeface="Montserrat"/>
                <a:cs typeface="Montserrat"/>
                <a:sym typeface="Montserrat"/>
              </a:rPr>
              <a:t>AI doesn't fail at one point  </a:t>
            </a:r>
            <a:r>
              <a:rPr b="1" i="0" lang="en-US" sz="1600" u="none" cap="none" strike="noStrike">
                <a:solidFill>
                  <a:srgbClr val="E97132"/>
                </a:solidFill>
                <a:latin typeface="Montserrat"/>
                <a:ea typeface="Montserrat"/>
                <a:cs typeface="Montserrat"/>
                <a:sym typeface="Montserrat"/>
              </a:rPr>
              <a:t>→  it fails in the disconnects</a:t>
            </a:r>
            <a:endParaRPr i="0" sz="1600" u="none" cap="none" strike="noStrike">
              <a:solidFill>
                <a:schemeClr val="dk1"/>
              </a:solidFill>
              <a:latin typeface="Montserrat"/>
              <a:ea typeface="Montserrat"/>
              <a:cs typeface="Montserrat"/>
              <a:sym typeface="Montserrat"/>
            </a:endParaRPr>
          </a:p>
        </p:txBody>
      </p:sp>
      <p:sp>
        <p:nvSpPr>
          <p:cNvPr id="687" name="Google Shape;687;g3eaf5b54de6_3_141"/>
          <p:cNvSpPr/>
          <p:nvPr/>
        </p:nvSpPr>
        <p:spPr>
          <a:xfrm>
            <a:off x="0" y="6368133"/>
            <a:ext cx="12216300" cy="489900"/>
          </a:xfrm>
          <a:prstGeom prst="round2SameRect">
            <a:avLst>
              <a:gd fmla="val 47728" name="adj1"/>
              <a:gd fmla="val 0" name="adj2"/>
            </a:avLst>
          </a:prstGeom>
          <a:solidFill>
            <a:srgbClr val="9BBB59"/>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cap="none" strike="noStrike">
                <a:solidFill>
                  <a:schemeClr val="lt1"/>
                </a:solidFill>
                <a:latin typeface="Montserrat"/>
                <a:ea typeface="Montserrat"/>
                <a:cs typeface="Montserrat"/>
                <a:sym typeface="Montserrat"/>
              </a:rPr>
              <a:t>T200 AI Leadership &amp; Governance Series  |  2026								www.t200.org</a:t>
            </a:r>
            <a:endParaRPr b="1" i="0" sz="1000" u="none" cap="none" strike="noStrike">
              <a:solidFill>
                <a:schemeClr val="lt1"/>
              </a:solidFill>
              <a:latin typeface="Montserrat"/>
              <a:ea typeface="Montserrat"/>
              <a:cs typeface="Montserrat"/>
              <a:sym typeface="Montserrat"/>
            </a:endParaRPr>
          </a:p>
        </p:txBody>
      </p:sp>
      <p:grpSp>
        <p:nvGrpSpPr>
          <p:cNvPr id="688" name="Google Shape;688;g3eaf5b54de6_3_141"/>
          <p:cNvGrpSpPr/>
          <p:nvPr/>
        </p:nvGrpSpPr>
        <p:grpSpPr>
          <a:xfrm>
            <a:off x="3564158" y="1719037"/>
            <a:ext cx="1036500" cy="243900"/>
            <a:chOff x="7625708" y="1713025"/>
            <a:chExt cx="1036500" cy="243900"/>
          </a:xfrm>
        </p:grpSpPr>
        <p:sp>
          <p:nvSpPr>
            <p:cNvPr id="689" name="Google Shape;689;g3eaf5b54de6_3_141"/>
            <p:cNvSpPr/>
            <p:nvPr/>
          </p:nvSpPr>
          <p:spPr>
            <a:xfrm>
              <a:off x="7747499" y="1713025"/>
              <a:ext cx="792900" cy="24390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0" name="Google Shape;690;g3eaf5b54de6_3_141"/>
            <p:cNvSpPr/>
            <p:nvPr/>
          </p:nvSpPr>
          <p:spPr>
            <a:xfrm>
              <a:off x="7625708" y="1713025"/>
              <a:ext cx="1036500" cy="243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900"/>
                <a:buFont typeface="Arial"/>
                <a:buNone/>
              </a:pPr>
              <a:r>
                <a:rPr b="1" i="0" lang="en-US" sz="1000" u="none" cap="none" strike="noStrike">
                  <a:solidFill>
                    <a:srgbClr val="FFFFFF"/>
                  </a:solidFill>
                  <a:latin typeface="Montserrat"/>
                  <a:ea typeface="Montserrat"/>
                  <a:cs typeface="Montserrat"/>
                  <a:sym typeface="Montserrat"/>
                </a:rPr>
                <a:t>CONNECT</a:t>
              </a:r>
              <a:endParaRPr i="0" sz="1000" u="none" cap="none" strike="noStrike">
                <a:solidFill>
                  <a:schemeClr val="dk1"/>
                </a:solidFill>
                <a:latin typeface="Montserrat"/>
                <a:ea typeface="Montserrat"/>
                <a:cs typeface="Montserrat"/>
                <a:sym typeface="Montserrat"/>
              </a:endParaRPr>
            </a:p>
          </p:txBody>
        </p:sp>
      </p:grpSp>
      <p:pic>
        <p:nvPicPr>
          <p:cNvPr descr="preencoded.png" id="691" name="Google Shape;691;g3eaf5b54de6_3_141"/>
          <p:cNvPicPr preferRelativeResize="0"/>
          <p:nvPr/>
        </p:nvPicPr>
        <p:blipFill rotWithShape="1">
          <a:blip r:embed="rId3">
            <a:alphaModFix/>
          </a:blip>
          <a:srcRect b="0" l="0" r="0" t="0"/>
          <a:stretch/>
        </p:blipFill>
        <p:spPr>
          <a:xfrm>
            <a:off x="11033760" y="0"/>
            <a:ext cx="1036319" cy="103632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g3dacbf28af9_3_51"/>
          <p:cNvSpPr txBox="1"/>
          <p:nvPr>
            <p:ph idx="12" type="sldNum"/>
          </p:nvPr>
        </p:nvSpPr>
        <p:spPr>
          <a:xfrm>
            <a:off x="9933289" y="6114484"/>
            <a:ext cx="2201700" cy="183300"/>
          </a:xfrm>
          <a:prstGeom prst="rect">
            <a:avLst/>
          </a:prstGeom>
          <a:noFill/>
          <a:ln>
            <a:noFill/>
          </a:ln>
        </p:spPr>
        <p:txBody>
          <a:bodyPr anchorCtr="0" anchor="ctr" bIns="36700" lIns="73375" spcFirstLastPara="1" rIns="73375" wrap="square" tIns="36700">
            <a:noAutofit/>
          </a:bodyPr>
          <a:lstStyle/>
          <a:p>
            <a:pPr indent="0" lvl="0" marL="0" rtl="0" algn="r">
              <a:lnSpc>
                <a:spcPct val="100000"/>
              </a:lnSpc>
              <a:spcBef>
                <a:spcPts val="0"/>
              </a:spcBef>
              <a:spcAft>
                <a:spcPts val="0"/>
              </a:spcAft>
              <a:buClr>
                <a:srgbClr val="000000"/>
              </a:buClr>
              <a:buSzPts val="963"/>
              <a:buFont typeface="Arial"/>
              <a:buNone/>
            </a:pPr>
            <a:fld id="{00000000-1234-1234-1234-123412341234}" type="slidenum">
              <a:rPr lang="en-US" sz="963"/>
              <a:t>‹#›</a:t>
            </a:fld>
            <a:endParaRPr sz="963"/>
          </a:p>
        </p:txBody>
      </p:sp>
      <p:sp>
        <p:nvSpPr>
          <p:cNvPr id="697" name="Google Shape;697;g3dacbf28af9_3_51"/>
          <p:cNvSpPr/>
          <p:nvPr/>
        </p:nvSpPr>
        <p:spPr>
          <a:xfrm>
            <a:off x="8846697" y="3831111"/>
            <a:ext cx="3345300" cy="2537100"/>
          </a:xfrm>
          <a:prstGeom prst="rect">
            <a:avLst/>
          </a:prstGeom>
          <a:solidFill>
            <a:srgbClr val="D9D9D9"/>
          </a:solidFill>
          <a:ln>
            <a:noFill/>
          </a:ln>
        </p:spPr>
        <p:txBody>
          <a:bodyPr anchorCtr="0" anchor="ctr" bIns="97825" lIns="97825" spcFirstLastPara="1" rIns="97825" wrap="square" tIns="97825">
            <a:noAutofit/>
          </a:bodyPr>
          <a:lstStyle/>
          <a:p>
            <a:pPr indent="0" lvl="0" marL="0" marR="0" rtl="0" algn="l">
              <a:lnSpc>
                <a:spcPct val="100000"/>
              </a:lnSpc>
              <a:spcBef>
                <a:spcPts val="0"/>
              </a:spcBef>
              <a:spcAft>
                <a:spcPts val="0"/>
              </a:spcAft>
              <a:buClr>
                <a:srgbClr val="000000"/>
              </a:buClr>
              <a:buSzPts val="1498"/>
              <a:buFont typeface="Arial"/>
              <a:buNone/>
            </a:pPr>
            <a:r>
              <a:t/>
            </a:r>
            <a:endParaRPr b="0" i="0" sz="1498" u="none" cap="none" strike="noStrike">
              <a:solidFill>
                <a:srgbClr val="000000"/>
              </a:solidFill>
              <a:latin typeface="Arial"/>
              <a:ea typeface="Arial"/>
              <a:cs typeface="Arial"/>
              <a:sym typeface="Arial"/>
            </a:endParaRPr>
          </a:p>
        </p:txBody>
      </p:sp>
      <p:sp>
        <p:nvSpPr>
          <p:cNvPr id="698" name="Google Shape;698;g3dacbf28af9_3_51"/>
          <p:cNvSpPr/>
          <p:nvPr/>
        </p:nvSpPr>
        <p:spPr>
          <a:xfrm flipH="1">
            <a:off x="7091386" y="3847135"/>
            <a:ext cx="2079000" cy="2520900"/>
          </a:xfrm>
          <a:prstGeom prst="flowChartDelay">
            <a:avLst/>
          </a:prstGeom>
          <a:solidFill>
            <a:srgbClr val="D9D9D9"/>
          </a:solidFill>
          <a:ln>
            <a:noFill/>
          </a:ln>
        </p:spPr>
        <p:txBody>
          <a:bodyPr anchorCtr="0" anchor="ctr" bIns="97825" lIns="97825" spcFirstLastPara="1" rIns="97825" wrap="square" tIns="97825">
            <a:noAutofit/>
          </a:bodyPr>
          <a:lstStyle/>
          <a:p>
            <a:pPr indent="0" lvl="0" marL="0" marR="0" rtl="0" algn="l">
              <a:lnSpc>
                <a:spcPct val="100000"/>
              </a:lnSpc>
              <a:spcBef>
                <a:spcPts val="0"/>
              </a:spcBef>
              <a:spcAft>
                <a:spcPts val="0"/>
              </a:spcAft>
              <a:buClr>
                <a:srgbClr val="000000"/>
              </a:buClr>
              <a:buSzPts val="1498"/>
              <a:buFont typeface="Arial"/>
              <a:buNone/>
            </a:pPr>
            <a:r>
              <a:t/>
            </a:r>
            <a:endParaRPr b="0" i="0" sz="1498" u="none" cap="none" strike="noStrike">
              <a:solidFill>
                <a:srgbClr val="000000"/>
              </a:solidFill>
              <a:latin typeface="Arial"/>
              <a:ea typeface="Arial"/>
              <a:cs typeface="Arial"/>
              <a:sym typeface="Arial"/>
            </a:endParaRPr>
          </a:p>
        </p:txBody>
      </p:sp>
      <p:sp>
        <p:nvSpPr>
          <p:cNvPr id="699" name="Google Shape;699;g3dacbf28af9_3_51"/>
          <p:cNvSpPr/>
          <p:nvPr/>
        </p:nvSpPr>
        <p:spPr>
          <a:xfrm>
            <a:off x="7702830" y="1531049"/>
            <a:ext cx="3720000" cy="3720000"/>
          </a:xfrm>
          <a:prstGeom prst="ellipse">
            <a:avLst/>
          </a:prstGeom>
          <a:solidFill>
            <a:schemeClr val="accent1"/>
          </a:solidFill>
          <a:ln>
            <a:noFill/>
          </a:ln>
        </p:spPr>
        <p:txBody>
          <a:bodyPr anchorCtr="0" anchor="ctr" bIns="97825" lIns="97825" spcFirstLastPara="1" rIns="97825" wrap="square" tIns="97825">
            <a:noAutofit/>
          </a:bodyPr>
          <a:lstStyle/>
          <a:p>
            <a:pPr indent="0" lvl="0" marL="0" marR="0" rtl="0" algn="l">
              <a:lnSpc>
                <a:spcPct val="100000"/>
              </a:lnSpc>
              <a:spcBef>
                <a:spcPts val="0"/>
              </a:spcBef>
              <a:spcAft>
                <a:spcPts val="0"/>
              </a:spcAft>
              <a:buClr>
                <a:srgbClr val="000000"/>
              </a:buClr>
              <a:buSzPts val="1498"/>
              <a:buFont typeface="Arial"/>
              <a:buNone/>
            </a:pPr>
            <a:r>
              <a:t/>
            </a:r>
            <a:endParaRPr b="0" i="0" sz="1498" u="none" cap="none" strike="noStrike">
              <a:solidFill>
                <a:srgbClr val="000000"/>
              </a:solidFill>
              <a:latin typeface="Arial"/>
              <a:ea typeface="Arial"/>
              <a:cs typeface="Arial"/>
              <a:sym typeface="Arial"/>
            </a:endParaRPr>
          </a:p>
        </p:txBody>
      </p:sp>
      <p:sp>
        <p:nvSpPr>
          <p:cNvPr id="700" name="Google Shape;700;g3dacbf28af9_3_51"/>
          <p:cNvSpPr txBox="1"/>
          <p:nvPr/>
        </p:nvSpPr>
        <p:spPr>
          <a:xfrm>
            <a:off x="684592" y="189429"/>
            <a:ext cx="4817700" cy="820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800"/>
              </a:spcBef>
              <a:spcAft>
                <a:spcPts val="0"/>
              </a:spcAft>
              <a:buClr>
                <a:srgbClr val="000000"/>
              </a:buClr>
              <a:buSzPts val="3733"/>
              <a:buFont typeface="Arial"/>
              <a:buNone/>
            </a:pPr>
            <a:r>
              <a:rPr b="1" i="0" lang="en-US" sz="3733" u="none" cap="none" strike="noStrike">
                <a:solidFill>
                  <a:srgbClr val="725FA6"/>
                </a:solidFill>
                <a:latin typeface="Montserrat"/>
                <a:ea typeface="Montserrat"/>
                <a:cs typeface="Montserrat"/>
                <a:sym typeface="Montserrat"/>
              </a:rPr>
              <a:t>Thank You!</a:t>
            </a:r>
            <a:endParaRPr b="0" i="0" sz="1867" u="none" cap="none" strike="noStrike">
              <a:solidFill>
                <a:srgbClr val="434343"/>
              </a:solidFill>
              <a:latin typeface="Montserrat Medium"/>
              <a:ea typeface="Montserrat Medium"/>
              <a:cs typeface="Montserrat Medium"/>
              <a:sym typeface="Montserrat Medium"/>
            </a:endParaRPr>
          </a:p>
        </p:txBody>
      </p:sp>
      <p:pic>
        <p:nvPicPr>
          <p:cNvPr id="701" name="Google Shape;701;g3dacbf28af9_3_51"/>
          <p:cNvPicPr preferRelativeResize="0"/>
          <p:nvPr/>
        </p:nvPicPr>
        <p:blipFill rotWithShape="1">
          <a:blip r:embed="rId3">
            <a:alphaModFix/>
          </a:blip>
          <a:srcRect b="8543" l="14803" r="12167" t="2004"/>
          <a:stretch/>
        </p:blipFill>
        <p:spPr>
          <a:xfrm>
            <a:off x="8068385" y="1675476"/>
            <a:ext cx="3855300" cy="3881400"/>
          </a:xfrm>
          <a:prstGeom prst="ellipse">
            <a:avLst/>
          </a:prstGeom>
          <a:noFill/>
          <a:ln>
            <a:noFill/>
          </a:ln>
        </p:spPr>
      </p:pic>
      <p:sp>
        <p:nvSpPr>
          <p:cNvPr id="702" name="Google Shape;702;g3dacbf28af9_3_51"/>
          <p:cNvSpPr/>
          <p:nvPr/>
        </p:nvSpPr>
        <p:spPr>
          <a:xfrm>
            <a:off x="7670928" y="5141156"/>
            <a:ext cx="4383300" cy="911100"/>
          </a:xfrm>
          <a:prstGeom prst="roundRect">
            <a:avLst>
              <a:gd fmla="val 50000" name="adj"/>
            </a:avLst>
          </a:prstGeom>
          <a:solidFill>
            <a:srgbClr val="725FA6"/>
          </a:solidFill>
          <a:ln>
            <a:noFill/>
          </a:ln>
        </p:spPr>
        <p:txBody>
          <a:bodyPr anchorCtr="0" anchor="ctr" bIns="97825" lIns="97825" spcFirstLastPara="1" rIns="97825" wrap="square" tIns="97825">
            <a:noAutofit/>
          </a:bodyPr>
          <a:lstStyle/>
          <a:p>
            <a:pPr indent="0" lvl="0" marL="0" marR="0" rtl="0" algn="ctr">
              <a:lnSpc>
                <a:spcPct val="100000"/>
              </a:lnSpc>
              <a:spcBef>
                <a:spcPts val="0"/>
              </a:spcBef>
              <a:spcAft>
                <a:spcPts val="0"/>
              </a:spcAft>
              <a:buClr>
                <a:srgbClr val="000000"/>
              </a:buClr>
              <a:buSzPts val="2140"/>
              <a:buFont typeface="Arial"/>
              <a:buNone/>
            </a:pPr>
            <a:r>
              <a:rPr b="1" i="0" lang="en-US" sz="2140" u="none" cap="none" strike="noStrike">
                <a:solidFill>
                  <a:srgbClr val="FFF7EC"/>
                </a:solidFill>
                <a:latin typeface="Montserrat SemiBold"/>
                <a:ea typeface="Montserrat SemiBold"/>
                <a:cs typeface="Montserrat SemiBold"/>
                <a:sym typeface="Montserrat SemiBold"/>
              </a:rPr>
              <a:t>#WeAreBetterTogether</a:t>
            </a:r>
            <a:endParaRPr b="1" i="0" sz="2140" u="none" cap="none" strike="noStrike">
              <a:solidFill>
                <a:srgbClr val="FFF7EC"/>
              </a:solidFill>
              <a:latin typeface="Montserrat SemiBold"/>
              <a:ea typeface="Montserrat SemiBold"/>
              <a:cs typeface="Montserrat SemiBold"/>
              <a:sym typeface="Montserrat SemiBold"/>
            </a:endParaRPr>
          </a:p>
        </p:txBody>
      </p:sp>
      <p:sp>
        <p:nvSpPr>
          <p:cNvPr id="703" name="Google Shape;703;g3dacbf28af9_3_51"/>
          <p:cNvSpPr txBox="1"/>
          <p:nvPr/>
        </p:nvSpPr>
        <p:spPr>
          <a:xfrm>
            <a:off x="184711" y="5182778"/>
            <a:ext cx="3278400" cy="873900"/>
          </a:xfrm>
          <a:prstGeom prst="rect">
            <a:avLst/>
          </a:prstGeom>
          <a:noFill/>
          <a:ln>
            <a:noFill/>
          </a:ln>
        </p:spPr>
        <p:txBody>
          <a:bodyPr anchorCtr="0" anchor="t" bIns="109275" lIns="109275" spcFirstLastPara="1" rIns="109275" wrap="square" tIns="109275">
            <a:spAutoFit/>
          </a:bodyPr>
          <a:lstStyle/>
          <a:p>
            <a:pPr indent="0" lvl="0" marL="0" marR="0" rtl="0" algn="l">
              <a:lnSpc>
                <a:spcPct val="100000"/>
              </a:lnSpc>
              <a:spcBef>
                <a:spcPts val="0"/>
              </a:spcBef>
              <a:spcAft>
                <a:spcPts val="0"/>
              </a:spcAft>
              <a:buClr>
                <a:srgbClr val="000000"/>
              </a:buClr>
              <a:buSzPts val="1615"/>
              <a:buFont typeface="Arial"/>
              <a:buNone/>
            </a:pPr>
            <a:r>
              <a:rPr b="0" i="0" lang="en-US" sz="1615" u="none" cap="none" strike="noStrike">
                <a:solidFill>
                  <a:schemeClr val="dk1"/>
                </a:solidFill>
                <a:latin typeface="Montserrat"/>
                <a:ea typeface="Montserrat"/>
                <a:cs typeface="Montserrat"/>
                <a:sym typeface="Montserrat"/>
              </a:rPr>
              <a:t>Robert DeSimone: </a:t>
            </a:r>
            <a:r>
              <a:rPr b="0" i="0" lang="en-US" sz="1315" u="sng" cap="none" strike="noStrike">
                <a:solidFill>
                  <a:srgbClr val="1155CC"/>
                </a:solidFill>
                <a:latin typeface="Montserrat"/>
                <a:ea typeface="Montserrat"/>
                <a:cs typeface="Montserrat"/>
                <a:sym typeface="Montserrat"/>
              </a:rPr>
              <a:t>rdesimone@sans.org</a:t>
            </a:r>
            <a:endParaRPr b="0" i="0" sz="1315"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315"/>
              <a:buFont typeface="Arial"/>
              <a:buNone/>
            </a:pPr>
            <a:r>
              <a:rPr b="0" i="0" lang="en-US" sz="1315" u="sng" cap="none" strike="noStrike">
                <a:solidFill>
                  <a:schemeClr val="hlink"/>
                </a:solidFill>
                <a:latin typeface="Montserrat"/>
                <a:ea typeface="Montserrat"/>
                <a:cs typeface="Montserrat"/>
                <a:sym typeface="Montserrat"/>
                <a:hlinkClick r:id="rId4"/>
              </a:rPr>
              <a:t>LinkedIn: Robert DeSimone</a:t>
            </a:r>
            <a:endParaRPr b="0" i="0" sz="1315" u="none" cap="none" strike="noStrike">
              <a:solidFill>
                <a:srgbClr val="000000"/>
              </a:solidFill>
              <a:latin typeface="Arial"/>
              <a:ea typeface="Arial"/>
              <a:cs typeface="Arial"/>
              <a:sym typeface="Arial"/>
            </a:endParaRPr>
          </a:p>
        </p:txBody>
      </p:sp>
      <p:sp>
        <p:nvSpPr>
          <p:cNvPr id="704" name="Google Shape;704;g3dacbf28af9_3_51"/>
          <p:cNvSpPr txBox="1"/>
          <p:nvPr/>
        </p:nvSpPr>
        <p:spPr>
          <a:xfrm>
            <a:off x="278925" y="3920550"/>
            <a:ext cx="2913000" cy="1262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ontserrat"/>
                <a:ea typeface="Montserrat"/>
                <a:cs typeface="Montserrat"/>
                <a:sym typeface="Montserrat"/>
              </a:rPr>
              <a:t>Complimentary &amp; Customizable Executive Workshop: Responsible AI Decision Making for Executives. </a:t>
            </a:r>
            <a:endParaRPr b="1" i="0" sz="1400" u="none" cap="none" strike="noStrike">
              <a:solidFill>
                <a:schemeClr val="dk1"/>
              </a:solidFill>
              <a:latin typeface="Montserrat"/>
              <a:ea typeface="Montserrat"/>
              <a:cs typeface="Montserrat"/>
              <a:sym typeface="Montserrat"/>
            </a:endParaRPr>
          </a:p>
        </p:txBody>
      </p:sp>
      <p:pic>
        <p:nvPicPr>
          <p:cNvPr descr="Logo&#10;&#10;Description automatically generated" id="705" name="Google Shape;705;g3dacbf28af9_3_51"/>
          <p:cNvPicPr preferRelativeResize="0"/>
          <p:nvPr/>
        </p:nvPicPr>
        <p:blipFill rotWithShape="1">
          <a:blip r:embed="rId5">
            <a:alphaModFix/>
          </a:blip>
          <a:srcRect b="0" l="0" r="0" t="0"/>
          <a:stretch/>
        </p:blipFill>
        <p:spPr>
          <a:xfrm>
            <a:off x="278925" y="2973453"/>
            <a:ext cx="899411" cy="911099"/>
          </a:xfrm>
          <a:prstGeom prst="rect">
            <a:avLst/>
          </a:prstGeom>
          <a:noFill/>
          <a:ln>
            <a:noFill/>
          </a:ln>
        </p:spPr>
      </p:pic>
      <p:pic>
        <p:nvPicPr>
          <p:cNvPr id="706" name="Google Shape;706;g3dacbf28af9_3_51"/>
          <p:cNvPicPr preferRelativeResize="0"/>
          <p:nvPr/>
        </p:nvPicPr>
        <p:blipFill rotWithShape="1">
          <a:blip r:embed="rId6">
            <a:alphaModFix/>
          </a:blip>
          <a:srcRect b="0" l="0" r="0" t="0"/>
          <a:stretch/>
        </p:blipFill>
        <p:spPr>
          <a:xfrm>
            <a:off x="1499113" y="3098530"/>
            <a:ext cx="1024997" cy="642423"/>
          </a:xfrm>
          <a:prstGeom prst="rect">
            <a:avLst/>
          </a:prstGeom>
          <a:noFill/>
          <a:ln>
            <a:noFill/>
          </a:ln>
        </p:spPr>
      </p:pic>
      <p:cxnSp>
        <p:nvCxnSpPr>
          <p:cNvPr id="707" name="Google Shape;707;g3dacbf28af9_3_51"/>
          <p:cNvCxnSpPr/>
          <p:nvPr/>
        </p:nvCxnSpPr>
        <p:spPr>
          <a:xfrm>
            <a:off x="5125600" y="2741950"/>
            <a:ext cx="32100" cy="2583900"/>
          </a:xfrm>
          <a:prstGeom prst="straightConnector1">
            <a:avLst/>
          </a:prstGeom>
          <a:noFill/>
          <a:ln cap="flat" cmpd="sng" w="9525">
            <a:solidFill>
              <a:schemeClr val="dk2"/>
            </a:solidFill>
            <a:prstDash val="solid"/>
            <a:round/>
            <a:headEnd len="sm" w="sm" type="none"/>
            <a:tailEnd len="sm" w="sm" type="none"/>
          </a:ln>
        </p:spPr>
      </p:cxnSp>
      <p:sp>
        <p:nvSpPr>
          <p:cNvPr id="708" name="Google Shape;708;g3dacbf28af9_3_51"/>
          <p:cNvSpPr/>
          <p:nvPr/>
        </p:nvSpPr>
        <p:spPr>
          <a:xfrm>
            <a:off x="0" y="6368133"/>
            <a:ext cx="12216300" cy="489900"/>
          </a:xfrm>
          <a:prstGeom prst="round2SameRect">
            <a:avLst>
              <a:gd fmla="val 47728" name="adj1"/>
              <a:gd fmla="val 0" name="adj2"/>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cap="none" strike="noStrike">
                <a:solidFill>
                  <a:schemeClr val="lt1"/>
                </a:solidFill>
                <a:latin typeface="Montserrat"/>
                <a:ea typeface="Montserrat"/>
                <a:cs typeface="Montserrat"/>
                <a:sym typeface="Montserrat"/>
              </a:rPr>
              <a:t>T200 AI Leadership &amp; Governance Series  |  2026								www.t200.org</a:t>
            </a:r>
            <a:endParaRPr b="1" i="0" sz="1000" u="none" cap="none" strike="noStrike">
              <a:solidFill>
                <a:schemeClr val="lt1"/>
              </a:solidFill>
              <a:latin typeface="Montserrat"/>
              <a:ea typeface="Montserrat"/>
              <a:cs typeface="Montserrat"/>
              <a:sym typeface="Montserrat"/>
            </a:endParaRPr>
          </a:p>
        </p:txBody>
      </p:sp>
      <p:sp>
        <p:nvSpPr>
          <p:cNvPr id="709" name="Google Shape;709;g3dacbf28af9_3_51"/>
          <p:cNvSpPr txBox="1"/>
          <p:nvPr/>
        </p:nvSpPr>
        <p:spPr>
          <a:xfrm>
            <a:off x="684600" y="1219200"/>
            <a:ext cx="72540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latin typeface="Montserrat"/>
                <a:ea typeface="Montserrat"/>
                <a:cs typeface="Montserrat"/>
                <a:sym typeface="Montserrat"/>
              </a:rPr>
              <a:t>Governance is not a compliance exercise. It is the operating model that lets you scale AI without losing control. </a:t>
            </a:r>
            <a:endParaRPr sz="1700">
              <a:latin typeface="Montserrat"/>
              <a:ea typeface="Montserrat"/>
              <a:cs typeface="Montserrat"/>
              <a:sym typeface="Montserrat"/>
            </a:endParaRPr>
          </a:p>
          <a:p>
            <a:pPr indent="0" lvl="0" marL="0" rtl="0" algn="l">
              <a:spcBef>
                <a:spcPts val="0"/>
              </a:spcBef>
              <a:spcAft>
                <a:spcPts val="0"/>
              </a:spcAft>
              <a:buNone/>
            </a:pPr>
            <a:r>
              <a:t/>
            </a:r>
            <a:endParaRPr sz="1700">
              <a:latin typeface="Montserrat"/>
              <a:ea typeface="Montserrat"/>
              <a:cs typeface="Montserrat"/>
              <a:sym typeface="Montserrat"/>
            </a:endParaRPr>
          </a:p>
          <a:p>
            <a:pPr indent="0" lvl="0" marL="0" rtl="0" algn="l">
              <a:spcBef>
                <a:spcPts val="0"/>
              </a:spcBef>
              <a:spcAft>
                <a:spcPts val="0"/>
              </a:spcAft>
              <a:buNone/>
            </a:pPr>
            <a:r>
              <a:rPr lang="en-US" sz="1700">
                <a:latin typeface="Montserrat"/>
                <a:ea typeface="Montserrat"/>
                <a:cs typeface="Montserrat"/>
                <a:sym typeface="Montserrat"/>
              </a:rPr>
              <a:t>Start this week!</a:t>
            </a:r>
            <a:endParaRPr sz="1700">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200 - Women in Technology">
  <a:themeElements>
    <a:clrScheme name="AnalogousFromRegularSeedRightStep">
      <a:dk1>
        <a:srgbClr val="333333"/>
      </a:dk1>
      <a:lt1>
        <a:srgbClr val="FFF7EC"/>
      </a:lt1>
      <a:dk2>
        <a:srgbClr val="000000"/>
      </a:dk2>
      <a:lt2>
        <a:srgbClr val="FFFFFF"/>
      </a:lt2>
      <a:accent1>
        <a:srgbClr val="F39200"/>
      </a:accent1>
      <a:accent2>
        <a:srgbClr val="6F60A3"/>
      </a:accent2>
      <a:accent3>
        <a:srgbClr val="7FAF4F"/>
      </a:accent3>
      <a:accent4>
        <a:srgbClr val="F55B78"/>
      </a:accent4>
      <a:accent5>
        <a:srgbClr val="4886E3"/>
      </a:accent5>
      <a:accent6>
        <a:srgbClr val="696969"/>
      </a:accent6>
      <a:hlink>
        <a:srgbClr val="F39200"/>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9BBB5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Suja Chandra</dc:creator>
</cp:coreProperties>
</file>